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51" r:id="rId5"/>
  </p:sldMasterIdLst>
  <p:notesMasterIdLst>
    <p:notesMasterId r:id="rId12"/>
  </p:notesMasterIdLst>
  <p:sldIdLst>
    <p:sldId id="276" r:id="rId6"/>
    <p:sldId id="285" r:id="rId7"/>
    <p:sldId id="290" r:id="rId8"/>
    <p:sldId id="262" r:id="rId9"/>
    <p:sldId id="291" r:id="rId10"/>
    <p:sldId id="264" r:id="rId11"/>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CC"/>
    <a:srgbClr val="0066FF"/>
    <a:srgbClr val="0000CC"/>
    <a:srgbClr val="CF3335"/>
    <a:srgbClr val="F84018"/>
    <a:srgbClr val="B7D1CF"/>
    <a:srgbClr val="4E7C88"/>
    <a:srgbClr val="929D96"/>
    <a:srgbClr val="E1F4FF"/>
    <a:srgbClr val="21C1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77" autoAdjust="0"/>
    <p:restoredTop sz="88556" autoAdjust="0"/>
  </p:normalViewPr>
  <p:slideViewPr>
    <p:cSldViewPr>
      <p:cViewPr varScale="1">
        <p:scale>
          <a:sx n="78" d="100"/>
          <a:sy n="78" d="100"/>
        </p:scale>
        <p:origin x="1642" y="7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2"/>
            <a:ext cx="3043343" cy="465455"/>
          </a:xfrm>
          <a:prstGeom prst="rect">
            <a:avLst/>
          </a:prstGeom>
        </p:spPr>
        <p:txBody>
          <a:bodyPr vert="horz" lIns="93276" tIns="46638" rIns="93276" bIns="46638" rtlCol="0"/>
          <a:lstStyle>
            <a:lvl1pPr algn="l">
              <a:defRPr sz="1200"/>
            </a:lvl1pPr>
          </a:lstStyle>
          <a:p>
            <a:endParaRPr lang="en-US" dirty="0"/>
          </a:p>
        </p:txBody>
      </p:sp>
      <p:sp>
        <p:nvSpPr>
          <p:cNvPr id="3" name="Date Placeholder 2"/>
          <p:cNvSpPr>
            <a:spLocks noGrp="1"/>
          </p:cNvSpPr>
          <p:nvPr>
            <p:ph type="dt" idx="1"/>
          </p:nvPr>
        </p:nvSpPr>
        <p:spPr>
          <a:xfrm>
            <a:off x="3978135" y="2"/>
            <a:ext cx="3043343" cy="465455"/>
          </a:xfrm>
          <a:prstGeom prst="rect">
            <a:avLst/>
          </a:prstGeom>
        </p:spPr>
        <p:txBody>
          <a:bodyPr vert="horz" lIns="93276" tIns="46638" rIns="93276" bIns="46638" rtlCol="0"/>
          <a:lstStyle>
            <a:lvl1pPr algn="r">
              <a:defRPr sz="1200"/>
            </a:lvl1pPr>
          </a:lstStyle>
          <a:p>
            <a:fld id="{433AFDF9-1178-45CE-93F9-24332EFAFFB0}" type="datetimeFigureOut">
              <a:rPr lang="en-US" smtClean="0"/>
              <a:t>5/9/2026</a:t>
            </a:fld>
            <a:endParaRPr lang="en-US" dirty="0"/>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276" tIns="46638" rIns="93276" bIns="46638" rtlCol="0" anchor="ctr"/>
          <a:lstStyle/>
          <a:p>
            <a:endParaRPr lang="en-US" dirty="0"/>
          </a:p>
        </p:txBody>
      </p:sp>
      <p:sp>
        <p:nvSpPr>
          <p:cNvPr id="5" name="Notes Placeholder 4"/>
          <p:cNvSpPr>
            <a:spLocks noGrp="1"/>
          </p:cNvSpPr>
          <p:nvPr>
            <p:ph type="body" sz="quarter" idx="3"/>
          </p:nvPr>
        </p:nvSpPr>
        <p:spPr>
          <a:xfrm>
            <a:off x="702311" y="4421825"/>
            <a:ext cx="5618480" cy="4189095"/>
          </a:xfrm>
          <a:prstGeom prst="rect">
            <a:avLst/>
          </a:prstGeom>
        </p:spPr>
        <p:txBody>
          <a:bodyPr vert="horz" lIns="93276" tIns="46638" rIns="93276" bIns="4663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2" y="8842032"/>
            <a:ext cx="3043343" cy="465455"/>
          </a:xfrm>
          <a:prstGeom prst="rect">
            <a:avLst/>
          </a:prstGeom>
        </p:spPr>
        <p:txBody>
          <a:bodyPr vert="horz" lIns="93276" tIns="46638" rIns="93276" bIns="46638"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5" y="8842032"/>
            <a:ext cx="3043343" cy="465455"/>
          </a:xfrm>
          <a:prstGeom prst="rect">
            <a:avLst/>
          </a:prstGeom>
        </p:spPr>
        <p:txBody>
          <a:bodyPr vert="horz" lIns="93276" tIns="46638" rIns="93276" bIns="46638" rtlCol="0" anchor="b"/>
          <a:lstStyle>
            <a:lvl1pPr algn="r">
              <a:defRPr sz="1200"/>
            </a:lvl1pPr>
          </a:lstStyle>
          <a:p>
            <a:fld id="{0CD08468-A1B5-40A7-BE7D-AB7545BEDBB4}" type="slidenum">
              <a:rPr lang="en-US" smtClean="0"/>
              <a:t>‹#›</a:t>
            </a:fld>
            <a:endParaRPr lang="en-US" dirty="0"/>
          </a:p>
        </p:txBody>
      </p:sp>
    </p:spTree>
    <p:extLst>
      <p:ext uri="{BB962C8B-B14F-4D97-AF65-F5344CB8AC3E}">
        <p14:creationId xmlns:p14="http://schemas.microsoft.com/office/powerpoint/2010/main" val="776106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0CD08468-A1B5-40A7-BE7D-AB7545BEDBB4}"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537333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CD08468-A1B5-40A7-BE7D-AB7545BEDBB4}" type="slidenum">
              <a:rPr lang="en-US" smtClean="0"/>
              <a:t>2</a:t>
            </a:fld>
            <a:endParaRPr lang="en-US" dirty="0"/>
          </a:p>
        </p:txBody>
      </p:sp>
    </p:spTree>
    <p:extLst>
      <p:ext uri="{BB962C8B-B14F-4D97-AF65-F5344CB8AC3E}">
        <p14:creationId xmlns:p14="http://schemas.microsoft.com/office/powerpoint/2010/main" val="19558514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CD08468-A1B5-40A7-BE7D-AB7545BEDBB4}" type="slidenum">
              <a:rPr lang="en-US" smtClean="0"/>
              <a:t>3</a:t>
            </a:fld>
            <a:endParaRPr lang="en-US" dirty="0"/>
          </a:p>
        </p:txBody>
      </p:sp>
    </p:spTree>
    <p:extLst>
      <p:ext uri="{BB962C8B-B14F-4D97-AF65-F5344CB8AC3E}">
        <p14:creationId xmlns:p14="http://schemas.microsoft.com/office/powerpoint/2010/main" val="319617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CD08468-A1B5-40A7-BE7D-AB7545BEDBB4}" type="slidenum">
              <a:rPr lang="en-US" smtClean="0"/>
              <a:t>4</a:t>
            </a:fld>
            <a:endParaRPr lang="en-US" dirty="0"/>
          </a:p>
        </p:txBody>
      </p:sp>
    </p:spTree>
    <p:extLst>
      <p:ext uri="{BB962C8B-B14F-4D97-AF65-F5344CB8AC3E}">
        <p14:creationId xmlns:p14="http://schemas.microsoft.com/office/powerpoint/2010/main" val="26970645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CD08468-A1B5-40A7-BE7D-AB7545BEDBB4}" type="slidenum">
              <a:rPr lang="en-US" smtClean="0"/>
              <a:t>5</a:t>
            </a:fld>
            <a:endParaRPr lang="en-US" dirty="0"/>
          </a:p>
        </p:txBody>
      </p:sp>
    </p:spTree>
    <p:extLst>
      <p:ext uri="{BB962C8B-B14F-4D97-AF65-F5344CB8AC3E}">
        <p14:creationId xmlns:p14="http://schemas.microsoft.com/office/powerpoint/2010/main" val="878553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CD08468-A1B5-40A7-BE7D-AB7545BEDBB4}" type="slidenum">
              <a:rPr lang="en-US" smtClean="0"/>
              <a:t>6</a:t>
            </a:fld>
            <a:endParaRPr lang="en-US" dirty="0"/>
          </a:p>
        </p:txBody>
      </p:sp>
    </p:spTree>
    <p:extLst>
      <p:ext uri="{BB962C8B-B14F-4D97-AF65-F5344CB8AC3E}">
        <p14:creationId xmlns:p14="http://schemas.microsoft.com/office/powerpoint/2010/main" val="1337006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urtle Diagram ">
    <p:spTree>
      <p:nvGrpSpPr>
        <p:cNvPr id="1" name=""/>
        <p:cNvGrpSpPr/>
        <p:nvPr/>
      </p:nvGrpSpPr>
      <p:grpSpPr>
        <a:xfrm>
          <a:off x="0" y="0"/>
          <a:ext cx="0" cy="0"/>
          <a:chOff x="0" y="0"/>
          <a:chExt cx="0" cy="0"/>
        </a:xfrm>
      </p:grpSpPr>
      <p:sp>
        <p:nvSpPr>
          <p:cNvPr id="3" name="Slide Number Placeholder 5"/>
          <p:cNvSpPr txBox="1">
            <a:spLocks/>
          </p:cNvSpPr>
          <p:nvPr userDrawn="1"/>
        </p:nvSpPr>
        <p:spPr>
          <a:xfrm>
            <a:off x="8077200" y="76200"/>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dirty="0"/>
              <a:t> </a:t>
            </a:r>
          </a:p>
        </p:txBody>
      </p:sp>
      <p:pic>
        <p:nvPicPr>
          <p:cNvPr id="4" name="Picture 3"/>
          <p:cNvPicPr/>
          <p:nvPr userDrawn="1"/>
        </p:nvPicPr>
        <p:blipFill>
          <a:blip r:embed="rId2"/>
          <a:stretch>
            <a:fillRect/>
          </a:stretch>
        </p:blipFill>
        <p:spPr>
          <a:xfrm>
            <a:off x="8039100" y="6630035"/>
            <a:ext cx="1028700" cy="227965"/>
          </a:xfrm>
          <a:prstGeom prst="rect">
            <a:avLst/>
          </a:prstGeom>
        </p:spPr>
      </p:pic>
    </p:spTree>
    <p:extLst>
      <p:ext uri="{BB962C8B-B14F-4D97-AF65-F5344CB8AC3E}">
        <p14:creationId xmlns:p14="http://schemas.microsoft.com/office/powerpoint/2010/main" val="983514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tailed Process Flow Chart">
    <p:spTree>
      <p:nvGrpSpPr>
        <p:cNvPr id="1" name=""/>
        <p:cNvGrpSpPr/>
        <p:nvPr/>
      </p:nvGrpSpPr>
      <p:grpSpPr>
        <a:xfrm>
          <a:off x="0" y="0"/>
          <a:ext cx="0" cy="0"/>
          <a:chOff x="0" y="0"/>
          <a:chExt cx="0" cy="0"/>
        </a:xfrm>
      </p:grpSpPr>
      <p:sp>
        <p:nvSpPr>
          <p:cNvPr id="22" name="Text Box 713"/>
          <p:cNvSpPr txBox="1">
            <a:spLocks noChangeArrowheads="1"/>
          </p:cNvSpPr>
          <p:nvPr userDrawn="1"/>
        </p:nvSpPr>
        <p:spPr bwMode="auto">
          <a:xfrm>
            <a:off x="173000" y="533400"/>
            <a:ext cx="5465800" cy="3013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5104" tIns="42551" rIns="85104" bIns="42551">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0"/>
              </a:spcBef>
              <a:spcAft>
                <a:spcPct val="0"/>
              </a:spcAft>
              <a:defRPr sz="1000">
                <a:solidFill>
                  <a:schemeClr val="tx1"/>
                </a:solidFill>
                <a:latin typeface="Arial" charset="0"/>
              </a:defRPr>
            </a:lvl6pPr>
            <a:lvl7pPr marL="2971800" indent="-228600" eaLnBrk="0" fontAlgn="base" hangingPunct="0">
              <a:spcBef>
                <a:spcPct val="0"/>
              </a:spcBef>
              <a:spcAft>
                <a:spcPct val="0"/>
              </a:spcAft>
              <a:defRPr sz="1000">
                <a:solidFill>
                  <a:schemeClr val="tx1"/>
                </a:solidFill>
                <a:latin typeface="Arial" charset="0"/>
              </a:defRPr>
            </a:lvl7pPr>
            <a:lvl8pPr marL="3429000" indent="-228600" eaLnBrk="0" fontAlgn="base" hangingPunct="0">
              <a:spcBef>
                <a:spcPct val="0"/>
              </a:spcBef>
              <a:spcAft>
                <a:spcPct val="0"/>
              </a:spcAft>
              <a:defRPr sz="1000">
                <a:solidFill>
                  <a:schemeClr val="tx1"/>
                </a:solidFill>
                <a:latin typeface="Arial" charset="0"/>
              </a:defRPr>
            </a:lvl8pPr>
            <a:lvl9pPr marL="3886200" indent="-228600" eaLnBrk="0" fontAlgn="base" hangingPunct="0">
              <a:spcBef>
                <a:spcPct val="0"/>
              </a:spcBef>
              <a:spcAft>
                <a:spcPct val="0"/>
              </a:spcAft>
              <a:defRPr sz="1000">
                <a:solidFill>
                  <a:schemeClr val="tx1"/>
                </a:solidFill>
                <a:latin typeface="Arial" charset="0"/>
              </a:defRPr>
            </a:lvl9pPr>
          </a:lstStyle>
          <a:p>
            <a:pPr algn="l">
              <a:spcBef>
                <a:spcPct val="50000"/>
              </a:spcBef>
            </a:pPr>
            <a:r>
              <a:rPr lang="en-US" sz="1400" b="1" dirty="0">
                <a:solidFill>
                  <a:srgbClr val="000000"/>
                </a:solidFill>
              </a:rPr>
              <a:t>DETAILED PROCESS FLOW CHART </a:t>
            </a:r>
          </a:p>
        </p:txBody>
      </p:sp>
      <p:sp>
        <p:nvSpPr>
          <p:cNvPr id="4" name="Slide Number Placeholder 5"/>
          <p:cNvSpPr txBox="1">
            <a:spLocks/>
          </p:cNvSpPr>
          <p:nvPr userDrawn="1"/>
        </p:nvSpPr>
        <p:spPr>
          <a:xfrm>
            <a:off x="8077200" y="76200"/>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dirty="0"/>
              <a:t> </a:t>
            </a:r>
          </a:p>
        </p:txBody>
      </p:sp>
      <p:pic>
        <p:nvPicPr>
          <p:cNvPr id="6" name="Picture 5"/>
          <p:cNvPicPr/>
          <p:nvPr userDrawn="1"/>
        </p:nvPicPr>
        <p:blipFill>
          <a:blip r:embed="rId2"/>
          <a:stretch>
            <a:fillRect/>
          </a:stretch>
        </p:blipFill>
        <p:spPr>
          <a:xfrm>
            <a:off x="8077200" y="6630035"/>
            <a:ext cx="1028700" cy="227965"/>
          </a:xfrm>
          <a:prstGeom prst="rect">
            <a:avLst/>
          </a:prstGeom>
        </p:spPr>
      </p:pic>
    </p:spTree>
    <p:extLst>
      <p:ext uri="{BB962C8B-B14F-4D97-AF65-F5344CB8AC3E}">
        <p14:creationId xmlns:p14="http://schemas.microsoft.com/office/powerpoint/2010/main" val="2156433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cess Flow- Symbol Chart">
    <p:spTree>
      <p:nvGrpSpPr>
        <p:cNvPr id="1" name=""/>
        <p:cNvGrpSpPr/>
        <p:nvPr/>
      </p:nvGrpSpPr>
      <p:grpSpPr>
        <a:xfrm>
          <a:off x="0" y="0"/>
          <a:ext cx="0" cy="0"/>
          <a:chOff x="0" y="0"/>
          <a:chExt cx="0" cy="0"/>
        </a:xfrm>
      </p:grpSpPr>
      <p:sp>
        <p:nvSpPr>
          <p:cNvPr id="5" name="Slide Number Placeholder 5"/>
          <p:cNvSpPr txBox="1">
            <a:spLocks/>
          </p:cNvSpPr>
          <p:nvPr userDrawn="1"/>
        </p:nvSpPr>
        <p:spPr>
          <a:xfrm>
            <a:off x="8077200" y="76200"/>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dirty="0"/>
              <a:t> </a:t>
            </a:r>
          </a:p>
        </p:txBody>
      </p:sp>
      <p:pic>
        <p:nvPicPr>
          <p:cNvPr id="3" name="Picture 2"/>
          <p:cNvPicPr/>
          <p:nvPr userDrawn="1"/>
        </p:nvPicPr>
        <p:blipFill>
          <a:blip r:embed="rId2"/>
          <a:stretch>
            <a:fillRect/>
          </a:stretch>
        </p:blipFill>
        <p:spPr>
          <a:xfrm>
            <a:off x="8060140" y="6630035"/>
            <a:ext cx="1028700" cy="227965"/>
          </a:xfrm>
          <a:prstGeom prst="rect">
            <a:avLst/>
          </a:prstGeom>
        </p:spPr>
      </p:pic>
    </p:spTree>
    <p:extLst>
      <p:ext uri="{BB962C8B-B14F-4D97-AF65-F5344CB8AC3E}">
        <p14:creationId xmlns:p14="http://schemas.microsoft.com/office/powerpoint/2010/main" val="1587954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wim Lane Color Template (optional)">
    <p:spTree>
      <p:nvGrpSpPr>
        <p:cNvPr id="1" name=""/>
        <p:cNvGrpSpPr/>
        <p:nvPr/>
      </p:nvGrpSpPr>
      <p:grpSpPr>
        <a:xfrm>
          <a:off x="0" y="0"/>
          <a:ext cx="0" cy="0"/>
          <a:chOff x="0" y="0"/>
          <a:chExt cx="0" cy="0"/>
        </a:xfrm>
      </p:grpSpPr>
      <p:sp>
        <p:nvSpPr>
          <p:cNvPr id="7" name="Text Box 117"/>
          <p:cNvSpPr txBox="1">
            <a:spLocks noChangeArrowheads="1"/>
          </p:cNvSpPr>
          <p:nvPr userDrawn="1"/>
        </p:nvSpPr>
        <p:spPr bwMode="auto">
          <a:xfrm>
            <a:off x="304800" y="609600"/>
            <a:ext cx="8534400"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0"/>
              </a:spcBef>
              <a:spcAft>
                <a:spcPct val="0"/>
              </a:spcAft>
              <a:defRPr sz="1000">
                <a:solidFill>
                  <a:schemeClr val="tx1"/>
                </a:solidFill>
                <a:latin typeface="Arial" charset="0"/>
              </a:defRPr>
            </a:lvl6pPr>
            <a:lvl7pPr marL="2971800" indent="-228600" eaLnBrk="0" fontAlgn="base" hangingPunct="0">
              <a:spcBef>
                <a:spcPct val="0"/>
              </a:spcBef>
              <a:spcAft>
                <a:spcPct val="0"/>
              </a:spcAft>
              <a:defRPr sz="1000">
                <a:solidFill>
                  <a:schemeClr val="tx1"/>
                </a:solidFill>
                <a:latin typeface="Arial" charset="0"/>
              </a:defRPr>
            </a:lvl7pPr>
            <a:lvl8pPr marL="3429000" indent="-228600" eaLnBrk="0" fontAlgn="base" hangingPunct="0">
              <a:spcBef>
                <a:spcPct val="0"/>
              </a:spcBef>
              <a:spcAft>
                <a:spcPct val="0"/>
              </a:spcAft>
              <a:defRPr sz="1000">
                <a:solidFill>
                  <a:schemeClr val="tx1"/>
                </a:solidFill>
                <a:latin typeface="Arial" charset="0"/>
              </a:defRPr>
            </a:lvl8pPr>
            <a:lvl9pPr marL="3886200" indent="-228600" eaLnBrk="0" fontAlgn="base" hangingPunct="0">
              <a:spcBef>
                <a:spcPct val="0"/>
              </a:spcBef>
              <a:spcAft>
                <a:spcPct val="0"/>
              </a:spcAft>
              <a:defRPr sz="1000">
                <a:solidFill>
                  <a:schemeClr val="tx1"/>
                </a:solidFill>
                <a:latin typeface="Arial" charset="0"/>
              </a:defRPr>
            </a:lvl9pPr>
          </a:lstStyle>
          <a:p>
            <a:pPr marL="0" marR="0" indent="0" algn="l" defTabSz="914400" rtl="0" eaLnBrk="0" fontAlgn="auto" latinLnBrk="0" hangingPunct="0">
              <a:lnSpc>
                <a:spcPct val="100000"/>
              </a:lnSpc>
              <a:spcBef>
                <a:spcPct val="50000"/>
              </a:spcBef>
              <a:spcAft>
                <a:spcPts val="0"/>
              </a:spcAft>
              <a:buClrTx/>
              <a:buSzTx/>
              <a:buFontTx/>
              <a:buNone/>
              <a:tabLst/>
              <a:defRPr/>
            </a:pPr>
            <a:r>
              <a:rPr lang="en-US" sz="1400" b="1" dirty="0">
                <a:solidFill>
                  <a:schemeClr val="tx1"/>
                </a:solidFill>
              </a:rPr>
              <a:t>SWIM LANE COLOR TEMPLATE: </a:t>
            </a:r>
            <a:r>
              <a:rPr lang="en-US" sz="1100" b="0" dirty="0">
                <a:solidFill>
                  <a:schemeClr val="tx1">
                    <a:lumMod val="65000"/>
                    <a:lumOff val="35000"/>
                  </a:schemeClr>
                </a:solidFill>
              </a:rPr>
              <a:t>(Optional - </a:t>
            </a:r>
            <a:r>
              <a:rPr lang="en-US" sz="1100" baseline="0" dirty="0">
                <a:solidFill>
                  <a:schemeClr val="tx1">
                    <a:lumMod val="65000"/>
                    <a:lumOff val="35000"/>
                  </a:schemeClr>
                </a:solidFill>
              </a:rPr>
              <a:t>Delete this slide after use. Do not include this slide in a published document.</a:t>
            </a:r>
            <a:r>
              <a:rPr lang="en-US" sz="1100" b="0" kern="0" baseline="0" dirty="0">
                <a:solidFill>
                  <a:schemeClr val="tx1">
                    <a:lumMod val="65000"/>
                    <a:lumOff val="35000"/>
                  </a:schemeClr>
                </a:solidFill>
                <a:cs typeface="+mn-cs"/>
              </a:rPr>
              <a:t>)</a:t>
            </a:r>
            <a:endParaRPr lang="en-US" sz="1100" baseline="0" dirty="0">
              <a:solidFill>
                <a:schemeClr val="tx1">
                  <a:lumMod val="65000"/>
                  <a:lumOff val="35000"/>
                </a:schemeClr>
              </a:solidFill>
            </a:endParaRPr>
          </a:p>
        </p:txBody>
      </p:sp>
      <p:sp>
        <p:nvSpPr>
          <p:cNvPr id="4" name="Slide Number Placeholder 5"/>
          <p:cNvSpPr txBox="1">
            <a:spLocks/>
          </p:cNvSpPr>
          <p:nvPr userDrawn="1"/>
        </p:nvSpPr>
        <p:spPr>
          <a:xfrm>
            <a:off x="8077200" y="76200"/>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dirty="0"/>
              <a:t> </a:t>
            </a:r>
          </a:p>
        </p:txBody>
      </p:sp>
      <p:pic>
        <p:nvPicPr>
          <p:cNvPr id="6" name="Picture 5"/>
          <p:cNvPicPr/>
          <p:nvPr userDrawn="1"/>
        </p:nvPicPr>
        <p:blipFill>
          <a:blip r:embed="rId2"/>
          <a:stretch>
            <a:fillRect/>
          </a:stretch>
        </p:blipFill>
        <p:spPr>
          <a:xfrm>
            <a:off x="8077200" y="6630035"/>
            <a:ext cx="1028700" cy="227965"/>
          </a:xfrm>
          <a:prstGeom prst="rect">
            <a:avLst/>
          </a:prstGeom>
        </p:spPr>
      </p:pic>
    </p:spTree>
    <p:extLst>
      <p:ext uri="{BB962C8B-B14F-4D97-AF65-F5344CB8AC3E}">
        <p14:creationId xmlns:p14="http://schemas.microsoft.com/office/powerpoint/2010/main" val="1383710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verall Process Notes (optional)">
    <p:spTree>
      <p:nvGrpSpPr>
        <p:cNvPr id="1" name=""/>
        <p:cNvGrpSpPr/>
        <p:nvPr/>
      </p:nvGrpSpPr>
      <p:grpSpPr>
        <a:xfrm>
          <a:off x="0" y="0"/>
          <a:ext cx="0" cy="0"/>
          <a:chOff x="0" y="0"/>
          <a:chExt cx="0" cy="0"/>
        </a:xfrm>
      </p:grpSpPr>
      <p:sp>
        <p:nvSpPr>
          <p:cNvPr id="4" name="Rectangle 2"/>
          <p:cNvSpPr txBox="1">
            <a:spLocks noChangeArrowheads="1"/>
          </p:cNvSpPr>
          <p:nvPr userDrawn="1"/>
        </p:nvSpPr>
        <p:spPr bwMode="auto">
          <a:xfrm>
            <a:off x="228600" y="533400"/>
            <a:ext cx="5597525"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5152" tIns="42576" rIns="85152" bIns="42576"/>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tLang="en-US" sz="1400" b="1" dirty="0">
                <a:latin typeface="Arial" pitchFamily="34" charset="0"/>
              </a:rPr>
              <a:t>PROCESS NOTES</a:t>
            </a:r>
            <a:endParaRPr lang="en-US" altLang="en-US" sz="1400" dirty="0">
              <a:latin typeface="Arial" pitchFamily="34" charset="0"/>
            </a:endParaRPr>
          </a:p>
        </p:txBody>
      </p:sp>
      <p:sp>
        <p:nvSpPr>
          <p:cNvPr id="5" name="Slide Number Placeholder 5"/>
          <p:cNvSpPr txBox="1">
            <a:spLocks/>
          </p:cNvSpPr>
          <p:nvPr userDrawn="1"/>
        </p:nvSpPr>
        <p:spPr>
          <a:xfrm>
            <a:off x="8077200" y="76200"/>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dirty="0"/>
              <a:t> </a:t>
            </a:r>
          </a:p>
        </p:txBody>
      </p:sp>
      <p:pic>
        <p:nvPicPr>
          <p:cNvPr id="7" name="Picture 6"/>
          <p:cNvPicPr/>
          <p:nvPr userDrawn="1"/>
        </p:nvPicPr>
        <p:blipFill>
          <a:blip r:embed="rId2"/>
          <a:stretch>
            <a:fillRect/>
          </a:stretch>
        </p:blipFill>
        <p:spPr>
          <a:xfrm>
            <a:off x="8115300" y="6630035"/>
            <a:ext cx="1028700" cy="227965"/>
          </a:xfrm>
          <a:prstGeom prst="rect">
            <a:avLst/>
          </a:prstGeom>
        </p:spPr>
      </p:pic>
    </p:spTree>
    <p:extLst>
      <p:ext uri="{BB962C8B-B14F-4D97-AF65-F5344CB8AC3E}">
        <p14:creationId xmlns:p14="http://schemas.microsoft.com/office/powerpoint/2010/main" val="3606260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cess Flow Details (optional)">
    <p:spTree>
      <p:nvGrpSpPr>
        <p:cNvPr id="1" name=""/>
        <p:cNvGrpSpPr/>
        <p:nvPr/>
      </p:nvGrpSpPr>
      <p:grpSpPr>
        <a:xfrm>
          <a:off x="0" y="0"/>
          <a:ext cx="0" cy="0"/>
          <a:chOff x="0" y="0"/>
          <a:chExt cx="0" cy="0"/>
        </a:xfrm>
      </p:grpSpPr>
      <p:sp>
        <p:nvSpPr>
          <p:cNvPr id="8" name="Rectangle 2"/>
          <p:cNvSpPr txBox="1">
            <a:spLocks noChangeArrowheads="1"/>
          </p:cNvSpPr>
          <p:nvPr userDrawn="1"/>
        </p:nvSpPr>
        <p:spPr bwMode="auto">
          <a:xfrm>
            <a:off x="228600" y="457200"/>
            <a:ext cx="4149725"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5152" tIns="42576" rIns="85152" bIns="42576"/>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tLang="en-US" sz="1400" b="1" dirty="0">
                <a:latin typeface="Arial" pitchFamily="34" charset="0"/>
              </a:rPr>
              <a:t>PROCESS FLOW DETAILS</a:t>
            </a:r>
            <a:endParaRPr lang="en-US" altLang="en-US" sz="1400" dirty="0">
              <a:latin typeface="Arial" pitchFamily="34" charset="0"/>
            </a:endParaRPr>
          </a:p>
        </p:txBody>
      </p:sp>
      <p:sp>
        <p:nvSpPr>
          <p:cNvPr id="4" name="Slide Number Placeholder 5"/>
          <p:cNvSpPr txBox="1">
            <a:spLocks/>
          </p:cNvSpPr>
          <p:nvPr userDrawn="1"/>
        </p:nvSpPr>
        <p:spPr>
          <a:xfrm>
            <a:off x="8077200" y="76200"/>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dirty="0"/>
              <a:t> </a:t>
            </a:r>
          </a:p>
        </p:txBody>
      </p:sp>
      <p:pic>
        <p:nvPicPr>
          <p:cNvPr id="6" name="Picture 5"/>
          <p:cNvPicPr/>
          <p:nvPr userDrawn="1"/>
        </p:nvPicPr>
        <p:blipFill>
          <a:blip r:embed="rId2"/>
          <a:stretch>
            <a:fillRect/>
          </a:stretch>
        </p:blipFill>
        <p:spPr>
          <a:xfrm>
            <a:off x="8060140" y="6630035"/>
            <a:ext cx="1028700" cy="227965"/>
          </a:xfrm>
          <a:prstGeom prst="rect">
            <a:avLst/>
          </a:prstGeom>
        </p:spPr>
      </p:pic>
    </p:spTree>
    <p:extLst>
      <p:ext uri="{BB962C8B-B14F-4D97-AF65-F5344CB8AC3E}">
        <p14:creationId xmlns:p14="http://schemas.microsoft.com/office/powerpoint/2010/main" val="178331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eneral Roles and Responsibilities (optional)">
    <p:spTree>
      <p:nvGrpSpPr>
        <p:cNvPr id="1" name=""/>
        <p:cNvGrpSpPr/>
        <p:nvPr/>
      </p:nvGrpSpPr>
      <p:grpSpPr>
        <a:xfrm>
          <a:off x="0" y="0"/>
          <a:ext cx="0" cy="0"/>
          <a:chOff x="0" y="0"/>
          <a:chExt cx="0" cy="0"/>
        </a:xfrm>
      </p:grpSpPr>
      <p:sp>
        <p:nvSpPr>
          <p:cNvPr id="9" name="Text Box 141"/>
          <p:cNvSpPr txBox="1">
            <a:spLocks noChangeArrowheads="1"/>
          </p:cNvSpPr>
          <p:nvPr userDrawn="1"/>
        </p:nvSpPr>
        <p:spPr bwMode="auto">
          <a:xfrm>
            <a:off x="304800" y="533400"/>
            <a:ext cx="6010275" cy="215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Font typeface="Arial" pitchFamily="34" charset="0"/>
              <a:buChar char="•"/>
              <a:defRPr sz="3200">
                <a:solidFill>
                  <a:schemeClr val="tx1"/>
                </a:solidFill>
                <a:latin typeface="Calibri" pitchFamily="34" charset="0"/>
              </a:defRPr>
            </a:lvl1pPr>
            <a:lvl2pPr marL="742950" indent="-285750">
              <a:spcBef>
                <a:spcPct val="20000"/>
              </a:spcBef>
              <a:buFont typeface="Arial" pitchFamily="34" charset="0"/>
              <a:buChar char="–"/>
              <a:defRPr sz="2800">
                <a:solidFill>
                  <a:schemeClr val="tx1"/>
                </a:solidFill>
                <a:latin typeface="Calibri" pitchFamily="34" charset="0"/>
              </a:defRPr>
            </a:lvl2pPr>
            <a:lvl3pPr marL="1143000" indent="-228600">
              <a:spcBef>
                <a:spcPct val="20000"/>
              </a:spcBef>
              <a:buFont typeface="Arial" pitchFamily="34" charset="0"/>
              <a:buChar char="•"/>
              <a:defRPr sz="2400">
                <a:solidFill>
                  <a:schemeClr val="tx1"/>
                </a:solidFill>
                <a:latin typeface="Calibri" pitchFamily="34" charset="0"/>
              </a:defRPr>
            </a:lvl3pPr>
            <a:lvl4pPr marL="1600200" indent="-228600">
              <a:spcBef>
                <a:spcPct val="20000"/>
              </a:spcBef>
              <a:buFont typeface="Arial" pitchFamily="34" charset="0"/>
              <a:buChar char="–"/>
              <a:defRPr sz="2000">
                <a:solidFill>
                  <a:schemeClr val="tx1"/>
                </a:solidFill>
                <a:latin typeface="Calibri" pitchFamily="34" charset="0"/>
              </a:defRPr>
            </a:lvl4pPr>
            <a:lvl5pPr marL="2057400" indent="-228600">
              <a:spcBef>
                <a:spcPct val="20000"/>
              </a:spcBef>
              <a:buFont typeface="Arial" pitchFamily="34" charset="0"/>
              <a:buChar char="»"/>
              <a:defRPr sz="2000">
                <a:solidFill>
                  <a:schemeClr val="tx1"/>
                </a:solidFill>
                <a:latin typeface="Calibri" pitchFamily="34" charset="0"/>
              </a:defRPr>
            </a:lvl5pPr>
            <a:lvl6pPr marL="2514600" indent="-228600" fontAlgn="base">
              <a:spcBef>
                <a:spcPct val="20000"/>
              </a:spcBef>
              <a:spcAft>
                <a:spcPct val="0"/>
              </a:spcAft>
              <a:buFont typeface="Arial" pitchFamily="34" charset="0"/>
              <a:buChar char="»"/>
              <a:defRPr sz="2000">
                <a:solidFill>
                  <a:schemeClr val="tx1"/>
                </a:solidFill>
                <a:latin typeface="Calibri" pitchFamily="34" charset="0"/>
              </a:defRPr>
            </a:lvl6pPr>
            <a:lvl7pPr marL="2971800" indent="-228600" fontAlgn="base">
              <a:spcBef>
                <a:spcPct val="20000"/>
              </a:spcBef>
              <a:spcAft>
                <a:spcPct val="0"/>
              </a:spcAft>
              <a:buFont typeface="Arial" pitchFamily="34" charset="0"/>
              <a:buChar char="»"/>
              <a:defRPr sz="2000">
                <a:solidFill>
                  <a:schemeClr val="tx1"/>
                </a:solidFill>
                <a:latin typeface="Calibri" pitchFamily="34" charset="0"/>
              </a:defRPr>
            </a:lvl7pPr>
            <a:lvl8pPr marL="3429000" indent="-228600" fontAlgn="base">
              <a:spcBef>
                <a:spcPct val="20000"/>
              </a:spcBef>
              <a:spcAft>
                <a:spcPct val="0"/>
              </a:spcAft>
              <a:buFont typeface="Arial" pitchFamily="34" charset="0"/>
              <a:buChar char="»"/>
              <a:defRPr sz="2000">
                <a:solidFill>
                  <a:schemeClr val="tx1"/>
                </a:solidFill>
                <a:latin typeface="Calibri" pitchFamily="34" charset="0"/>
              </a:defRPr>
            </a:lvl8pPr>
            <a:lvl9pPr marL="3886200" indent="-228600" fontAlgn="base">
              <a:spcBef>
                <a:spcPct val="20000"/>
              </a:spcBef>
              <a:spcAft>
                <a:spcPct val="0"/>
              </a:spcAft>
              <a:buFont typeface="Arial" pitchFamily="34" charset="0"/>
              <a:buChar char="»"/>
              <a:defRPr sz="2000">
                <a:solidFill>
                  <a:schemeClr val="tx1"/>
                </a:solidFill>
                <a:latin typeface="Calibri" pitchFamily="34" charset="0"/>
              </a:defRPr>
            </a:lvl9pPr>
          </a:lstStyle>
          <a:p>
            <a:pPr>
              <a:spcBef>
                <a:spcPct val="50000"/>
              </a:spcBef>
              <a:buFontTx/>
              <a:buNone/>
            </a:pPr>
            <a:r>
              <a:rPr lang="en-US" altLang="en-US" sz="1400" b="1" dirty="0">
                <a:solidFill>
                  <a:srgbClr val="000000"/>
                </a:solidFill>
                <a:latin typeface="Arial" pitchFamily="34" charset="0"/>
              </a:rPr>
              <a:t>GENERAL</a:t>
            </a:r>
            <a:r>
              <a:rPr lang="en-US" altLang="en-US" sz="1400" b="1" baseline="0" dirty="0">
                <a:solidFill>
                  <a:srgbClr val="000000"/>
                </a:solidFill>
                <a:latin typeface="Arial" pitchFamily="34" charset="0"/>
              </a:rPr>
              <a:t> </a:t>
            </a:r>
            <a:r>
              <a:rPr lang="en-US" altLang="en-US" sz="1400" b="1" dirty="0">
                <a:solidFill>
                  <a:srgbClr val="000000"/>
                </a:solidFill>
                <a:latin typeface="Arial" pitchFamily="34" charset="0"/>
              </a:rPr>
              <a:t>ROLES &amp; RESPONSIBILITIES and Definitions </a:t>
            </a:r>
            <a:r>
              <a:rPr lang="en-US" altLang="en-US" sz="1400" b="0" dirty="0">
                <a:solidFill>
                  <a:srgbClr val="000000"/>
                </a:solidFill>
                <a:latin typeface="Arial" pitchFamily="34" charset="0"/>
              </a:rPr>
              <a:t> </a:t>
            </a:r>
            <a:endParaRPr lang="en-US" altLang="en-US" sz="1400" b="0" dirty="0">
              <a:solidFill>
                <a:srgbClr val="006600"/>
              </a:solidFill>
              <a:latin typeface="Arial" pitchFamily="34" charset="0"/>
            </a:endParaRPr>
          </a:p>
        </p:txBody>
      </p:sp>
      <p:sp>
        <p:nvSpPr>
          <p:cNvPr id="4" name="Slide Number Placeholder 5"/>
          <p:cNvSpPr txBox="1">
            <a:spLocks/>
          </p:cNvSpPr>
          <p:nvPr userDrawn="1"/>
        </p:nvSpPr>
        <p:spPr>
          <a:xfrm>
            <a:off x="8077200" y="76200"/>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dirty="0"/>
              <a:t> </a:t>
            </a:r>
          </a:p>
        </p:txBody>
      </p:sp>
      <p:pic>
        <p:nvPicPr>
          <p:cNvPr id="6" name="Picture 5"/>
          <p:cNvPicPr/>
          <p:nvPr userDrawn="1"/>
        </p:nvPicPr>
        <p:blipFill>
          <a:blip r:embed="rId2"/>
          <a:stretch>
            <a:fillRect/>
          </a:stretch>
        </p:blipFill>
        <p:spPr>
          <a:xfrm>
            <a:off x="8052179" y="6630035"/>
            <a:ext cx="1028700" cy="227965"/>
          </a:xfrm>
          <a:prstGeom prst="rect">
            <a:avLst/>
          </a:prstGeom>
        </p:spPr>
      </p:pic>
    </p:spTree>
    <p:extLst>
      <p:ext uri="{BB962C8B-B14F-4D97-AF65-F5344CB8AC3E}">
        <p14:creationId xmlns:p14="http://schemas.microsoft.com/office/powerpoint/2010/main" val="3506168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dditional Resources and References">
    <p:spTree>
      <p:nvGrpSpPr>
        <p:cNvPr id="1" name=""/>
        <p:cNvGrpSpPr/>
        <p:nvPr/>
      </p:nvGrpSpPr>
      <p:grpSpPr>
        <a:xfrm>
          <a:off x="0" y="0"/>
          <a:ext cx="0" cy="0"/>
          <a:chOff x="0" y="0"/>
          <a:chExt cx="0" cy="0"/>
        </a:xfrm>
      </p:grpSpPr>
      <p:sp>
        <p:nvSpPr>
          <p:cNvPr id="8" name="Rectangle 2"/>
          <p:cNvSpPr>
            <a:spLocks noChangeArrowheads="1"/>
          </p:cNvSpPr>
          <p:nvPr userDrawn="1"/>
        </p:nvSpPr>
        <p:spPr bwMode="auto">
          <a:xfrm>
            <a:off x="228600" y="533400"/>
            <a:ext cx="5486400" cy="275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881063">
              <a:defRPr>
                <a:solidFill>
                  <a:schemeClr val="tx1"/>
                </a:solidFill>
                <a:latin typeface="Calibri" pitchFamily="34" charset="0"/>
              </a:defRPr>
            </a:lvl1pPr>
            <a:lvl2pPr marL="742950" indent="-285750" defTabSz="881063">
              <a:defRPr>
                <a:solidFill>
                  <a:schemeClr val="tx1"/>
                </a:solidFill>
                <a:latin typeface="Calibri" pitchFamily="34" charset="0"/>
              </a:defRPr>
            </a:lvl2pPr>
            <a:lvl3pPr marL="1143000" indent="-228600" defTabSz="881063">
              <a:defRPr>
                <a:solidFill>
                  <a:schemeClr val="tx1"/>
                </a:solidFill>
                <a:latin typeface="Calibri" pitchFamily="34" charset="0"/>
              </a:defRPr>
            </a:lvl3pPr>
            <a:lvl4pPr marL="1600200" indent="-228600" defTabSz="881063">
              <a:defRPr>
                <a:solidFill>
                  <a:schemeClr val="tx1"/>
                </a:solidFill>
                <a:latin typeface="Calibri" pitchFamily="34" charset="0"/>
              </a:defRPr>
            </a:lvl4pPr>
            <a:lvl5pPr marL="2057400" indent="-228600" defTabSz="881063">
              <a:defRPr>
                <a:solidFill>
                  <a:schemeClr val="tx1"/>
                </a:solidFill>
                <a:latin typeface="Calibri" pitchFamily="34" charset="0"/>
              </a:defRPr>
            </a:lvl5pPr>
            <a:lvl6pPr marL="2514600" indent="-228600" defTabSz="881063" fontAlgn="base">
              <a:spcBef>
                <a:spcPct val="0"/>
              </a:spcBef>
              <a:spcAft>
                <a:spcPct val="0"/>
              </a:spcAft>
              <a:defRPr>
                <a:solidFill>
                  <a:schemeClr val="tx1"/>
                </a:solidFill>
                <a:latin typeface="Calibri" pitchFamily="34" charset="0"/>
              </a:defRPr>
            </a:lvl6pPr>
            <a:lvl7pPr marL="2971800" indent="-228600" defTabSz="881063" fontAlgn="base">
              <a:spcBef>
                <a:spcPct val="0"/>
              </a:spcBef>
              <a:spcAft>
                <a:spcPct val="0"/>
              </a:spcAft>
              <a:defRPr>
                <a:solidFill>
                  <a:schemeClr val="tx1"/>
                </a:solidFill>
                <a:latin typeface="Calibri" pitchFamily="34" charset="0"/>
              </a:defRPr>
            </a:lvl7pPr>
            <a:lvl8pPr marL="3429000" indent="-228600" defTabSz="881063" fontAlgn="base">
              <a:spcBef>
                <a:spcPct val="0"/>
              </a:spcBef>
              <a:spcAft>
                <a:spcPct val="0"/>
              </a:spcAft>
              <a:defRPr>
                <a:solidFill>
                  <a:schemeClr val="tx1"/>
                </a:solidFill>
                <a:latin typeface="Calibri" pitchFamily="34" charset="0"/>
              </a:defRPr>
            </a:lvl8pPr>
            <a:lvl9pPr marL="3886200" indent="-228600" defTabSz="881063" fontAlgn="base">
              <a:spcBef>
                <a:spcPct val="0"/>
              </a:spcBef>
              <a:spcAft>
                <a:spcPct val="0"/>
              </a:spcAft>
              <a:defRPr>
                <a:solidFill>
                  <a:schemeClr val="tx1"/>
                </a:solidFill>
                <a:latin typeface="Calibri" pitchFamily="34" charset="0"/>
              </a:defRPr>
            </a:lvl9pPr>
          </a:lstStyle>
          <a:p>
            <a:pPr marL="0" marR="0" indent="0" algn="l" defTabSz="881063" rtl="0" eaLnBrk="1" fontAlgn="auto" latinLnBrk="0" hangingPunct="1">
              <a:lnSpc>
                <a:spcPct val="85000"/>
              </a:lnSpc>
              <a:spcBef>
                <a:spcPts val="0"/>
              </a:spcBef>
              <a:spcAft>
                <a:spcPts val="0"/>
              </a:spcAft>
              <a:buClrTx/>
              <a:buSzTx/>
              <a:buFontTx/>
              <a:buNone/>
              <a:tabLst/>
              <a:defRPr/>
            </a:pPr>
            <a:r>
              <a:rPr lang="en-US" sz="1400" b="1" dirty="0">
                <a:solidFill>
                  <a:srgbClr val="000000"/>
                </a:solidFill>
                <a:latin typeface="Arial" pitchFamily="34" charset="0"/>
              </a:rPr>
              <a:t>PROCESS FLOW DETAILS </a:t>
            </a:r>
            <a:endParaRPr lang="en-US" sz="1400" dirty="0"/>
          </a:p>
        </p:txBody>
      </p:sp>
      <p:sp>
        <p:nvSpPr>
          <p:cNvPr id="4" name="Slide Number Placeholder 5"/>
          <p:cNvSpPr txBox="1">
            <a:spLocks/>
          </p:cNvSpPr>
          <p:nvPr userDrawn="1"/>
        </p:nvSpPr>
        <p:spPr>
          <a:xfrm>
            <a:off x="8077200" y="76200"/>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dirty="0"/>
              <a:t> </a:t>
            </a:r>
          </a:p>
        </p:txBody>
      </p:sp>
      <p:pic>
        <p:nvPicPr>
          <p:cNvPr id="6" name="Picture 5"/>
          <p:cNvPicPr/>
          <p:nvPr userDrawn="1"/>
        </p:nvPicPr>
        <p:blipFill>
          <a:blip r:embed="rId2"/>
          <a:stretch>
            <a:fillRect/>
          </a:stretch>
        </p:blipFill>
        <p:spPr>
          <a:xfrm>
            <a:off x="8077200" y="6630035"/>
            <a:ext cx="1028700" cy="227965"/>
          </a:xfrm>
          <a:prstGeom prst="rect">
            <a:avLst/>
          </a:prstGeom>
        </p:spPr>
      </p:pic>
    </p:spTree>
    <p:extLst>
      <p:ext uri="{BB962C8B-B14F-4D97-AF65-F5344CB8AC3E}">
        <p14:creationId xmlns:p14="http://schemas.microsoft.com/office/powerpoint/2010/main" val="27147512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Procedure Revision Record">
    <p:spTree>
      <p:nvGrpSpPr>
        <p:cNvPr id="1" name=""/>
        <p:cNvGrpSpPr/>
        <p:nvPr/>
      </p:nvGrpSpPr>
      <p:grpSpPr>
        <a:xfrm>
          <a:off x="0" y="0"/>
          <a:ext cx="0" cy="0"/>
          <a:chOff x="0" y="0"/>
          <a:chExt cx="0" cy="0"/>
        </a:xfrm>
      </p:grpSpPr>
      <p:sp>
        <p:nvSpPr>
          <p:cNvPr id="3" name="Text Box 117"/>
          <p:cNvSpPr txBox="1">
            <a:spLocks noChangeArrowheads="1"/>
          </p:cNvSpPr>
          <p:nvPr userDrawn="1"/>
        </p:nvSpPr>
        <p:spPr bwMode="auto">
          <a:xfrm>
            <a:off x="304800" y="533400"/>
            <a:ext cx="4267200"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0"/>
              </a:spcBef>
              <a:spcAft>
                <a:spcPct val="0"/>
              </a:spcAft>
              <a:defRPr sz="1000">
                <a:solidFill>
                  <a:schemeClr val="tx1"/>
                </a:solidFill>
                <a:latin typeface="Arial" charset="0"/>
              </a:defRPr>
            </a:lvl6pPr>
            <a:lvl7pPr marL="2971800" indent="-228600" eaLnBrk="0" fontAlgn="base" hangingPunct="0">
              <a:spcBef>
                <a:spcPct val="0"/>
              </a:spcBef>
              <a:spcAft>
                <a:spcPct val="0"/>
              </a:spcAft>
              <a:defRPr sz="1000">
                <a:solidFill>
                  <a:schemeClr val="tx1"/>
                </a:solidFill>
                <a:latin typeface="Arial" charset="0"/>
              </a:defRPr>
            </a:lvl7pPr>
            <a:lvl8pPr marL="3429000" indent="-228600" eaLnBrk="0" fontAlgn="base" hangingPunct="0">
              <a:spcBef>
                <a:spcPct val="0"/>
              </a:spcBef>
              <a:spcAft>
                <a:spcPct val="0"/>
              </a:spcAft>
              <a:defRPr sz="1000">
                <a:solidFill>
                  <a:schemeClr val="tx1"/>
                </a:solidFill>
                <a:latin typeface="Arial" charset="0"/>
              </a:defRPr>
            </a:lvl8pPr>
            <a:lvl9pPr marL="3886200" indent="-228600" eaLnBrk="0" fontAlgn="base" hangingPunct="0">
              <a:spcBef>
                <a:spcPct val="0"/>
              </a:spcBef>
              <a:spcAft>
                <a:spcPct val="0"/>
              </a:spcAft>
              <a:defRPr sz="1000">
                <a:solidFill>
                  <a:schemeClr val="tx1"/>
                </a:solidFill>
                <a:latin typeface="Arial" charset="0"/>
              </a:defRPr>
            </a:lvl9pPr>
          </a:lstStyle>
          <a:p>
            <a:pPr eaLnBrk="0" hangingPunct="0">
              <a:spcBef>
                <a:spcPct val="50000"/>
              </a:spcBef>
              <a:defRPr/>
            </a:pPr>
            <a:r>
              <a:rPr lang="en-US" sz="1400" b="1" kern="0" baseline="0" dirty="0">
                <a:solidFill>
                  <a:schemeClr val="tx1"/>
                </a:solidFill>
                <a:cs typeface="+mn-cs"/>
              </a:rPr>
              <a:t>REVISION RECORD</a:t>
            </a:r>
            <a:endParaRPr lang="en-US" sz="1400" b="1" kern="0" dirty="0">
              <a:solidFill>
                <a:schemeClr val="tx1"/>
              </a:solidFill>
              <a:cs typeface="+mn-cs"/>
            </a:endParaRPr>
          </a:p>
        </p:txBody>
      </p:sp>
      <p:sp>
        <p:nvSpPr>
          <p:cNvPr id="4" name="Slide Number Placeholder 5"/>
          <p:cNvSpPr txBox="1">
            <a:spLocks/>
          </p:cNvSpPr>
          <p:nvPr userDrawn="1"/>
        </p:nvSpPr>
        <p:spPr>
          <a:xfrm>
            <a:off x="8077200" y="76200"/>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dirty="0"/>
              <a:t> </a:t>
            </a:r>
          </a:p>
        </p:txBody>
      </p:sp>
      <p:pic>
        <p:nvPicPr>
          <p:cNvPr id="6" name="Picture 5"/>
          <p:cNvPicPr/>
          <p:nvPr userDrawn="1"/>
        </p:nvPicPr>
        <p:blipFill>
          <a:blip r:embed="rId2"/>
          <a:stretch>
            <a:fillRect/>
          </a:stretch>
        </p:blipFill>
        <p:spPr>
          <a:xfrm>
            <a:off x="8077200" y="6630035"/>
            <a:ext cx="1028700" cy="227965"/>
          </a:xfrm>
          <a:prstGeom prst="rect">
            <a:avLst/>
          </a:prstGeom>
        </p:spPr>
      </p:pic>
    </p:spTree>
    <p:extLst>
      <p:ext uri="{BB962C8B-B14F-4D97-AF65-F5344CB8AC3E}">
        <p14:creationId xmlns:p14="http://schemas.microsoft.com/office/powerpoint/2010/main" val="1396418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81000"/>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Slide Number Placeholder 5"/>
          <p:cNvSpPr>
            <a:spLocks noGrp="1"/>
          </p:cNvSpPr>
          <p:nvPr>
            <p:ph type="sldNum" sz="quarter" idx="4"/>
          </p:nvPr>
        </p:nvSpPr>
        <p:spPr>
          <a:xfrm>
            <a:off x="8077200" y="76200"/>
            <a:ext cx="381000" cy="230579"/>
          </a:xfrm>
          <a:prstGeom prst="rect">
            <a:avLst/>
          </a:prstGeom>
        </p:spPr>
        <p:txBody>
          <a:bodyPr/>
          <a:lstStyle>
            <a:lvl1pPr>
              <a:defRPr sz="800">
                <a:latin typeface="Arial" panose="020B0604020202020204" pitchFamily="34" charset="0"/>
                <a:cs typeface="Arial" panose="020B0604020202020204" pitchFamily="34" charset="0"/>
              </a:defRPr>
            </a:lvl1pPr>
          </a:lstStyle>
          <a:p>
            <a:fld id="{A82B5BDE-5F32-4E1B-94F7-40F5AE9BF38D}" type="slidenum">
              <a:rPr lang="en-US" smtClean="0"/>
              <a:pPr/>
              <a:t>‹#›</a:t>
            </a:fld>
            <a:r>
              <a:rPr lang="en-US" dirty="0"/>
              <a:t> </a:t>
            </a:r>
          </a:p>
        </p:txBody>
      </p:sp>
      <p:graphicFrame>
        <p:nvGraphicFramePr>
          <p:cNvPr id="6" name="Group 61"/>
          <p:cNvGraphicFramePr>
            <a:graphicFrameLocks noGrp="1"/>
          </p:cNvGraphicFramePr>
          <p:nvPr userDrawn="1">
            <p:extLst>
              <p:ext uri="{D42A27DB-BD31-4B8C-83A1-F6EECF244321}">
                <p14:modId xmlns:p14="http://schemas.microsoft.com/office/powerpoint/2010/main" val="2449298001"/>
              </p:ext>
            </p:extLst>
          </p:nvPr>
        </p:nvGraphicFramePr>
        <p:xfrm>
          <a:off x="457200" y="94190"/>
          <a:ext cx="8534400" cy="210610"/>
        </p:xfrm>
        <a:graphic>
          <a:graphicData uri="http://schemas.openxmlformats.org/drawingml/2006/table">
            <a:tbl>
              <a:tblPr>
                <a:effectLst/>
              </a:tblPr>
              <a:tblGrid>
                <a:gridCol w="1946431">
                  <a:extLst>
                    <a:ext uri="{9D8B030D-6E8A-4147-A177-3AD203B41FA5}">
                      <a16:colId xmlns:a16="http://schemas.microsoft.com/office/drawing/2014/main" val="20000"/>
                    </a:ext>
                  </a:extLst>
                </a:gridCol>
                <a:gridCol w="3727403">
                  <a:extLst>
                    <a:ext uri="{9D8B030D-6E8A-4147-A177-3AD203B41FA5}">
                      <a16:colId xmlns:a16="http://schemas.microsoft.com/office/drawing/2014/main" val="20001"/>
                    </a:ext>
                  </a:extLst>
                </a:gridCol>
                <a:gridCol w="1532184">
                  <a:extLst>
                    <a:ext uri="{9D8B030D-6E8A-4147-A177-3AD203B41FA5}">
                      <a16:colId xmlns:a16="http://schemas.microsoft.com/office/drawing/2014/main" val="20002"/>
                    </a:ext>
                  </a:extLst>
                </a:gridCol>
                <a:gridCol w="1328382">
                  <a:extLst>
                    <a:ext uri="{9D8B030D-6E8A-4147-A177-3AD203B41FA5}">
                      <a16:colId xmlns:a16="http://schemas.microsoft.com/office/drawing/2014/main" val="20003"/>
                    </a:ext>
                  </a:extLst>
                </a:gridCol>
              </a:tblGrid>
              <a:tr h="210610">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altLang="en-US" sz="800" b="1" i="0" u="none" strike="noStrike" cap="none" normalizeH="0" baseline="0" dirty="0">
                          <a:ln>
                            <a:noFill/>
                          </a:ln>
                          <a:solidFill>
                            <a:schemeClr val="tx1"/>
                          </a:solidFill>
                          <a:effectLst/>
                          <a:latin typeface="Arial" panose="020B0604020202020204" pitchFamily="34" charset="0"/>
                        </a:rPr>
                        <a:t>EAGP_4-4_MG_01_EN</a:t>
                      </a:r>
                    </a:p>
                  </a:txBody>
                  <a:tcPr marL="85859" marR="85859" marT="42119" marB="4211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altLang="en-US" sz="800" b="1" i="0" u="none" strike="noStrike" cap="none" normalizeH="0" baseline="0" dirty="0">
                          <a:ln>
                            <a:noFill/>
                          </a:ln>
                          <a:solidFill>
                            <a:schemeClr val="tx1"/>
                          </a:solidFill>
                          <a:effectLst/>
                          <a:latin typeface="Arial" panose="020B0604020202020204" pitchFamily="34" charset="0"/>
                        </a:rPr>
                        <a:t>Business Transfer Execution </a:t>
                      </a:r>
                    </a:p>
                  </a:txBody>
                  <a:tcPr marL="85859" marR="85859" marT="42119" marB="421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800" b="1" i="0" u="none" strike="noStrike" cap="none" normalizeH="0" baseline="0" dirty="0">
                          <a:ln>
                            <a:noFill/>
                          </a:ln>
                          <a:solidFill>
                            <a:schemeClr val="tx1"/>
                          </a:solidFill>
                          <a:effectLst/>
                          <a:latin typeface="Arial" charset="0"/>
                        </a:rPr>
                        <a:t>Effective:  23 Dec.2024</a:t>
                      </a:r>
                      <a:endParaRPr kumimoji="0" lang="en-US" sz="800" b="1" i="0" u="none" strike="noStrike" cap="none" normalizeH="0" baseline="0" dirty="0">
                        <a:ln>
                          <a:noFill/>
                        </a:ln>
                        <a:solidFill>
                          <a:srgbClr val="FF0000"/>
                        </a:solidFill>
                        <a:effectLst/>
                        <a:latin typeface="Arial" charset="0"/>
                      </a:endParaRPr>
                    </a:p>
                  </a:txBody>
                  <a:tcPr marL="85859" marR="85859" marT="42119" marB="421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defTabSz="947738" rtl="0" eaLnBrk="1" fontAlgn="base" latinLnBrk="0" hangingPunct="1">
                        <a:lnSpc>
                          <a:spcPct val="100000"/>
                        </a:lnSpc>
                        <a:spcBef>
                          <a:spcPct val="50000"/>
                        </a:spcBef>
                        <a:spcAft>
                          <a:spcPct val="0"/>
                        </a:spcAft>
                        <a:buClrTx/>
                        <a:buSzTx/>
                        <a:buFontTx/>
                        <a:buNone/>
                        <a:tabLst/>
                      </a:pPr>
                      <a:r>
                        <a:rPr kumimoji="0" lang="en-US" sz="800" b="1" i="1" u="none" strike="noStrike" cap="none" normalizeH="0" baseline="0" dirty="0">
                          <a:ln>
                            <a:noFill/>
                          </a:ln>
                          <a:solidFill>
                            <a:schemeClr val="tx1"/>
                          </a:solidFill>
                          <a:effectLst/>
                          <a:latin typeface="Arial" charset="0"/>
                        </a:rPr>
                        <a:t>Page:               of   </a:t>
                      </a:r>
                    </a:p>
                  </a:txBody>
                  <a:tcPr marL="85859" marR="85859" marT="42119" marB="4211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extLst>
                  <a:ext uri="{0D108BD9-81ED-4DB2-BD59-A6C34878D82A}">
                    <a16:rowId xmlns:a16="http://schemas.microsoft.com/office/drawing/2014/main" val="10000"/>
                  </a:ext>
                </a:extLst>
              </a:tr>
            </a:tbl>
          </a:graphicData>
        </a:graphic>
      </p:graphicFrame>
      <p:sp>
        <p:nvSpPr>
          <p:cNvPr id="4" name="TextBox 3"/>
          <p:cNvSpPr txBox="1"/>
          <p:nvPr userDrawn="1"/>
        </p:nvSpPr>
        <p:spPr>
          <a:xfrm>
            <a:off x="8645603" y="76200"/>
            <a:ext cx="300082" cy="215444"/>
          </a:xfrm>
          <a:prstGeom prst="rect">
            <a:avLst/>
          </a:prstGeom>
          <a:noFill/>
        </p:spPr>
        <p:txBody>
          <a:bodyPr wrap="none" rtlCol="0">
            <a:spAutoFit/>
          </a:bodyPr>
          <a:lstStyle/>
          <a:p>
            <a:r>
              <a:rPr lang="en-US" sz="800" dirty="0">
                <a:latin typeface="Arial" panose="020B0604020202020204" pitchFamily="34" charset="0"/>
                <a:cs typeface="Arial" panose="020B0604020202020204" pitchFamily="34" charset="0"/>
              </a:rPr>
              <a:t>11</a:t>
            </a:r>
          </a:p>
        </p:txBody>
      </p:sp>
      <p:sp>
        <p:nvSpPr>
          <p:cNvPr id="5" name="Rectangle 4"/>
          <p:cNvSpPr/>
          <p:nvPr userDrawn="1"/>
        </p:nvSpPr>
        <p:spPr>
          <a:xfrm>
            <a:off x="1752600" y="6519446"/>
            <a:ext cx="5029200"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cap="none" spc="0" normalizeH="0" baseline="0" dirty="0">
                <a:ln>
                  <a:noFill/>
                </a:ln>
                <a:solidFill>
                  <a:schemeClr val="tx1">
                    <a:lumMod val="50000"/>
                    <a:lumOff val="50000"/>
                  </a:schemeClr>
                </a:solidFill>
                <a:effectLst/>
                <a:latin typeface="Times New Roman" pitchFamily="18" charset="0"/>
                <a:cs typeface="Times New Roman" panose="02020603050405020304" pitchFamily="18" charset="0"/>
              </a:rPr>
              <a:t>Internal Use – Not for disclosure outside of Aptiv</a:t>
            </a:r>
            <a:endParaRPr lang="en-US" sz="800" spc="0" dirty="0">
              <a:solidFill>
                <a:schemeClr val="tx1">
                  <a:lumMod val="50000"/>
                  <a:lumOff val="50000"/>
                </a:schemeClr>
              </a:solidFill>
              <a:effectLst/>
              <a:latin typeface="Times New Roman" panose="02020603050405020304" pitchFamily="18" charset="0"/>
              <a:cs typeface="Times New Roman" panose="02020603050405020304" pitchFamily="18" charset="0"/>
            </a:endParaRPr>
          </a:p>
          <a:p>
            <a:pPr algn="ctr"/>
            <a:r>
              <a:rPr kumimoji="0" lang="en-US" altLang="zh-CN" sz="800" b="0" i="1" u="none" strike="noStrike" cap="none" spc="0" normalizeH="0" baseline="0" dirty="0">
                <a:ln>
                  <a:noFill/>
                </a:ln>
                <a:solidFill>
                  <a:schemeClr val="tx1">
                    <a:lumMod val="50000"/>
                    <a:lumOff val="50000"/>
                  </a:schemeClr>
                </a:solidFill>
                <a:effectLst/>
                <a:latin typeface="Times New Roman" pitchFamily="18" charset="0"/>
                <a:cs typeface="Times New Roman" panose="02020603050405020304" pitchFamily="18" charset="0"/>
              </a:rPr>
              <a:t>Document is uncontrolled when printed</a:t>
            </a:r>
            <a:r>
              <a:rPr lang="en-US" altLang="zh-CN" sz="800" spc="0" dirty="0">
                <a:solidFill>
                  <a:schemeClr val="tx1">
                    <a:lumMod val="50000"/>
                    <a:lumOff val="50000"/>
                  </a:schemeClr>
                </a:solidFill>
                <a:effectLst/>
                <a:latin typeface="Times New Roman" pitchFamily="18" charset="0"/>
                <a:cs typeface="Times New Roman" panose="02020603050405020304" pitchFamily="18" charset="0"/>
              </a:rPr>
              <a:t> </a:t>
            </a:r>
            <a:r>
              <a:rPr kumimoji="0" lang="en-US" altLang="zh-CN" sz="800" b="0" i="1" u="none" strike="noStrike" cap="none" spc="0" normalizeH="0" baseline="0" dirty="0">
                <a:ln>
                  <a:noFill/>
                </a:ln>
                <a:solidFill>
                  <a:schemeClr val="tx1">
                    <a:lumMod val="50000"/>
                    <a:lumOff val="50000"/>
                  </a:schemeClr>
                </a:solidFill>
                <a:effectLst/>
                <a:latin typeface="Times New Roman" pitchFamily="18" charset="0"/>
                <a:cs typeface="Times New Roman" panose="02020603050405020304" pitchFamily="18" charset="0"/>
              </a:rPr>
              <a:t>unless properly identified as controlled</a:t>
            </a:r>
          </a:p>
        </p:txBody>
      </p:sp>
    </p:spTree>
    <p:extLst>
      <p:ext uri="{BB962C8B-B14F-4D97-AF65-F5344CB8AC3E}">
        <p14:creationId xmlns:p14="http://schemas.microsoft.com/office/powerpoint/2010/main" val="3515638139"/>
      </p:ext>
    </p:extLst>
  </p:cSld>
  <p:clrMap bg1="lt1" tx1="dk1" bg2="lt2" tx2="dk2" accent1="accent1" accent2="accent2" accent3="accent3" accent4="accent4" accent5="accent5" accent6="accent6" hlink="hlink" folHlink="folHlink"/>
  <p:sldLayoutIdLst>
    <p:sldLayoutId id="2147483658" r:id="rId1"/>
    <p:sldLayoutId id="2147483666" r:id="rId2"/>
    <p:sldLayoutId id="2147483667" r:id="rId3"/>
    <p:sldLayoutId id="2147483663" r:id="rId4"/>
    <p:sldLayoutId id="2147483664" r:id="rId5"/>
    <p:sldLayoutId id="2147483653" r:id="rId6"/>
    <p:sldLayoutId id="2147483652" r:id="rId7"/>
    <p:sldLayoutId id="2147483654" r:id="rId8"/>
    <p:sldLayoutId id="2147483668" r:id="rId9"/>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spo.aptiv.com/:p:/r/sites/0407-eosea/GlobalRegional/EAGP_4-3_ME_12_EN_.pptm?d=w5822ed46c122488ba67c058defc5106a&amp;csf=1&amp;web=1" TargetMode="External"/><Relationship Id="rId3" Type="http://schemas.openxmlformats.org/officeDocument/2006/relationships/hyperlink" Target="https://spo.aptiv.com/:w:/r/sites/0107-eosho/Policy%20Information/EOS-Glossary.docx?d=wba21ddee93ab4b24b35e0ef7d014dc63&amp;csf=1&amp;web=1" TargetMode="External"/><Relationship Id="rId7" Type="http://schemas.openxmlformats.org/officeDocument/2006/relationships/hyperlink" Target="https://spo.aptiv.com/:x:/r/sites/0407-eosea/GlobalRegional/EAGP_4-4_MG_01-F01_EN.xlsx?d=w2a6a426266d04c7b8e9f17dff42a4c7d&amp;csf=1&amp;web=1"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spo.aptiv.com/:p:/r/sites/0407-eosea/GlobalRegional/EAGP_4-4_CS_01_EN.pptm?d=wcab85c761517409b9125ac105a6fbd1a&amp;csf=1&amp;web=1" TargetMode="External"/><Relationship Id="rId5" Type="http://schemas.openxmlformats.org/officeDocument/2006/relationships/hyperlink" Target="https://spo.aptiv.com/:x:/r/sites/0407-eosea/GlobalRegional/EAGP_2-6_BU_02-F01_EN.xlsm?d=wff7b4a3a23484eccbf0333b648e2e0c6&amp;csf=1&amp;web=1" TargetMode="External"/><Relationship Id="rId4" Type="http://schemas.openxmlformats.org/officeDocument/2006/relationships/hyperlink" Target="https://spo.aptiv.com/:p:/r/sites/0407-eosea/GlobalRegional/EAGP_2-6_BU_02_EN.pptx?d=w13ad6f569ee44418b3e9ac21f6a58fa4&amp;csf=1&amp;web=1" TargetMode="Externa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slide" Target="slide1.xml"/></Relationships>
</file>

<file path=ppt/slides/_rels/slide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spo.aptiv.com/:x:/r/sites/0407-eosea/GlobalRegional/EAGP_4-4_MG_01-F01_EN.xlsx?d=w2a6a426266d04c7b8e9f17dff42a4c7d&amp;csf=1&amp;web=1"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8" Type="http://schemas.openxmlformats.org/officeDocument/2006/relationships/hyperlink" Target="http://sps-na.delphiauto.net/dbs/dpes/hm/global%20core%20group/G891/default.aspx" TargetMode="External"/><Relationship Id="rId3" Type="http://schemas.openxmlformats.org/officeDocument/2006/relationships/hyperlink" Target="http://sps-na.delphiauto.net/dbs/dpes/hm/global%20core%20group/G557/Document%20Library/global%20core%20group/G414/default.aspx" TargetMode="External"/><Relationship Id="rId7" Type="http://schemas.openxmlformats.org/officeDocument/2006/relationships/hyperlink" Target="http://sps-na.delphiauto.net/dbs/dpes/hm/global%20core%20group/G849/default.aspx" TargetMode="External"/><Relationship Id="rId12" Type="http://schemas.openxmlformats.org/officeDocument/2006/relationships/hyperlink" Target="https://spo.aptiv.com/sites/0407-eosea/Lists/DCRRequestsProduction/EditForm.aspx?ID=2619" TargetMode="External"/><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hyperlink" Target="http://sps-na.delphiauto.net/dbs/dpes/hm/global%20core%20group/G754/default.aspx" TargetMode="External"/><Relationship Id="rId11" Type="http://schemas.openxmlformats.org/officeDocument/2006/relationships/hyperlink" Target="https://spo.aptiv.com/sites/0407-eosea/Lists/DCRRequestsProduction/EditForm.aspx?ID=2115" TargetMode="External"/><Relationship Id="rId5" Type="http://schemas.openxmlformats.org/officeDocument/2006/relationships/hyperlink" Target="http://sps-na.delphiauto.net/dbs/dpes/hm/global%20core%20group/G625/default.aspx" TargetMode="External"/><Relationship Id="rId10" Type="http://schemas.openxmlformats.org/officeDocument/2006/relationships/hyperlink" Target="http://p04.na.delphiauto.net/00/106/GL_DCR_WS_Site/G1131/default.aspx" TargetMode="External"/><Relationship Id="rId4" Type="http://schemas.openxmlformats.org/officeDocument/2006/relationships/hyperlink" Target="http://sps-na.delphiauto.net/dbs/dpes/hm/global%20core%20group/G557/default.aspx" TargetMode="External"/><Relationship Id="rId9" Type="http://schemas.openxmlformats.org/officeDocument/2006/relationships/hyperlink" Target="http://sps-na.delphiauto.net/dbs/dpes/hm/global%20core%20group/G12-39/default.asp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Group 706"/>
          <p:cNvGraphicFramePr>
            <a:graphicFrameLocks noGrp="1"/>
          </p:cNvGraphicFramePr>
          <p:nvPr>
            <p:extLst>
              <p:ext uri="{D42A27DB-BD31-4B8C-83A1-F6EECF244321}">
                <p14:modId xmlns:p14="http://schemas.microsoft.com/office/powerpoint/2010/main" val="1558082791"/>
              </p:ext>
            </p:extLst>
          </p:nvPr>
        </p:nvGraphicFramePr>
        <p:xfrm>
          <a:off x="5105400" y="5181600"/>
          <a:ext cx="3831390" cy="1241800"/>
        </p:xfrm>
        <a:graphic>
          <a:graphicData uri="http://schemas.openxmlformats.org/drawingml/2006/table">
            <a:tbl>
              <a:tblPr/>
              <a:tblGrid>
                <a:gridCol w="3831390">
                  <a:extLst>
                    <a:ext uri="{9D8B030D-6E8A-4147-A177-3AD203B41FA5}">
                      <a16:colId xmlns:a16="http://schemas.microsoft.com/office/drawing/2014/main" val="20000"/>
                    </a:ext>
                  </a:extLst>
                </a:gridCol>
              </a:tblGrid>
              <a:tr h="408684">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cap="none" normalizeH="0" baseline="0" dirty="0">
                          <a:ln>
                            <a:noFill/>
                          </a:ln>
                          <a:solidFill>
                            <a:schemeClr val="tx1"/>
                          </a:solidFill>
                          <a:effectLst/>
                          <a:latin typeface="Arial" charset="0"/>
                        </a:rPr>
                        <a:t>What</a:t>
                      </a:r>
                      <a:r>
                        <a:rPr kumimoji="0" lang="en-US" sz="1000" b="0" i="0" u="none" strike="noStrike" cap="none" normalizeH="0" baseline="0" dirty="0">
                          <a:ln>
                            <a:noFill/>
                          </a:ln>
                          <a:solidFill>
                            <a:schemeClr val="tx1">
                              <a:lumMod val="95000"/>
                              <a:lumOff val="5000"/>
                            </a:schemeClr>
                          </a:solidFill>
                          <a:effectLst/>
                          <a:latin typeface="Arial" charset="0"/>
                        </a:rPr>
                        <a:t> </a:t>
                      </a:r>
                      <a:r>
                        <a:rPr kumimoji="0" lang="en-US" sz="1000" b="1" i="0" u="sng" strike="noStrike" cap="none" normalizeH="0" baseline="0" dirty="0">
                          <a:ln>
                            <a:noFill/>
                          </a:ln>
                          <a:solidFill>
                            <a:srgbClr val="F84018"/>
                          </a:solidFill>
                          <a:effectLst/>
                          <a:latin typeface="Arial" charset="0"/>
                        </a:rPr>
                        <a:t>METRICS</a:t>
                      </a:r>
                      <a:r>
                        <a:rPr kumimoji="0" lang="en-US" sz="1000" b="0" i="0" u="none" strike="noStrike" cap="none" normalizeH="0" baseline="0" dirty="0">
                          <a:ln>
                            <a:noFill/>
                          </a:ln>
                          <a:solidFill>
                            <a:schemeClr val="tx1">
                              <a:lumMod val="95000"/>
                              <a:lumOff val="5000"/>
                            </a:schemeClr>
                          </a:solidFill>
                          <a:effectLst/>
                          <a:latin typeface="Arial" charset="0"/>
                        </a:rPr>
                        <a:t> </a:t>
                      </a:r>
                      <a:r>
                        <a:rPr kumimoji="0" lang="en-US" sz="1000" b="0" i="0" u="none" strike="noStrike" cap="none" normalizeH="0" baseline="0" dirty="0">
                          <a:ln>
                            <a:noFill/>
                          </a:ln>
                          <a:solidFill>
                            <a:schemeClr val="tx1"/>
                          </a:solidFill>
                          <a:effectLst/>
                          <a:latin typeface="Arial" charset="0"/>
                        </a:rPr>
                        <a:t>are used to report the effectiveness/efficiency of the process or to monitor/measure performance?</a:t>
                      </a:r>
                    </a:p>
                  </a:txBody>
                  <a:tcPr marL="79960" marR="79960" marT="39209" marB="392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7D1CF">
                        <a:alpha val="25098"/>
                      </a:srgbClr>
                    </a:solidFill>
                  </a:tcPr>
                </a:tc>
                <a:extLst>
                  <a:ext uri="{0D108BD9-81ED-4DB2-BD59-A6C34878D82A}">
                    <a16:rowId xmlns:a16="http://schemas.microsoft.com/office/drawing/2014/main" val="10000"/>
                  </a:ext>
                </a:extLst>
              </a:tr>
              <a:tr h="709592">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63500" marR="0" lvl="0" indent="-63500" algn="l" defTabSz="947738" rtl="0" eaLnBrk="1" fontAlgn="base" latinLnBrk="0" hangingPunct="1">
                        <a:lnSpc>
                          <a:spcPct val="75000"/>
                        </a:lnSpc>
                        <a:spcBef>
                          <a:spcPct val="30000"/>
                        </a:spcBef>
                        <a:spcAft>
                          <a:spcPct val="0"/>
                        </a:spcAft>
                        <a:buClr>
                          <a:schemeClr val="tx1"/>
                        </a:buClr>
                        <a:buSzTx/>
                        <a:buFontTx/>
                        <a:buChar char="•"/>
                        <a:tabLst/>
                      </a:pPr>
                      <a:r>
                        <a:rPr kumimoji="0" lang="en-US" sz="1000" b="0" i="0" u="none" strike="noStrike" cap="none" normalizeH="0" baseline="0" dirty="0">
                          <a:ln>
                            <a:noFill/>
                          </a:ln>
                          <a:solidFill>
                            <a:schemeClr val="tx1"/>
                          </a:solidFill>
                          <a:effectLst/>
                          <a:latin typeface="Arial" charset="0"/>
                        </a:rPr>
                        <a:t>PRA Evaluation</a:t>
                      </a:r>
                    </a:p>
                    <a:p>
                      <a:pPr marL="63500" marR="0" lvl="0" indent="-63500" algn="l" defTabSz="947738" rtl="0" eaLnBrk="1" fontAlgn="base" latinLnBrk="0" hangingPunct="1">
                        <a:lnSpc>
                          <a:spcPct val="75000"/>
                        </a:lnSpc>
                        <a:spcBef>
                          <a:spcPct val="30000"/>
                        </a:spcBef>
                        <a:spcAft>
                          <a:spcPct val="0"/>
                        </a:spcAft>
                        <a:buClr>
                          <a:schemeClr val="tx1"/>
                        </a:buClr>
                        <a:buSzTx/>
                        <a:buFontTx/>
                        <a:buChar char="•"/>
                        <a:tabLst/>
                      </a:pPr>
                      <a:r>
                        <a:rPr kumimoji="0" lang="en-US" sz="1000" b="0" i="0" u="none" strike="noStrike" cap="none" normalizeH="0" baseline="0" dirty="0">
                          <a:ln>
                            <a:noFill/>
                          </a:ln>
                          <a:solidFill>
                            <a:schemeClr val="tx1"/>
                          </a:solidFill>
                          <a:effectLst/>
                          <a:latin typeface="Arial" charset="0"/>
                        </a:rPr>
                        <a:t>Financials according AR</a:t>
                      </a:r>
                    </a:p>
                    <a:p>
                      <a:pPr marL="63500" marR="0" lvl="0" indent="-63500" algn="l" defTabSz="947738" rtl="0" eaLnBrk="1" fontAlgn="base" latinLnBrk="0" hangingPunct="1">
                        <a:lnSpc>
                          <a:spcPct val="75000"/>
                        </a:lnSpc>
                        <a:spcBef>
                          <a:spcPct val="30000"/>
                        </a:spcBef>
                        <a:spcAft>
                          <a:spcPct val="0"/>
                        </a:spcAft>
                        <a:buClr>
                          <a:schemeClr val="tx1"/>
                        </a:buClr>
                        <a:buSzTx/>
                        <a:buFontTx/>
                        <a:buChar char="•"/>
                        <a:tabLst/>
                      </a:pPr>
                      <a:r>
                        <a:rPr kumimoji="0" lang="en-US" sz="1000" b="0" i="0" u="none" strike="noStrike" cap="none" normalizeH="0" baseline="0" dirty="0">
                          <a:ln>
                            <a:noFill/>
                          </a:ln>
                          <a:solidFill>
                            <a:schemeClr val="tx1"/>
                          </a:solidFill>
                          <a:effectLst/>
                          <a:latin typeface="Arial" charset="0"/>
                        </a:rPr>
                        <a:t>E&amp;O according to forecast</a:t>
                      </a:r>
                    </a:p>
                    <a:p>
                      <a:pPr marL="63500" marR="0" lvl="0" indent="-63500" algn="l" defTabSz="947738" rtl="0" eaLnBrk="1" fontAlgn="base" latinLnBrk="0" hangingPunct="1">
                        <a:lnSpc>
                          <a:spcPct val="75000"/>
                        </a:lnSpc>
                        <a:spcBef>
                          <a:spcPct val="30000"/>
                        </a:spcBef>
                        <a:spcAft>
                          <a:spcPct val="0"/>
                        </a:spcAft>
                        <a:buClr>
                          <a:schemeClr val="tx1"/>
                        </a:buClr>
                        <a:buSzTx/>
                        <a:buFontTx/>
                        <a:buChar char="•"/>
                        <a:tabLst/>
                      </a:pPr>
                      <a:r>
                        <a:rPr kumimoji="0" lang="en-US" sz="1000" b="0" i="0" u="none" strike="noStrike" cap="none" normalizeH="0" baseline="0" dirty="0">
                          <a:ln>
                            <a:noFill/>
                          </a:ln>
                          <a:solidFill>
                            <a:schemeClr val="tx1"/>
                          </a:solidFill>
                          <a:effectLst/>
                          <a:latin typeface="Arial" charset="0"/>
                        </a:rPr>
                        <a:t>Order to Cash Process implemented</a:t>
                      </a:r>
                    </a:p>
                    <a:p>
                      <a:pPr marL="63500" marR="0" lvl="0" indent="-63500" algn="l" defTabSz="947738" rtl="0" eaLnBrk="1" fontAlgn="base" latinLnBrk="0" hangingPunct="1">
                        <a:lnSpc>
                          <a:spcPct val="75000"/>
                        </a:lnSpc>
                        <a:spcBef>
                          <a:spcPct val="30000"/>
                        </a:spcBef>
                        <a:spcAft>
                          <a:spcPct val="0"/>
                        </a:spcAft>
                        <a:buClr>
                          <a:schemeClr val="tx1"/>
                        </a:buClr>
                        <a:buSzTx/>
                        <a:buFontTx/>
                        <a:buChar char="•"/>
                        <a:tabLst/>
                      </a:pPr>
                      <a:r>
                        <a:rPr kumimoji="0" lang="en-US" sz="1000" b="0" i="0" u="none" strike="noStrike" cap="none" normalizeH="0" baseline="0" dirty="0">
                          <a:ln>
                            <a:noFill/>
                          </a:ln>
                          <a:solidFill>
                            <a:schemeClr val="tx1"/>
                          </a:solidFill>
                          <a:effectLst/>
                          <a:latin typeface="Arial" charset="0"/>
                        </a:rPr>
                        <a:t>Inexistent Premium Freight</a:t>
                      </a:r>
                    </a:p>
                  </a:txBody>
                  <a:tcPr marL="79960" marR="79960" marT="39209" marB="392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9" name="Group 700"/>
          <p:cNvGraphicFramePr>
            <a:graphicFrameLocks noGrp="1"/>
          </p:cNvGraphicFramePr>
          <p:nvPr>
            <p:extLst>
              <p:ext uri="{D42A27DB-BD31-4B8C-83A1-F6EECF244321}">
                <p14:modId xmlns:p14="http://schemas.microsoft.com/office/powerpoint/2010/main" val="3893187769"/>
              </p:ext>
            </p:extLst>
          </p:nvPr>
        </p:nvGraphicFramePr>
        <p:xfrm>
          <a:off x="5105400" y="469321"/>
          <a:ext cx="3831390" cy="903708"/>
        </p:xfrm>
        <a:graphic>
          <a:graphicData uri="http://schemas.openxmlformats.org/drawingml/2006/table">
            <a:tbl>
              <a:tblPr/>
              <a:tblGrid>
                <a:gridCol w="1685554">
                  <a:extLst>
                    <a:ext uri="{9D8B030D-6E8A-4147-A177-3AD203B41FA5}">
                      <a16:colId xmlns:a16="http://schemas.microsoft.com/office/drawing/2014/main" val="20000"/>
                    </a:ext>
                  </a:extLst>
                </a:gridCol>
                <a:gridCol w="2145836">
                  <a:extLst>
                    <a:ext uri="{9D8B030D-6E8A-4147-A177-3AD203B41FA5}">
                      <a16:colId xmlns:a16="http://schemas.microsoft.com/office/drawing/2014/main" val="20001"/>
                    </a:ext>
                  </a:extLst>
                </a:gridCol>
              </a:tblGrid>
              <a:tr h="152400">
                <a:tc gridSpan="2">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1" i="0" u="sng" strike="noStrike" cap="none" normalizeH="0" baseline="0" dirty="0">
                          <a:ln>
                            <a:noFill/>
                          </a:ln>
                          <a:solidFill>
                            <a:srgbClr val="F84018"/>
                          </a:solidFill>
                          <a:effectLst/>
                          <a:latin typeface="Arial" charset="0"/>
                        </a:rPr>
                        <a:t>WHO</a:t>
                      </a:r>
                      <a:r>
                        <a:rPr kumimoji="0" lang="en-US" sz="1000" b="0" i="0" u="none" strike="noStrike" cap="none" normalizeH="0" baseline="0" dirty="0">
                          <a:ln>
                            <a:noFill/>
                          </a:ln>
                          <a:solidFill>
                            <a:schemeClr val="tx1">
                              <a:lumMod val="95000"/>
                              <a:lumOff val="5000"/>
                            </a:schemeClr>
                          </a:solidFill>
                          <a:effectLst/>
                          <a:latin typeface="Arial" charset="0"/>
                        </a:rPr>
                        <a:t> </a:t>
                      </a:r>
                      <a:r>
                        <a:rPr kumimoji="0" lang="en-US" sz="1000" b="0" i="0" u="none" strike="noStrike" cap="none" normalizeH="0" baseline="0" dirty="0">
                          <a:ln>
                            <a:noFill/>
                          </a:ln>
                          <a:solidFill>
                            <a:schemeClr val="tx1"/>
                          </a:solidFill>
                          <a:effectLst/>
                          <a:latin typeface="Arial" charset="0"/>
                        </a:rPr>
                        <a:t>owns this procedure and who participates in the process?</a:t>
                      </a: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7D1CF">
                        <a:alpha val="25098"/>
                      </a:srgbClr>
                    </a:solidFill>
                  </a:tcPr>
                </a:tc>
                <a:tc hMerge="1">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dirty="0">
                        <a:ln>
                          <a:noFill/>
                        </a:ln>
                        <a:solidFill>
                          <a:schemeClr val="tx1"/>
                        </a:solidFill>
                        <a:effectLst/>
                        <a:latin typeface="Arial" charset="0"/>
                      </a:endParaRPr>
                    </a:p>
                  </a:txBody>
                  <a:tcPr marL="79960" marR="79960" marT="39240" marB="392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1F4FF"/>
                    </a:solidFill>
                  </a:tcPr>
                </a:tc>
                <a:extLst>
                  <a:ext uri="{0D108BD9-81ED-4DB2-BD59-A6C34878D82A}">
                    <a16:rowId xmlns:a16="http://schemas.microsoft.com/office/drawing/2014/main" val="10000"/>
                  </a:ext>
                </a:extLst>
              </a:tr>
              <a:tr h="215096">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algn="r"/>
                      <a:r>
                        <a:rPr lang="en-US" sz="1000" b="1" u="none" kern="1200" dirty="0">
                          <a:solidFill>
                            <a:schemeClr val="tx1"/>
                          </a:solidFill>
                          <a:effectLst/>
                          <a:latin typeface="Arial" panose="020B0604020202020204" pitchFamily="34" charset="0"/>
                          <a:ea typeface="+mn-ea"/>
                          <a:cs typeface="Arial" panose="020B0604020202020204" pitchFamily="34" charset="0"/>
                        </a:rPr>
                        <a:t>Owner: </a:t>
                      </a:r>
                      <a:endParaRPr lang="en-US" sz="1000" b="0" u="none" kern="1200" dirty="0">
                        <a:solidFill>
                          <a:schemeClr val="tx1"/>
                        </a:solidFill>
                        <a:effectLst/>
                        <a:latin typeface="Arial" panose="020B0604020202020204" pitchFamily="34" charset="0"/>
                        <a:ea typeface="+mn-ea"/>
                        <a:cs typeface="Arial" panose="020B0604020202020204" pitchFamily="34" charset="0"/>
                      </a:endParaRP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58738" marR="0" lvl="0" indent="-58738" algn="l" defTabSz="947738" rtl="0" eaLnBrk="1" fontAlgn="base" latinLnBrk="0" hangingPunct="1">
                        <a:lnSpc>
                          <a:spcPct val="87000"/>
                        </a:lnSpc>
                        <a:spcBef>
                          <a:spcPct val="25000"/>
                        </a:spcBef>
                        <a:spcAft>
                          <a:spcPct val="0"/>
                        </a:spcAft>
                        <a:buClr>
                          <a:schemeClr val="tx1"/>
                        </a:buClr>
                        <a:buSzTx/>
                        <a:buFontTx/>
                        <a:buChar char="•"/>
                        <a:tabLst/>
                      </a:pPr>
                      <a:r>
                        <a:rPr kumimoji="0" lang="pt-PT" sz="1000" b="0" i="0" u="none" strike="noStrike" cap="none" normalizeH="0" baseline="0" dirty="0">
                          <a:ln>
                            <a:noFill/>
                          </a:ln>
                          <a:solidFill>
                            <a:srgbClr val="FF0000"/>
                          </a:solidFill>
                          <a:effectLst/>
                          <a:latin typeface="Arial" charset="0"/>
                        </a:rPr>
                        <a:t>   </a:t>
                      </a:r>
                      <a:r>
                        <a:rPr kumimoji="0" lang="pt-PT" sz="1000" b="0" i="0" u="none" strike="noStrike" cap="none" normalizeH="0" baseline="0" dirty="0">
                          <a:ln>
                            <a:noFill/>
                          </a:ln>
                          <a:solidFill>
                            <a:schemeClr val="tx1"/>
                          </a:solidFill>
                          <a:effectLst/>
                          <a:latin typeface="Arial" charset="0"/>
                        </a:rPr>
                        <a:t>MG –Operational Management  </a:t>
                      </a: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15096">
                <a:tc>
                  <a:txBody>
                    <a:bodyPr/>
                    <a:lstStyle/>
                    <a:p>
                      <a:pPr algn="r"/>
                      <a:r>
                        <a:rPr lang="en-US" sz="1000" b="1" u="none" kern="1200" dirty="0">
                          <a:solidFill>
                            <a:schemeClr val="tx1"/>
                          </a:solidFill>
                          <a:effectLst/>
                          <a:latin typeface="Arial" panose="020B0604020202020204" pitchFamily="34" charset="0"/>
                          <a:ea typeface="+mn-ea"/>
                          <a:cs typeface="Arial" panose="020B0604020202020204" pitchFamily="34" charset="0"/>
                        </a:rPr>
                        <a:t>Swim Lanes:</a:t>
                      </a: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171450" indent="-171450" algn="l">
                        <a:buFont typeface="Arial" panose="020B0604020202020204" pitchFamily="34" charset="0"/>
                        <a:buChar char="•"/>
                      </a:pPr>
                      <a:r>
                        <a:rPr lang="en-US" sz="1000" b="0" u="none" kern="1200" dirty="0">
                          <a:solidFill>
                            <a:schemeClr val="tx1"/>
                          </a:solidFill>
                          <a:effectLst/>
                          <a:latin typeface="Arial" panose="020B0604020202020204" pitchFamily="34" charset="0"/>
                          <a:ea typeface="+mn-ea"/>
                          <a:cs typeface="Arial" panose="020B0604020202020204" pitchFamily="34" charset="0"/>
                        </a:rPr>
                        <a:t>PM, ME, PE, CS, PC, MG , SE</a:t>
                      </a: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15096">
                <a:tc>
                  <a:txBody>
                    <a:bodyPr/>
                    <a:lstStyle/>
                    <a:p>
                      <a:pPr algn="r"/>
                      <a:r>
                        <a:rPr lang="en-US" sz="1000" b="1" u="none" kern="1200" dirty="0">
                          <a:solidFill>
                            <a:schemeClr val="tx1"/>
                          </a:solidFill>
                          <a:effectLst/>
                          <a:latin typeface="Arial" panose="020B0604020202020204" pitchFamily="34" charset="0"/>
                          <a:ea typeface="+mn-ea"/>
                          <a:cs typeface="Arial" panose="020B0604020202020204" pitchFamily="34" charset="0"/>
                        </a:rPr>
                        <a:t>CORP, Segment,</a:t>
                      </a:r>
                      <a:r>
                        <a:rPr lang="en-US" sz="1000" b="1" u="none" kern="1200" baseline="0" dirty="0">
                          <a:solidFill>
                            <a:schemeClr val="tx1"/>
                          </a:solidFill>
                          <a:effectLst/>
                          <a:latin typeface="Arial" panose="020B0604020202020204" pitchFamily="34" charset="0"/>
                          <a:ea typeface="+mn-ea"/>
                          <a:cs typeface="Arial" panose="020B0604020202020204" pitchFamily="34" charset="0"/>
                        </a:rPr>
                        <a:t> or </a:t>
                      </a:r>
                      <a:r>
                        <a:rPr lang="en-US" sz="1000" b="1" u="none" kern="1200" dirty="0">
                          <a:solidFill>
                            <a:schemeClr val="tx1"/>
                          </a:solidFill>
                          <a:effectLst/>
                          <a:latin typeface="Arial" panose="020B0604020202020204" pitchFamily="34" charset="0"/>
                          <a:ea typeface="+mn-ea"/>
                          <a:cs typeface="Arial" panose="020B0604020202020204" pitchFamily="34" charset="0"/>
                        </a:rPr>
                        <a:t>BU:</a:t>
                      </a: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171450" indent="-171450" algn="l">
                        <a:buFont typeface="Arial" panose="020B0604020202020204" pitchFamily="34" charset="0"/>
                        <a:buChar char="•"/>
                      </a:pPr>
                      <a:r>
                        <a:rPr lang="en-US" sz="1000" b="0" u="none" kern="1200" dirty="0">
                          <a:solidFill>
                            <a:schemeClr val="tx1"/>
                          </a:solidFill>
                          <a:effectLst/>
                          <a:latin typeface="Arial" panose="020B0604020202020204" pitchFamily="34" charset="0"/>
                          <a:ea typeface="+mn-ea"/>
                          <a:cs typeface="Arial" panose="020B0604020202020204" pitchFamily="34" charset="0"/>
                        </a:rPr>
                        <a:t>EDS</a:t>
                      </a: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10" name="Group 699"/>
          <p:cNvGraphicFramePr>
            <a:graphicFrameLocks noGrp="1"/>
          </p:cNvGraphicFramePr>
          <p:nvPr>
            <p:extLst>
              <p:ext uri="{D42A27DB-BD31-4B8C-83A1-F6EECF244321}">
                <p14:modId xmlns:p14="http://schemas.microsoft.com/office/powerpoint/2010/main" val="2725046236"/>
              </p:ext>
            </p:extLst>
          </p:nvPr>
        </p:nvGraphicFramePr>
        <p:xfrm>
          <a:off x="247690" y="481206"/>
          <a:ext cx="3504399" cy="1199591"/>
        </p:xfrm>
        <a:graphic>
          <a:graphicData uri="http://schemas.openxmlformats.org/drawingml/2006/table">
            <a:tbl>
              <a:tblPr/>
              <a:tblGrid>
                <a:gridCol w="3504399">
                  <a:extLst>
                    <a:ext uri="{9D8B030D-6E8A-4147-A177-3AD203B41FA5}">
                      <a16:colId xmlns:a16="http://schemas.microsoft.com/office/drawing/2014/main" val="20000"/>
                    </a:ext>
                  </a:extLst>
                </a:gridCol>
              </a:tblGrid>
              <a:tr h="261409">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1" i="0" u="sng" strike="noStrike" cap="none" normalizeH="0" baseline="0" dirty="0">
                          <a:ln>
                            <a:noFill/>
                          </a:ln>
                          <a:solidFill>
                            <a:srgbClr val="F84018"/>
                          </a:solidFill>
                          <a:effectLst/>
                          <a:latin typeface="Arial" charset="0"/>
                        </a:rPr>
                        <a:t>WHAT</a:t>
                      </a:r>
                      <a:r>
                        <a:rPr kumimoji="0" lang="en-US" sz="1000" b="1" i="0" u="none" strike="noStrike" cap="none" normalizeH="0" baseline="0" dirty="0">
                          <a:ln>
                            <a:noFill/>
                          </a:ln>
                          <a:solidFill>
                            <a:schemeClr val="tx1"/>
                          </a:solidFill>
                          <a:effectLst/>
                          <a:latin typeface="Arial" charset="0"/>
                        </a:rPr>
                        <a:t> </a:t>
                      </a:r>
                      <a:r>
                        <a:rPr kumimoji="0" lang="en-US" sz="1000" b="0" i="0" u="none" strike="noStrike" cap="none" normalizeH="0" baseline="0" dirty="0">
                          <a:ln>
                            <a:noFill/>
                          </a:ln>
                          <a:solidFill>
                            <a:schemeClr val="tx1"/>
                          </a:solidFill>
                          <a:effectLst/>
                          <a:latin typeface="Arial" charset="0"/>
                        </a:rPr>
                        <a:t>Materials, equipment, infrastructure, references/resources are used in the process?</a:t>
                      </a:r>
                    </a:p>
                  </a:txBody>
                  <a:tcPr marL="79960" marR="79960" marT="39225" marB="392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7D1CF">
                        <a:alpha val="25098"/>
                      </a:srgbClr>
                    </a:solidFill>
                  </a:tcPr>
                </a:tc>
                <a:extLst>
                  <a:ext uri="{0D108BD9-81ED-4DB2-BD59-A6C34878D82A}">
                    <a16:rowId xmlns:a16="http://schemas.microsoft.com/office/drawing/2014/main" val="10000"/>
                  </a:ext>
                </a:extLst>
              </a:tr>
              <a:tr h="855965">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20000"/>
                        </a:spcBef>
                        <a:spcAft>
                          <a:spcPct val="0"/>
                        </a:spcAft>
                        <a:buClr>
                          <a:schemeClr val="tx1"/>
                        </a:buClr>
                        <a:buSzTx/>
                        <a:buFontTx/>
                        <a:buNone/>
                        <a:tabLst/>
                      </a:pPr>
                      <a:r>
                        <a:rPr kumimoji="0" lang="en-US" sz="1000" b="0" i="0" u="none" strike="noStrike" cap="none" normalizeH="0" baseline="0" dirty="0">
                          <a:ln>
                            <a:noFill/>
                          </a:ln>
                          <a:solidFill>
                            <a:schemeClr val="tx1"/>
                          </a:solidFill>
                          <a:effectLst/>
                          <a:latin typeface="Arial" charset="0"/>
                          <a:hlinkClick r:id="rId3"/>
                        </a:rPr>
                        <a:t>  Aptiv Glossary</a:t>
                      </a:r>
                      <a:endParaRPr kumimoji="0" lang="en-US" sz="1000" b="0" i="0" u="none" strike="noStrike" cap="none" normalizeH="0" baseline="0" dirty="0">
                        <a:ln>
                          <a:noFill/>
                        </a:ln>
                        <a:solidFill>
                          <a:schemeClr val="tx1"/>
                        </a:solidFill>
                        <a:effectLst/>
                        <a:latin typeface="Arial" charset="0"/>
                      </a:endParaRPr>
                    </a:p>
                    <a:p>
                      <a:pPr marL="63500" marR="0" lvl="0" indent="-63500" algn="l" defTabSz="947738" rtl="0" eaLnBrk="1" fontAlgn="base" latinLnBrk="0" hangingPunct="1">
                        <a:lnSpc>
                          <a:spcPct val="87000"/>
                        </a:lnSpc>
                        <a:spcBef>
                          <a:spcPct val="20000"/>
                        </a:spcBef>
                        <a:spcAft>
                          <a:spcPct val="0"/>
                        </a:spcAft>
                        <a:buClr>
                          <a:schemeClr val="tx1"/>
                        </a:buClr>
                        <a:buSzTx/>
                        <a:buFontTx/>
                        <a:buChar char="•"/>
                        <a:tabLst/>
                      </a:pPr>
                      <a:r>
                        <a:rPr kumimoji="0" lang="en-US" sz="1000" b="0" i="0" u="none" strike="noStrike" cap="none" normalizeH="0" baseline="0" dirty="0">
                          <a:ln>
                            <a:noFill/>
                          </a:ln>
                          <a:solidFill>
                            <a:schemeClr val="tx1"/>
                          </a:solidFill>
                          <a:effectLst/>
                          <a:latin typeface="Arial" charset="0"/>
                          <a:hlinkClick r:id="rId4"/>
                        </a:rPr>
                        <a:t>EAGP-2.6.CB1-BU-02 </a:t>
                      </a:r>
                      <a:r>
                        <a:rPr kumimoji="0" lang="en-US" sz="1000" b="0" i="0" u="none" strike="noStrike" cap="none" normalizeH="0" baseline="0" dirty="0">
                          <a:ln>
                            <a:noFill/>
                          </a:ln>
                          <a:solidFill>
                            <a:schemeClr val="tx1"/>
                          </a:solidFill>
                          <a:effectLst/>
                          <a:latin typeface="Arial" charset="0"/>
                        </a:rPr>
                        <a:t>Business Transfer Decision</a:t>
                      </a:r>
                    </a:p>
                    <a:p>
                      <a:pPr marL="63500" marR="0" lvl="0" indent="-63500" algn="l" defTabSz="947738" rtl="0" eaLnBrk="1" fontAlgn="base" latinLnBrk="0" hangingPunct="1">
                        <a:lnSpc>
                          <a:spcPct val="87000"/>
                        </a:lnSpc>
                        <a:spcBef>
                          <a:spcPct val="20000"/>
                        </a:spcBef>
                        <a:spcAft>
                          <a:spcPct val="0"/>
                        </a:spcAft>
                        <a:buClr>
                          <a:schemeClr val="tx1"/>
                        </a:buClr>
                        <a:buSzTx/>
                        <a:buFontTx/>
                        <a:buChar char="•"/>
                        <a:tabLst/>
                      </a:pPr>
                      <a:r>
                        <a:rPr kumimoji="0" lang="en-US" sz="1000" b="0" i="0" u="none" strike="noStrike" cap="none" normalizeH="0" baseline="0" dirty="0">
                          <a:ln>
                            <a:noFill/>
                          </a:ln>
                          <a:solidFill>
                            <a:schemeClr val="tx1"/>
                          </a:solidFill>
                          <a:effectLst/>
                          <a:latin typeface="Arial" charset="0"/>
                          <a:hlinkClick r:id="rId5"/>
                        </a:rPr>
                        <a:t>EAGP-2.6.CB1-BU-02 F01 </a:t>
                      </a:r>
                      <a:r>
                        <a:rPr kumimoji="0" lang="en-US" sz="1000" b="0" i="0" u="none" strike="noStrike" cap="none" normalizeH="0" baseline="0" dirty="0">
                          <a:ln>
                            <a:noFill/>
                          </a:ln>
                          <a:solidFill>
                            <a:schemeClr val="tx1"/>
                          </a:solidFill>
                          <a:effectLst/>
                          <a:latin typeface="Arial" charset="0"/>
                        </a:rPr>
                        <a:t>Business Transfer Concept Checklist</a:t>
                      </a:r>
                    </a:p>
                    <a:p>
                      <a:pPr marL="63500" marR="0" lvl="0" indent="-63500" algn="l" defTabSz="947738" rtl="0" eaLnBrk="1" fontAlgn="base" latinLnBrk="0" hangingPunct="1">
                        <a:lnSpc>
                          <a:spcPct val="87000"/>
                        </a:lnSpc>
                        <a:spcBef>
                          <a:spcPct val="20000"/>
                        </a:spcBef>
                        <a:spcAft>
                          <a:spcPct val="0"/>
                        </a:spcAft>
                        <a:buClr>
                          <a:schemeClr val="tx1"/>
                        </a:buClr>
                        <a:buSzTx/>
                        <a:buFontTx/>
                        <a:buChar char="•"/>
                        <a:tabLst/>
                      </a:pPr>
                      <a:r>
                        <a:rPr kumimoji="0" lang="de-DE" sz="1000" b="0" i="0" u="none" strike="noStrike" cap="none" normalizeH="0" baseline="0" dirty="0">
                          <a:ln>
                            <a:noFill/>
                          </a:ln>
                          <a:solidFill>
                            <a:schemeClr val="tx2"/>
                          </a:solidFill>
                          <a:effectLst/>
                          <a:latin typeface="Arial" charset="0"/>
                          <a:hlinkClick r:id="rId6"/>
                        </a:rPr>
                        <a:t>EAGP-4.4-CS-01</a:t>
                      </a:r>
                      <a:r>
                        <a:rPr kumimoji="0" lang="de-DE" sz="1000" b="0" i="0" u="none" strike="noStrike" cap="none" normalizeH="0" baseline="0" dirty="0">
                          <a:ln>
                            <a:noFill/>
                          </a:ln>
                          <a:solidFill>
                            <a:schemeClr val="tx2"/>
                          </a:solidFill>
                          <a:effectLst/>
                          <a:latin typeface="Arial" charset="0"/>
                        </a:rPr>
                        <a:t> </a:t>
                      </a:r>
                      <a:r>
                        <a:rPr kumimoji="0" lang="de-DE" sz="1000" b="0" i="0" u="none" strike="noStrike" cap="none" normalizeH="0" baseline="0" dirty="0" err="1">
                          <a:ln>
                            <a:noFill/>
                          </a:ln>
                          <a:solidFill>
                            <a:schemeClr val="tx1"/>
                          </a:solidFill>
                          <a:effectLst/>
                          <a:latin typeface="Arial" charset="0"/>
                        </a:rPr>
                        <a:t>Production</a:t>
                      </a:r>
                      <a:r>
                        <a:rPr kumimoji="0" lang="de-DE" sz="1000" b="0" i="0" u="none" strike="noStrike" cap="none" normalizeH="0" baseline="0" dirty="0">
                          <a:ln>
                            <a:noFill/>
                          </a:ln>
                          <a:solidFill>
                            <a:schemeClr val="tx1"/>
                          </a:solidFill>
                          <a:effectLst/>
                          <a:latin typeface="Arial" charset="0"/>
                        </a:rPr>
                        <a:t> </a:t>
                      </a:r>
                      <a:r>
                        <a:rPr kumimoji="0" lang="de-DE" sz="1000" b="0" i="0" u="none" strike="noStrike" cap="none" normalizeH="0" baseline="0" dirty="0" err="1">
                          <a:ln>
                            <a:noFill/>
                          </a:ln>
                          <a:solidFill>
                            <a:schemeClr val="tx1"/>
                          </a:solidFill>
                          <a:effectLst/>
                          <a:latin typeface="Arial" charset="0"/>
                        </a:rPr>
                        <a:t>Readiness</a:t>
                      </a:r>
                      <a:r>
                        <a:rPr kumimoji="0" lang="de-DE" sz="1000" b="0" i="0" u="none" strike="noStrike" cap="none" normalizeH="0" baseline="0" dirty="0">
                          <a:ln>
                            <a:noFill/>
                          </a:ln>
                          <a:solidFill>
                            <a:schemeClr val="tx1"/>
                          </a:solidFill>
                          <a:effectLst/>
                          <a:latin typeface="Arial" charset="0"/>
                        </a:rPr>
                        <a:t> Assessment</a:t>
                      </a:r>
                      <a:endParaRPr kumimoji="0" lang="en-US" sz="1000" b="0" i="0" u="none" strike="noStrike" cap="none" normalizeH="0" baseline="0" dirty="0">
                        <a:ln>
                          <a:noFill/>
                        </a:ln>
                        <a:solidFill>
                          <a:schemeClr val="tx1"/>
                        </a:solidFill>
                        <a:effectLst/>
                        <a:latin typeface="Arial" charset="0"/>
                      </a:endParaRPr>
                    </a:p>
                  </a:txBody>
                  <a:tcPr marL="79960" marR="79960" marT="39225" marB="392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12" name="Hexagon 11"/>
          <p:cNvSpPr/>
          <p:nvPr/>
        </p:nvSpPr>
        <p:spPr bwMode="auto">
          <a:xfrm>
            <a:off x="2628479" y="2442268"/>
            <a:ext cx="4065981" cy="1687381"/>
          </a:xfrm>
          <a:prstGeom prst="hexagon">
            <a:avLst/>
          </a:prstGeom>
          <a:solidFill>
            <a:srgbClr val="FFFFFF"/>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88" tIns="45695" rIns="91388" bIns="45695" numCol="1" rtlCol="0" anchor="ctr" anchorCtr="0" compatLnSpc="1">
            <a:prstTxWarp prst="textNoShape">
              <a:avLst/>
            </a:prstTxWarp>
          </a:bodyPr>
          <a:lstStyle/>
          <a:p>
            <a:pPr algn="ctr" eaLnBrk="0" fontAlgn="base" hangingPunct="0">
              <a:spcBef>
                <a:spcPct val="0"/>
              </a:spcBef>
              <a:spcAft>
                <a:spcPct val="0"/>
              </a:spcAft>
              <a:defRPr/>
            </a:pPr>
            <a:r>
              <a:rPr lang="en-US" sz="1000" b="1" u="sng" kern="0" dirty="0">
                <a:solidFill>
                  <a:srgbClr val="F84018"/>
                </a:solidFill>
                <a:latin typeface="Arial"/>
              </a:rPr>
              <a:t>OBJECTIVE</a:t>
            </a:r>
          </a:p>
          <a:p>
            <a:pPr algn="ctr" eaLnBrk="0" fontAlgn="base" hangingPunct="0">
              <a:spcBef>
                <a:spcPct val="0"/>
              </a:spcBef>
              <a:spcAft>
                <a:spcPct val="0"/>
              </a:spcAft>
              <a:defRPr/>
            </a:pPr>
            <a:r>
              <a:rPr kumimoji="0" lang="en-US" sz="1000" b="0" i="0" u="none" strike="noStrike" cap="none" normalizeH="0" baseline="0" dirty="0">
                <a:ln>
                  <a:noFill/>
                </a:ln>
                <a:solidFill>
                  <a:schemeClr val="tx1"/>
                </a:solidFill>
                <a:effectLst/>
                <a:latin typeface="Arial" charset="0"/>
              </a:rPr>
              <a:t>The objective of this procedure is to provide a consistent process for the execution of business transfers. </a:t>
            </a:r>
          </a:p>
          <a:p>
            <a:pPr algn="ctr" eaLnBrk="0" fontAlgn="base" hangingPunct="0">
              <a:spcBef>
                <a:spcPct val="0"/>
              </a:spcBef>
              <a:spcAft>
                <a:spcPct val="0"/>
              </a:spcAft>
              <a:defRPr/>
            </a:pPr>
            <a:r>
              <a:rPr lang="en-US" sz="1000" b="1" u="sng" kern="0" dirty="0">
                <a:solidFill>
                  <a:srgbClr val="F84018"/>
                </a:solidFill>
                <a:latin typeface="Arial"/>
              </a:rPr>
              <a:t>SCOPE</a:t>
            </a:r>
          </a:p>
          <a:p>
            <a:pPr algn="ctr" eaLnBrk="0" fontAlgn="base" hangingPunct="0">
              <a:spcBef>
                <a:spcPct val="0"/>
              </a:spcBef>
              <a:spcAft>
                <a:spcPct val="0"/>
              </a:spcAft>
              <a:defRPr/>
            </a:pPr>
            <a:r>
              <a:rPr kumimoji="0" lang="en-US" altLang="en-US" sz="1000" b="0" i="0" u="none" strike="noStrike" cap="none" normalizeH="0" baseline="0" dirty="0">
                <a:ln>
                  <a:noFill/>
                </a:ln>
                <a:solidFill>
                  <a:schemeClr val="tx1"/>
                </a:solidFill>
                <a:effectLst/>
                <a:latin typeface="Arial" panose="020B0604020202020204" pitchFamily="34" charset="0"/>
              </a:rPr>
              <a:t>This procedure applies to </a:t>
            </a:r>
            <a:r>
              <a:rPr lang="en-US" altLang="en-US" sz="1000" b="1" dirty="0">
                <a:latin typeface="Arial" charset="0"/>
              </a:rPr>
              <a:t>a</a:t>
            </a:r>
            <a:r>
              <a:rPr kumimoji="0" lang="en-US" sz="1000" b="1" i="0" u="none" strike="noStrike" cap="none" normalizeH="0" baseline="0" dirty="0">
                <a:ln>
                  <a:noFill/>
                </a:ln>
                <a:solidFill>
                  <a:schemeClr val="tx1"/>
                </a:solidFill>
                <a:effectLst/>
                <a:latin typeface="Arial" charset="0"/>
              </a:rPr>
              <a:t>ll business transfers within Aptiv SPS</a:t>
            </a:r>
            <a:endParaRPr lang="en-US" sz="1200" b="1" u="sng" kern="0" dirty="0">
              <a:solidFill>
                <a:srgbClr val="000000"/>
              </a:solidFill>
              <a:latin typeface="Arial"/>
            </a:endParaRPr>
          </a:p>
        </p:txBody>
      </p:sp>
      <p:cxnSp>
        <p:nvCxnSpPr>
          <p:cNvPr id="13" name="Straight Connector 12"/>
          <p:cNvCxnSpPr>
            <a:stCxn id="12" idx="5"/>
            <a:endCxn id="9" idx="2"/>
          </p:cNvCxnSpPr>
          <p:nvPr/>
        </p:nvCxnSpPr>
        <p:spPr bwMode="auto">
          <a:xfrm flipV="1">
            <a:off x="6272615" y="1373029"/>
            <a:ext cx="748480" cy="1069239"/>
          </a:xfrm>
          <a:prstGeom prst="line">
            <a:avLst/>
          </a:prstGeom>
          <a:solidFill>
            <a:srgbClr val="FFFFFF"/>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Connector 13"/>
          <p:cNvCxnSpPr>
            <a:cxnSpLocks/>
            <a:stCxn id="12" idx="1"/>
            <a:endCxn id="8" idx="0"/>
          </p:cNvCxnSpPr>
          <p:nvPr/>
        </p:nvCxnSpPr>
        <p:spPr bwMode="auto">
          <a:xfrm>
            <a:off x="6272615" y="4129649"/>
            <a:ext cx="748480" cy="1051951"/>
          </a:xfrm>
          <a:prstGeom prst="line">
            <a:avLst/>
          </a:prstGeom>
          <a:solidFill>
            <a:srgbClr val="FFFFFF"/>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Straight Connector 15"/>
          <p:cNvCxnSpPr>
            <a:cxnSpLocks/>
            <a:stCxn id="12" idx="4"/>
            <a:endCxn id="10" idx="2"/>
          </p:cNvCxnSpPr>
          <p:nvPr/>
        </p:nvCxnSpPr>
        <p:spPr bwMode="auto">
          <a:xfrm flipH="1" flipV="1">
            <a:off x="1999889" y="1680797"/>
            <a:ext cx="1050435" cy="761471"/>
          </a:xfrm>
          <a:prstGeom prst="line">
            <a:avLst/>
          </a:prstGeom>
          <a:solidFill>
            <a:srgbClr val="FFFFFF"/>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Straight Arrow Connector 18"/>
          <p:cNvCxnSpPr>
            <a:cxnSpLocks/>
            <a:stCxn id="12" idx="0"/>
            <a:endCxn id="21" idx="1"/>
          </p:cNvCxnSpPr>
          <p:nvPr/>
        </p:nvCxnSpPr>
        <p:spPr>
          <a:xfrm>
            <a:off x="6694460" y="3285959"/>
            <a:ext cx="216783" cy="8235"/>
          </a:xfrm>
          <a:prstGeom prst="straightConnector1">
            <a:avLst/>
          </a:prstGeom>
          <a:ln w="12700">
            <a:tailEnd type="arrow"/>
          </a:ln>
        </p:spPr>
        <p:style>
          <a:lnRef idx="1">
            <a:schemeClr val="dk1"/>
          </a:lnRef>
          <a:fillRef idx="0">
            <a:schemeClr val="dk1"/>
          </a:fillRef>
          <a:effectRef idx="0">
            <a:schemeClr val="dk1"/>
          </a:effectRef>
          <a:fontRef idx="minor">
            <a:schemeClr val="tx1"/>
          </a:fontRef>
        </p:style>
      </p:cxnSp>
      <p:graphicFrame>
        <p:nvGraphicFramePr>
          <p:cNvPr id="21" name="Group 706"/>
          <p:cNvGraphicFramePr>
            <a:graphicFrameLocks noGrp="1"/>
          </p:cNvGraphicFramePr>
          <p:nvPr>
            <p:extLst>
              <p:ext uri="{D42A27DB-BD31-4B8C-83A1-F6EECF244321}">
                <p14:modId xmlns:p14="http://schemas.microsoft.com/office/powerpoint/2010/main" val="3207658083"/>
              </p:ext>
            </p:extLst>
          </p:nvPr>
        </p:nvGraphicFramePr>
        <p:xfrm>
          <a:off x="6911243" y="2549788"/>
          <a:ext cx="2025547" cy="1488812"/>
        </p:xfrm>
        <a:graphic>
          <a:graphicData uri="http://schemas.openxmlformats.org/drawingml/2006/table">
            <a:tbl>
              <a:tblPr/>
              <a:tblGrid>
                <a:gridCol w="2025547">
                  <a:extLst>
                    <a:ext uri="{9D8B030D-6E8A-4147-A177-3AD203B41FA5}">
                      <a16:colId xmlns:a16="http://schemas.microsoft.com/office/drawing/2014/main" val="20000"/>
                    </a:ext>
                  </a:extLst>
                </a:gridCol>
              </a:tblGrid>
              <a:tr h="229565">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1" i="0" u="sng" strike="noStrike" cap="none" normalizeH="0" baseline="0" dirty="0">
                          <a:ln>
                            <a:noFill/>
                          </a:ln>
                          <a:solidFill>
                            <a:srgbClr val="F84018"/>
                          </a:solidFill>
                          <a:effectLst/>
                          <a:latin typeface="Arial" charset="0"/>
                        </a:rPr>
                        <a:t>OUTPUTS</a:t>
                      </a:r>
                      <a:r>
                        <a:rPr kumimoji="0" lang="en-US" sz="1000" b="0" i="0" u="none" strike="noStrike" cap="none" normalizeH="0" baseline="0" dirty="0">
                          <a:ln>
                            <a:noFill/>
                          </a:ln>
                          <a:solidFill>
                            <a:schemeClr val="tx1"/>
                          </a:solidFill>
                          <a:effectLst/>
                          <a:latin typeface="Arial" charset="0"/>
                        </a:rPr>
                        <a:t> – Process deliverables</a:t>
                      </a:r>
                    </a:p>
                  </a:txBody>
                  <a:tcPr marL="79960" marR="79960" marT="39209" marB="392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7D1CF">
                        <a:alpha val="25098"/>
                      </a:srgbClr>
                    </a:solidFill>
                  </a:tcPr>
                </a:tc>
                <a:extLst>
                  <a:ext uri="{0D108BD9-81ED-4DB2-BD59-A6C34878D82A}">
                    <a16:rowId xmlns:a16="http://schemas.microsoft.com/office/drawing/2014/main" val="10000"/>
                  </a:ext>
                </a:extLst>
              </a:tr>
              <a:tr h="674143">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63500" indent="-63500" defTabSz="981075" eaLnBrk="1" hangingPunct="1">
                        <a:lnSpc>
                          <a:spcPct val="75000"/>
                        </a:lnSpc>
                        <a:spcBef>
                          <a:spcPct val="50000"/>
                        </a:spcBef>
                        <a:buFontTx/>
                        <a:buChar char="•"/>
                      </a:pPr>
                      <a:r>
                        <a:rPr lang="en-US" sz="1000" i="0" dirty="0"/>
                        <a:t>SOP at receiving plant </a:t>
                      </a:r>
                    </a:p>
                    <a:p>
                      <a:pPr marL="63500" indent="-63500" defTabSz="981075" eaLnBrk="1" hangingPunct="1">
                        <a:lnSpc>
                          <a:spcPct val="75000"/>
                        </a:lnSpc>
                        <a:spcBef>
                          <a:spcPct val="50000"/>
                        </a:spcBef>
                        <a:buFontTx/>
                        <a:buChar char="•"/>
                      </a:pPr>
                      <a:r>
                        <a:rPr lang="en-US" sz="1000" i="0" dirty="0"/>
                        <a:t>Business Transfer Execution Checklist completed </a:t>
                      </a:r>
                    </a:p>
                    <a:p>
                      <a:pPr marL="63500" indent="-63500" defTabSz="981075" eaLnBrk="1" hangingPunct="1">
                        <a:lnSpc>
                          <a:spcPct val="75000"/>
                        </a:lnSpc>
                        <a:spcBef>
                          <a:spcPct val="50000"/>
                        </a:spcBef>
                        <a:buFontTx/>
                        <a:buChar char="•"/>
                      </a:pPr>
                      <a:r>
                        <a:rPr lang="en-US" sz="1000" i="0" dirty="0"/>
                        <a:t>Close Transfer Metrics </a:t>
                      </a:r>
                      <a:endParaRPr lang="pt-PT" sz="1000" i="0" dirty="0"/>
                    </a:p>
                    <a:p>
                      <a:pPr>
                        <a:buFont typeface="Arial" pitchFamily="34" charset="0"/>
                        <a:buChar char="•"/>
                      </a:pPr>
                      <a:r>
                        <a:rPr lang="en-US" sz="1000" b="1" dirty="0"/>
                        <a:t>PRA</a:t>
                      </a:r>
                      <a:r>
                        <a:rPr lang="en-US" sz="1000" dirty="0"/>
                        <a:t> report</a:t>
                      </a:r>
                    </a:p>
                    <a:p>
                      <a:pPr>
                        <a:buFont typeface="Arial" pitchFamily="34" charset="0"/>
                        <a:buChar char="•"/>
                      </a:pPr>
                      <a:r>
                        <a:rPr lang="en-US" sz="1000" dirty="0"/>
                        <a:t>Production Readiness statement (Passed/ not Passed)</a:t>
                      </a:r>
                      <a:r>
                        <a:rPr lang="en-US" sz="1000" i="0" dirty="0"/>
                        <a:t> </a:t>
                      </a:r>
                    </a:p>
                  </a:txBody>
                  <a:tcPr marL="79960" marR="79960" marT="39209" marB="392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24" name="Group 706"/>
          <p:cNvGraphicFramePr>
            <a:graphicFrameLocks noGrp="1"/>
          </p:cNvGraphicFramePr>
          <p:nvPr>
            <p:extLst>
              <p:ext uri="{D42A27DB-BD31-4B8C-83A1-F6EECF244321}">
                <p14:modId xmlns:p14="http://schemas.microsoft.com/office/powerpoint/2010/main" val="2437089134"/>
              </p:ext>
            </p:extLst>
          </p:nvPr>
        </p:nvGraphicFramePr>
        <p:xfrm>
          <a:off x="178274" y="2575283"/>
          <a:ext cx="2153830" cy="1463317"/>
        </p:xfrm>
        <a:graphic>
          <a:graphicData uri="http://schemas.openxmlformats.org/drawingml/2006/table">
            <a:tbl>
              <a:tblPr/>
              <a:tblGrid>
                <a:gridCol w="2153830">
                  <a:extLst>
                    <a:ext uri="{9D8B030D-6E8A-4147-A177-3AD203B41FA5}">
                      <a16:colId xmlns:a16="http://schemas.microsoft.com/office/drawing/2014/main" val="20000"/>
                    </a:ext>
                  </a:extLst>
                </a:gridCol>
              </a:tblGrid>
              <a:tr h="130405">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sng" strike="noStrike" cap="none" normalizeH="0" baseline="0" dirty="0">
                          <a:ln>
                            <a:noFill/>
                          </a:ln>
                          <a:solidFill>
                            <a:srgbClr val="F84018"/>
                          </a:solidFill>
                          <a:effectLst/>
                          <a:latin typeface="Arial" charset="0"/>
                        </a:rPr>
                        <a:t>INPUTS</a:t>
                      </a:r>
                      <a:r>
                        <a:rPr kumimoji="0" lang="en-US" sz="900" b="1" i="0" u="sng" strike="noStrike" cap="none" normalizeH="0" baseline="0" dirty="0">
                          <a:ln>
                            <a:noFill/>
                          </a:ln>
                          <a:solidFill>
                            <a:srgbClr val="0000CC"/>
                          </a:solidFill>
                          <a:effectLst/>
                          <a:latin typeface="Arial" charset="0"/>
                        </a:rPr>
                        <a:t> </a:t>
                      </a:r>
                      <a:r>
                        <a:rPr kumimoji="0" lang="en-US" sz="900" b="0" i="0" u="none" strike="noStrike" cap="none" normalizeH="0" baseline="0" dirty="0">
                          <a:ln>
                            <a:noFill/>
                          </a:ln>
                          <a:solidFill>
                            <a:schemeClr val="tx1"/>
                          </a:solidFill>
                          <a:effectLst/>
                          <a:latin typeface="Arial" charset="0"/>
                        </a:rPr>
                        <a:t>- Triggers process to start</a:t>
                      </a:r>
                    </a:p>
                  </a:txBody>
                  <a:tcPr marL="79960" marR="79960" marT="35645" marB="3564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7D1CF">
                        <a:alpha val="25098"/>
                      </a:srgbClr>
                    </a:solidFill>
                  </a:tcPr>
                </a:tc>
                <a:extLst>
                  <a:ext uri="{0D108BD9-81ED-4DB2-BD59-A6C34878D82A}">
                    <a16:rowId xmlns:a16="http://schemas.microsoft.com/office/drawing/2014/main" val="10000"/>
                  </a:ext>
                </a:extLst>
              </a:tr>
              <a:tr h="521505">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63500" indent="-63500" defTabSz="981075" eaLnBrk="1" hangingPunct="1">
                        <a:lnSpc>
                          <a:spcPct val="87000"/>
                        </a:lnSpc>
                        <a:spcBef>
                          <a:spcPct val="30000"/>
                        </a:spcBef>
                        <a:buFontTx/>
                        <a:buChar char="•"/>
                      </a:pPr>
                      <a:r>
                        <a:rPr lang="en-US" sz="900" i="0" dirty="0"/>
                        <a:t>Management approval </a:t>
                      </a:r>
                    </a:p>
                    <a:p>
                      <a:pPr marL="63500" indent="-63500" defTabSz="981075" eaLnBrk="1" hangingPunct="1">
                        <a:lnSpc>
                          <a:spcPct val="87000"/>
                        </a:lnSpc>
                        <a:spcBef>
                          <a:spcPct val="30000"/>
                        </a:spcBef>
                        <a:buFontTx/>
                        <a:buChar char="•"/>
                      </a:pPr>
                      <a:r>
                        <a:rPr lang="en-US" sz="900" i="0" dirty="0"/>
                        <a:t>Customer approval </a:t>
                      </a:r>
                    </a:p>
                    <a:p>
                      <a:pPr marL="63500" indent="-63500" defTabSz="981075" eaLnBrk="1" hangingPunct="1">
                        <a:lnSpc>
                          <a:spcPct val="87000"/>
                        </a:lnSpc>
                        <a:spcBef>
                          <a:spcPct val="30000"/>
                        </a:spcBef>
                        <a:buFontTx/>
                        <a:buChar char="•"/>
                      </a:pPr>
                      <a:r>
                        <a:rPr lang="en-US" sz="900" i="0" dirty="0"/>
                        <a:t>Business case </a:t>
                      </a:r>
                    </a:p>
                    <a:p>
                      <a:pPr marL="63500" indent="-63500" defTabSz="981075" eaLnBrk="1" hangingPunct="1">
                        <a:lnSpc>
                          <a:spcPct val="87000"/>
                        </a:lnSpc>
                        <a:spcBef>
                          <a:spcPct val="30000"/>
                        </a:spcBef>
                        <a:buFontTx/>
                        <a:buChar char="•"/>
                      </a:pPr>
                      <a:r>
                        <a:rPr lang="en-US" sz="900" i="0" dirty="0"/>
                        <a:t>Timing </a:t>
                      </a:r>
                    </a:p>
                    <a:p>
                      <a:pPr marL="63500" indent="-63500" defTabSz="981075" eaLnBrk="1" hangingPunct="1">
                        <a:lnSpc>
                          <a:spcPct val="87000"/>
                        </a:lnSpc>
                        <a:spcBef>
                          <a:spcPct val="30000"/>
                        </a:spcBef>
                        <a:buFontTx/>
                        <a:buChar char="•"/>
                      </a:pPr>
                      <a:r>
                        <a:rPr lang="en-US" sz="900" i="0" dirty="0"/>
                        <a:t>Gaps and risk analysis </a:t>
                      </a:r>
                    </a:p>
                    <a:p>
                      <a:pPr marL="63500" indent="-63500" defTabSz="981075" eaLnBrk="1" hangingPunct="1">
                        <a:lnSpc>
                          <a:spcPct val="87000"/>
                        </a:lnSpc>
                        <a:spcBef>
                          <a:spcPct val="30000"/>
                        </a:spcBef>
                        <a:buFontTx/>
                        <a:buChar char="•"/>
                      </a:pPr>
                      <a:r>
                        <a:rPr lang="en-US" sz="900" i="0" dirty="0"/>
                        <a:t>Business transfer Concept Checklist (</a:t>
                      </a:r>
                    </a:p>
                    <a:p>
                      <a:pPr marL="63500" indent="-63500" defTabSz="981075" eaLnBrk="1" hangingPunct="1">
                        <a:lnSpc>
                          <a:spcPct val="87000"/>
                        </a:lnSpc>
                        <a:spcBef>
                          <a:spcPct val="30000"/>
                        </a:spcBef>
                        <a:buFontTx/>
                        <a:buChar char="•"/>
                      </a:pPr>
                      <a:r>
                        <a:rPr lang="en-US" sz="900" i="0" dirty="0"/>
                        <a:t>Program Business Transfer Manager assigned </a:t>
                      </a:r>
                    </a:p>
                  </a:txBody>
                  <a:tcPr marL="79960" marR="79960" marT="35645" marB="356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cxnSp>
        <p:nvCxnSpPr>
          <p:cNvPr id="25" name="Straight Arrow Connector 24"/>
          <p:cNvCxnSpPr>
            <a:cxnSpLocks/>
            <a:stCxn id="24" idx="3"/>
            <a:endCxn id="12" idx="3"/>
          </p:cNvCxnSpPr>
          <p:nvPr/>
        </p:nvCxnSpPr>
        <p:spPr>
          <a:xfrm flipV="1">
            <a:off x="2332104" y="3285959"/>
            <a:ext cx="296375" cy="20982"/>
          </a:xfrm>
          <a:prstGeom prst="straightConnector1">
            <a:avLst/>
          </a:prstGeom>
          <a:ln w="12700">
            <a:tailEnd type="arrow"/>
          </a:ln>
        </p:spPr>
        <p:style>
          <a:lnRef idx="1">
            <a:schemeClr val="dk1"/>
          </a:lnRef>
          <a:fillRef idx="0">
            <a:schemeClr val="dk1"/>
          </a:fillRef>
          <a:effectRef idx="0">
            <a:schemeClr val="dk1"/>
          </a:effectRef>
          <a:fontRef idx="minor">
            <a:schemeClr val="tx1"/>
          </a:fontRef>
        </p:style>
      </p:cxnSp>
      <p:graphicFrame>
        <p:nvGraphicFramePr>
          <p:cNvPr id="4" name="Group 702">
            <a:extLst>
              <a:ext uri="{FF2B5EF4-FFF2-40B4-BE49-F238E27FC236}">
                <a16:creationId xmlns:a16="http://schemas.microsoft.com/office/drawing/2014/main" id="{56FAED6D-A422-173A-853C-03512100E3A1}"/>
              </a:ext>
            </a:extLst>
          </p:cNvPr>
          <p:cNvGraphicFramePr>
            <a:graphicFrameLocks noGrp="1"/>
          </p:cNvGraphicFramePr>
          <p:nvPr>
            <p:extLst>
              <p:ext uri="{D42A27DB-BD31-4B8C-83A1-F6EECF244321}">
                <p14:modId xmlns:p14="http://schemas.microsoft.com/office/powerpoint/2010/main" val="3715079854"/>
              </p:ext>
            </p:extLst>
          </p:nvPr>
        </p:nvGraphicFramePr>
        <p:xfrm>
          <a:off x="194291" y="5158250"/>
          <a:ext cx="4571999" cy="1342582"/>
        </p:xfrm>
        <a:graphic>
          <a:graphicData uri="http://schemas.openxmlformats.org/drawingml/2006/table">
            <a:tbl>
              <a:tblPr/>
              <a:tblGrid>
                <a:gridCol w="4571999">
                  <a:extLst>
                    <a:ext uri="{9D8B030D-6E8A-4147-A177-3AD203B41FA5}">
                      <a16:colId xmlns:a16="http://schemas.microsoft.com/office/drawing/2014/main" val="20000"/>
                    </a:ext>
                  </a:extLst>
                </a:gridCol>
              </a:tblGrid>
              <a:tr h="236006">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cap="none" normalizeH="0" baseline="0" dirty="0">
                          <a:ln>
                            <a:noFill/>
                          </a:ln>
                          <a:solidFill>
                            <a:schemeClr val="tx1"/>
                          </a:solidFill>
                          <a:effectLst/>
                          <a:latin typeface="Arial" charset="0"/>
                        </a:rPr>
                        <a:t>What methods/procedures &amp;/or techniques are used to describe</a:t>
                      </a:r>
                      <a:r>
                        <a:rPr kumimoji="0" lang="en-US" sz="1000" b="0" i="0" u="none" strike="noStrike" cap="none" normalizeH="0" baseline="0" dirty="0">
                          <a:ln>
                            <a:noFill/>
                          </a:ln>
                          <a:solidFill>
                            <a:srgbClr val="F84018"/>
                          </a:solidFill>
                          <a:effectLst/>
                          <a:latin typeface="Arial" charset="0"/>
                        </a:rPr>
                        <a:t> </a:t>
                      </a:r>
                      <a:r>
                        <a:rPr kumimoji="0" lang="en-US" sz="1000" b="1" i="0" u="sng" strike="noStrike" cap="none" normalizeH="0" baseline="0" dirty="0">
                          <a:ln>
                            <a:noFill/>
                          </a:ln>
                          <a:solidFill>
                            <a:srgbClr val="F84018"/>
                          </a:solidFill>
                          <a:effectLst/>
                          <a:latin typeface="Arial" charset="0"/>
                        </a:rPr>
                        <a:t>HOW</a:t>
                      </a:r>
                      <a:r>
                        <a:rPr kumimoji="0" lang="en-US" sz="1000" b="1" i="0" u="none" strike="noStrike" cap="none" normalizeH="0" baseline="0" dirty="0">
                          <a:ln>
                            <a:noFill/>
                          </a:ln>
                          <a:solidFill>
                            <a:srgbClr val="F84018"/>
                          </a:solidFill>
                          <a:effectLst/>
                          <a:latin typeface="Arial" charset="0"/>
                        </a:rPr>
                        <a:t> </a:t>
                      </a:r>
                      <a:r>
                        <a:rPr kumimoji="0" lang="en-US" sz="1000" b="0" i="0" u="none" strike="noStrike" cap="none" normalizeH="0" baseline="0" dirty="0">
                          <a:ln>
                            <a:noFill/>
                          </a:ln>
                          <a:solidFill>
                            <a:schemeClr val="tx1"/>
                          </a:solidFill>
                          <a:effectLst/>
                          <a:latin typeface="Arial" charset="0"/>
                        </a:rPr>
                        <a:t>the process is done. </a:t>
                      </a:r>
                    </a:p>
                  </a:txBody>
                  <a:tcPr marL="79960" marR="79960" marT="39225" marB="392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7D1CF">
                        <a:alpha val="25098"/>
                      </a:srgbClr>
                    </a:solidFill>
                  </a:tcPr>
                </a:tc>
                <a:extLst>
                  <a:ext uri="{0D108BD9-81ED-4DB2-BD59-A6C34878D82A}">
                    <a16:rowId xmlns:a16="http://schemas.microsoft.com/office/drawing/2014/main" val="10000"/>
                  </a:ext>
                </a:extLst>
              </a:tr>
              <a:tr h="998956">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63500" marR="0" lvl="0" indent="-63500" algn="l" defTabSz="947738" rtl="0" eaLnBrk="1" fontAlgn="base" latinLnBrk="0" hangingPunct="1">
                        <a:lnSpc>
                          <a:spcPct val="87000"/>
                        </a:lnSpc>
                        <a:spcBef>
                          <a:spcPct val="20000"/>
                        </a:spcBef>
                        <a:spcAft>
                          <a:spcPct val="0"/>
                        </a:spcAft>
                        <a:buClr>
                          <a:schemeClr val="tx1"/>
                        </a:buClr>
                        <a:buSzTx/>
                        <a:buFontTx/>
                        <a:buChar char="•"/>
                        <a:tabLst/>
                      </a:pPr>
                      <a:r>
                        <a:rPr kumimoji="0" lang="en-US" sz="1000" b="0" i="0" u="none" strike="noStrike" cap="none" normalizeH="0" baseline="0" dirty="0">
                          <a:ln>
                            <a:noFill/>
                          </a:ln>
                          <a:solidFill>
                            <a:schemeClr val="tx1"/>
                          </a:solidFill>
                          <a:effectLst/>
                          <a:latin typeface="Arial" charset="0"/>
                        </a:rPr>
                        <a:t>Business Transfer Documentation (includes Business Case, Transfer Presentation and proposed planning, Customer Approval documents)</a:t>
                      </a:r>
                    </a:p>
                    <a:p>
                      <a:pPr marL="63500" marR="0" lvl="0" indent="-63500" algn="l" defTabSz="947738" rtl="0" eaLnBrk="1" fontAlgn="base" latinLnBrk="0" hangingPunct="1">
                        <a:lnSpc>
                          <a:spcPct val="87000"/>
                        </a:lnSpc>
                        <a:spcBef>
                          <a:spcPct val="20000"/>
                        </a:spcBef>
                        <a:spcAft>
                          <a:spcPct val="0"/>
                        </a:spcAft>
                        <a:buClr>
                          <a:schemeClr val="tx1"/>
                        </a:buClr>
                        <a:buSzTx/>
                        <a:buFontTx/>
                        <a:buChar char="•"/>
                        <a:tabLst/>
                      </a:pPr>
                      <a:r>
                        <a:rPr kumimoji="0" lang="en-US" sz="1000" b="0" i="0" u="none" strike="noStrike" cap="none" normalizeH="0" baseline="0" dirty="0">
                          <a:ln>
                            <a:noFill/>
                          </a:ln>
                          <a:solidFill>
                            <a:srgbClr val="FF0000"/>
                          </a:solidFill>
                          <a:effectLst/>
                          <a:latin typeface="Arial" charset="0"/>
                          <a:hlinkClick r:id="rId7"/>
                        </a:rPr>
                        <a:t>EAGP_4-4_MG_01-F01_EN </a:t>
                      </a:r>
                      <a:r>
                        <a:rPr kumimoji="0" lang="en-US" sz="1000" b="0" i="0" u="none" strike="noStrike" cap="none" normalizeH="0" baseline="0" dirty="0">
                          <a:ln>
                            <a:noFill/>
                          </a:ln>
                          <a:solidFill>
                            <a:schemeClr val="tx1"/>
                          </a:solidFill>
                          <a:effectLst/>
                          <a:latin typeface="Arial" charset="0"/>
                        </a:rPr>
                        <a:t>Business Transfer  Execution Checklist </a:t>
                      </a:r>
                    </a:p>
                    <a:p>
                      <a:pPr marL="63500" marR="0" lvl="0" indent="-63500" algn="l" defTabSz="947738" rtl="0" eaLnBrk="1" fontAlgn="base" latinLnBrk="0" hangingPunct="1">
                        <a:lnSpc>
                          <a:spcPct val="87000"/>
                        </a:lnSpc>
                        <a:spcBef>
                          <a:spcPct val="20000"/>
                        </a:spcBef>
                        <a:spcAft>
                          <a:spcPct val="0"/>
                        </a:spcAft>
                        <a:buClr>
                          <a:schemeClr val="tx1"/>
                        </a:buClr>
                        <a:buSzTx/>
                        <a:buFontTx/>
                        <a:buChar char="•"/>
                        <a:tabLst/>
                        <a:defRPr/>
                      </a:pPr>
                      <a:r>
                        <a:rPr kumimoji="0" lang="en-US" sz="1000" b="0" i="0" u="none" strike="noStrike" cap="none" normalizeH="0" baseline="0" dirty="0">
                          <a:ln>
                            <a:noFill/>
                          </a:ln>
                          <a:solidFill>
                            <a:schemeClr val="tx1"/>
                          </a:solidFill>
                          <a:effectLst/>
                          <a:latin typeface="Arial" charset="0"/>
                          <a:hlinkClick r:id="rId8"/>
                        </a:rPr>
                        <a:t>EAGP-4.3-ME-012_EN  </a:t>
                      </a:r>
                      <a:r>
                        <a:rPr kumimoji="0" lang="en-US" sz="1000" b="0" i="0" u="none" strike="noStrike" cap="none" normalizeH="0" baseline="0" dirty="0">
                          <a:ln>
                            <a:noFill/>
                          </a:ln>
                          <a:solidFill>
                            <a:schemeClr val="tx1"/>
                          </a:solidFill>
                          <a:effectLst/>
                          <a:latin typeface="Arial" charset="0"/>
                        </a:rPr>
                        <a:t>Inter Plant Equipment Transfer Process </a:t>
                      </a:r>
                    </a:p>
                    <a:p>
                      <a:pPr marL="63500" marR="0" lvl="0" indent="-63500" algn="l" defTabSz="947738" rtl="0" eaLnBrk="1" fontAlgn="base" latinLnBrk="0" hangingPunct="1">
                        <a:lnSpc>
                          <a:spcPct val="87000"/>
                        </a:lnSpc>
                        <a:spcBef>
                          <a:spcPct val="20000"/>
                        </a:spcBef>
                        <a:spcAft>
                          <a:spcPct val="0"/>
                        </a:spcAft>
                        <a:buClr>
                          <a:schemeClr val="tx1"/>
                        </a:buClr>
                        <a:buSzTx/>
                        <a:buFontTx/>
                        <a:buChar char="•"/>
                        <a:tabLst/>
                      </a:pPr>
                      <a:r>
                        <a:rPr kumimoji="0" lang="de-DE" sz="1000" b="0" i="0" u="none" strike="noStrike" cap="none" normalizeH="0" baseline="0" dirty="0">
                          <a:ln>
                            <a:noFill/>
                          </a:ln>
                          <a:solidFill>
                            <a:schemeClr val="tx2"/>
                          </a:solidFill>
                          <a:effectLst/>
                          <a:latin typeface="Arial" charset="0"/>
                          <a:hlinkClick r:id="rId6"/>
                        </a:rPr>
                        <a:t>EAGP-4.4-CS-01</a:t>
                      </a:r>
                      <a:r>
                        <a:rPr kumimoji="0" lang="de-DE" sz="1000" b="0" i="0" u="none" strike="noStrike" cap="none" normalizeH="0" baseline="0" dirty="0">
                          <a:ln>
                            <a:noFill/>
                          </a:ln>
                          <a:solidFill>
                            <a:schemeClr val="tx2"/>
                          </a:solidFill>
                          <a:effectLst/>
                          <a:latin typeface="Arial" charset="0"/>
                        </a:rPr>
                        <a:t> </a:t>
                      </a:r>
                      <a:r>
                        <a:rPr kumimoji="0" lang="de-DE" sz="1000" b="0" i="0" u="none" strike="noStrike" cap="none" normalizeH="0" baseline="0" dirty="0" err="1">
                          <a:ln>
                            <a:noFill/>
                          </a:ln>
                          <a:solidFill>
                            <a:schemeClr val="tx1"/>
                          </a:solidFill>
                          <a:effectLst/>
                          <a:latin typeface="Arial" charset="0"/>
                        </a:rPr>
                        <a:t>Production</a:t>
                      </a:r>
                      <a:r>
                        <a:rPr kumimoji="0" lang="de-DE" sz="1000" b="0" i="0" u="none" strike="noStrike" cap="none" normalizeH="0" baseline="0" dirty="0">
                          <a:ln>
                            <a:noFill/>
                          </a:ln>
                          <a:solidFill>
                            <a:schemeClr val="tx1"/>
                          </a:solidFill>
                          <a:effectLst/>
                          <a:latin typeface="Arial" charset="0"/>
                        </a:rPr>
                        <a:t> </a:t>
                      </a:r>
                      <a:r>
                        <a:rPr kumimoji="0" lang="de-DE" sz="1000" b="0" i="0" u="none" strike="noStrike" cap="none" normalizeH="0" baseline="0" dirty="0" err="1">
                          <a:ln>
                            <a:noFill/>
                          </a:ln>
                          <a:solidFill>
                            <a:schemeClr val="tx1"/>
                          </a:solidFill>
                          <a:effectLst/>
                          <a:latin typeface="Arial" charset="0"/>
                        </a:rPr>
                        <a:t>Readiness</a:t>
                      </a:r>
                      <a:r>
                        <a:rPr kumimoji="0" lang="de-DE" sz="1000" b="0" i="0" u="none" strike="noStrike" cap="none" normalizeH="0" baseline="0" dirty="0">
                          <a:ln>
                            <a:noFill/>
                          </a:ln>
                          <a:solidFill>
                            <a:schemeClr val="tx1"/>
                          </a:solidFill>
                          <a:effectLst/>
                          <a:latin typeface="Arial" charset="0"/>
                        </a:rPr>
                        <a:t> Assessment</a:t>
                      </a:r>
                      <a:endParaRPr kumimoji="0" lang="en-US" sz="1000" b="0" i="0" u="none" strike="noStrike" cap="none" normalizeH="0" baseline="0" dirty="0">
                        <a:ln>
                          <a:noFill/>
                        </a:ln>
                        <a:solidFill>
                          <a:schemeClr val="tx1"/>
                        </a:solidFill>
                        <a:effectLst/>
                        <a:latin typeface="Arial" charset="0"/>
                      </a:endParaRPr>
                    </a:p>
                  </a:txBody>
                  <a:tcPr marL="79960" marR="79960" marT="39225" marB="392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cxnSp>
        <p:nvCxnSpPr>
          <p:cNvPr id="15" name="Straight Connector 14"/>
          <p:cNvCxnSpPr>
            <a:cxnSpLocks/>
            <a:stCxn id="12" idx="2"/>
            <a:endCxn id="4" idx="0"/>
          </p:cNvCxnSpPr>
          <p:nvPr/>
        </p:nvCxnSpPr>
        <p:spPr bwMode="auto">
          <a:xfrm flipH="1">
            <a:off x="2480290" y="4129649"/>
            <a:ext cx="570034" cy="1028601"/>
          </a:xfrm>
          <a:prstGeom prst="line">
            <a:avLst/>
          </a:prstGeom>
          <a:solidFill>
            <a:srgbClr val="FFFFFF"/>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463827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AutoShape 44">
            <a:extLst>
              <a:ext uri="{FF2B5EF4-FFF2-40B4-BE49-F238E27FC236}">
                <a16:creationId xmlns:a16="http://schemas.microsoft.com/office/drawing/2014/main" id="{0E252981-C2B4-599D-85E6-FF342E30694A}"/>
              </a:ext>
            </a:extLst>
          </p:cNvPr>
          <p:cNvCxnSpPr>
            <a:cxnSpLocks noChangeShapeType="1"/>
            <a:stCxn id="6" idx="3"/>
            <a:endCxn id="11" idx="1"/>
          </p:cNvCxnSpPr>
          <p:nvPr/>
        </p:nvCxnSpPr>
        <p:spPr bwMode="auto">
          <a:xfrm>
            <a:off x="2019300" y="1566704"/>
            <a:ext cx="571499" cy="100266"/>
          </a:xfrm>
          <a:prstGeom prst="bentConnector3">
            <a:avLst>
              <a:gd name="adj1" fmla="val 50000"/>
            </a:avLst>
          </a:prstGeom>
          <a:noFill/>
          <a:ln w="12700">
            <a:solidFill>
              <a:schemeClr val="tx1"/>
            </a:solidFill>
            <a:miter lim="800000"/>
            <a:headEnd/>
            <a:tailEnd type="triangle" w="med" len="med"/>
          </a:ln>
        </p:spPr>
      </p:cxnSp>
      <p:graphicFrame>
        <p:nvGraphicFramePr>
          <p:cNvPr id="6" name="Group 1455">
            <a:extLst>
              <a:ext uri="{FF2B5EF4-FFF2-40B4-BE49-F238E27FC236}">
                <a16:creationId xmlns:a16="http://schemas.microsoft.com/office/drawing/2014/main" id="{B0DBDB10-4C1A-6B4F-5DAF-664DBE6D5266}"/>
              </a:ext>
            </a:extLst>
          </p:cNvPr>
          <p:cNvGraphicFramePr>
            <a:graphicFrameLocks noGrp="1"/>
          </p:cNvGraphicFramePr>
          <p:nvPr>
            <p:extLst>
              <p:ext uri="{D42A27DB-BD31-4B8C-83A1-F6EECF244321}">
                <p14:modId xmlns:p14="http://schemas.microsoft.com/office/powerpoint/2010/main" val="4246046509"/>
              </p:ext>
            </p:extLst>
          </p:nvPr>
        </p:nvGraphicFramePr>
        <p:xfrm>
          <a:off x="647700" y="1162844"/>
          <a:ext cx="1371600" cy="807720"/>
        </p:xfrm>
        <a:graphic>
          <a:graphicData uri="http://schemas.openxmlformats.org/drawingml/2006/table">
            <a:tbl>
              <a:tblPr/>
              <a:tblGrid>
                <a:gridCol w="231775">
                  <a:extLst>
                    <a:ext uri="{9D8B030D-6E8A-4147-A177-3AD203B41FA5}">
                      <a16:colId xmlns:a16="http://schemas.microsoft.com/office/drawing/2014/main" val="20000"/>
                    </a:ext>
                  </a:extLst>
                </a:gridCol>
                <a:gridCol w="1139825">
                  <a:extLst>
                    <a:ext uri="{9D8B030D-6E8A-4147-A177-3AD203B41FA5}">
                      <a16:colId xmlns:a16="http://schemas.microsoft.com/office/drawing/2014/main" val="20001"/>
                    </a:ext>
                  </a:extLst>
                </a:gridCol>
              </a:tblGrid>
              <a:tr h="150813">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hlinkClick r:id="rId3" action="ppaction://hlinksldjump"/>
                        </a:rPr>
                        <a:t>1</a:t>
                      </a:r>
                      <a:endParaRPr kumimoji="0" lang="en-US" sz="900" b="0" i="0" u="none" strike="noStrike" cap="none" normalizeH="0" baseline="0" dirty="0">
                        <a:ln>
                          <a:noFill/>
                        </a:ln>
                        <a:solidFill>
                          <a:schemeClr val="tx1"/>
                        </a:solidFill>
                        <a:effectLst/>
                        <a:latin typeface="Arial" charset="0"/>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Business Transfer Manager</a:t>
                      </a:r>
                      <a:r>
                        <a:rPr kumimoji="0" lang="en-US" sz="900" b="0" i="0" u="none" strike="noStrike" cap="none" normalizeH="0" baseline="0" dirty="0">
                          <a:ln>
                            <a:noFill/>
                          </a:ln>
                          <a:solidFill>
                            <a:schemeClr val="tx1"/>
                          </a:solidFill>
                          <a:effectLst/>
                          <a:latin typeface="Arial" charset="0"/>
                        </a:rPr>
                        <a:t> </a:t>
                      </a:r>
                    </a:p>
                  </a:txBody>
                  <a:tcPr marL="45720" marR="0" marT="27432" marB="27432"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65113">
                <a:tc gridSpan="2">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Receive assignment  from BU Leadership </a:t>
                      </a:r>
                    </a:p>
                  </a:txBody>
                  <a:tcPr marL="45720" marR="4572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1"/>
                  </a:ext>
                </a:extLst>
              </a:tr>
              <a:tr h="184150">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de-DE" sz="900" b="0" i="1" u="none" strike="noStrike" cap="none" normalizeH="0" baseline="0" dirty="0">
                        <a:ln>
                          <a:noFill/>
                        </a:ln>
                        <a:solidFill>
                          <a:schemeClr val="tx1"/>
                        </a:solidFill>
                        <a:effectLst/>
                        <a:latin typeface="Arial" charset="0"/>
                      </a:endParaRPr>
                    </a:p>
                  </a:txBody>
                  <a:tcPr marL="45720" marR="45720" marT="27432" marB="27432"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2"/>
                  </a:ext>
                </a:extLst>
              </a:tr>
            </a:tbl>
          </a:graphicData>
        </a:graphic>
      </p:graphicFrame>
      <p:graphicFrame>
        <p:nvGraphicFramePr>
          <p:cNvPr id="11" name="Group 1462">
            <a:extLst>
              <a:ext uri="{FF2B5EF4-FFF2-40B4-BE49-F238E27FC236}">
                <a16:creationId xmlns:a16="http://schemas.microsoft.com/office/drawing/2014/main" id="{BE961501-C08F-1CC3-9A1F-D70539700A3F}"/>
              </a:ext>
            </a:extLst>
          </p:cNvPr>
          <p:cNvGraphicFramePr>
            <a:graphicFrameLocks noGrp="1"/>
          </p:cNvGraphicFramePr>
          <p:nvPr>
            <p:extLst>
              <p:ext uri="{D42A27DB-BD31-4B8C-83A1-F6EECF244321}">
                <p14:modId xmlns:p14="http://schemas.microsoft.com/office/powerpoint/2010/main" val="2387940217"/>
              </p:ext>
            </p:extLst>
          </p:nvPr>
        </p:nvGraphicFramePr>
        <p:xfrm>
          <a:off x="2590799" y="1143794"/>
          <a:ext cx="1828801" cy="1046353"/>
        </p:xfrm>
        <a:graphic>
          <a:graphicData uri="http://schemas.openxmlformats.org/drawingml/2006/table">
            <a:tbl>
              <a:tblPr/>
              <a:tblGrid>
                <a:gridCol w="309034">
                  <a:extLst>
                    <a:ext uri="{9D8B030D-6E8A-4147-A177-3AD203B41FA5}">
                      <a16:colId xmlns:a16="http://schemas.microsoft.com/office/drawing/2014/main" val="20000"/>
                    </a:ext>
                  </a:extLst>
                </a:gridCol>
                <a:gridCol w="1519767">
                  <a:extLst>
                    <a:ext uri="{9D8B030D-6E8A-4147-A177-3AD203B41FA5}">
                      <a16:colId xmlns:a16="http://schemas.microsoft.com/office/drawing/2014/main" val="20001"/>
                    </a:ext>
                  </a:extLst>
                </a:gridCol>
              </a:tblGrid>
              <a:tr h="0">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rgbClr val="9966FF"/>
                          </a:solidFill>
                          <a:effectLst/>
                          <a:latin typeface="Arial" charset="0"/>
                          <a:hlinkClick r:id="rId3" action="ppaction://hlinksldjump"/>
                        </a:rPr>
                        <a:t>2</a:t>
                      </a:r>
                      <a:endParaRPr kumimoji="0" lang="en-US" sz="900" b="0" i="0" u="none" strike="noStrike" cap="none" normalizeH="0" baseline="0" dirty="0">
                        <a:ln>
                          <a:noFill/>
                        </a:ln>
                        <a:solidFill>
                          <a:srgbClr val="9966FF"/>
                        </a:solidFill>
                        <a:effectLst/>
                        <a:latin typeface="Arial" charset="0"/>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Business Transfer Manager, Functional Management</a:t>
                      </a:r>
                      <a:r>
                        <a:rPr kumimoji="0" lang="en-US" sz="900" b="0" i="0" u="none" strike="noStrike" cap="none" normalizeH="0" baseline="0" dirty="0">
                          <a:ln>
                            <a:noFill/>
                          </a:ln>
                          <a:solidFill>
                            <a:schemeClr val="tx1"/>
                          </a:solidFill>
                          <a:effectLst/>
                          <a:latin typeface="Arial" charset="0"/>
                        </a:rPr>
                        <a:t>, </a:t>
                      </a:r>
                      <a:r>
                        <a:rPr kumimoji="0" lang="en-US" sz="900" b="1" i="0" u="none" strike="noStrike" cap="none" normalizeH="0" baseline="0" dirty="0">
                          <a:ln>
                            <a:noFill/>
                          </a:ln>
                          <a:solidFill>
                            <a:schemeClr val="tx1"/>
                          </a:solidFill>
                          <a:effectLst/>
                          <a:latin typeface="Arial" charset="0"/>
                        </a:rPr>
                        <a:t>Transferring plant, Receiving Plant</a:t>
                      </a:r>
                      <a:r>
                        <a:rPr kumimoji="0" lang="en-US" sz="900" b="0" i="0" u="none" strike="noStrike" cap="none" normalizeH="0" baseline="0" dirty="0">
                          <a:ln>
                            <a:noFill/>
                          </a:ln>
                          <a:solidFill>
                            <a:schemeClr val="tx1"/>
                          </a:solidFill>
                          <a:effectLst/>
                          <a:latin typeface="Arial" charset="0"/>
                        </a:rPr>
                        <a:t> </a:t>
                      </a:r>
                    </a:p>
                  </a:txBody>
                  <a:tcPr marL="45720" marR="0" marT="27432" marB="27432"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7325">
                <a:tc gridSpan="2">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Assign members to Transfer Team </a:t>
                      </a:r>
                    </a:p>
                  </a:txBody>
                  <a:tcPr marL="45720" marR="4572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1"/>
                  </a:ext>
                </a:extLst>
              </a:tr>
              <a:tr h="184150">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1" u="none" strike="noStrike" cap="none" normalizeH="0" baseline="0" dirty="0">
                          <a:ln>
                            <a:noFill/>
                          </a:ln>
                          <a:solidFill>
                            <a:schemeClr val="tx1"/>
                          </a:solidFill>
                          <a:effectLst/>
                          <a:latin typeface="Arial" charset="0"/>
                        </a:rPr>
                        <a:t>Business Transfer Documentation</a:t>
                      </a:r>
                      <a:r>
                        <a:rPr kumimoji="0" lang="en-US" sz="900" b="0" i="0" u="none" strike="noStrike" cap="none" normalizeH="0" baseline="0" dirty="0">
                          <a:ln>
                            <a:noFill/>
                          </a:ln>
                          <a:solidFill>
                            <a:schemeClr val="tx1"/>
                          </a:solidFill>
                          <a:effectLst/>
                          <a:latin typeface="Arial" charset="0"/>
                        </a:rPr>
                        <a:t> </a:t>
                      </a:r>
                    </a:p>
                  </a:txBody>
                  <a:tcPr marL="45720" marR="45720" marT="27432" marB="27432"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2"/>
                  </a:ext>
                </a:extLst>
              </a:tr>
            </a:tbl>
          </a:graphicData>
        </a:graphic>
      </p:graphicFrame>
      <p:graphicFrame>
        <p:nvGraphicFramePr>
          <p:cNvPr id="18" name="Group 1474">
            <a:extLst>
              <a:ext uri="{FF2B5EF4-FFF2-40B4-BE49-F238E27FC236}">
                <a16:creationId xmlns:a16="http://schemas.microsoft.com/office/drawing/2014/main" id="{BDDAE537-E350-3A05-D30A-664952854CCF}"/>
              </a:ext>
            </a:extLst>
          </p:cNvPr>
          <p:cNvGraphicFramePr>
            <a:graphicFrameLocks noGrp="1"/>
          </p:cNvGraphicFramePr>
          <p:nvPr>
            <p:extLst>
              <p:ext uri="{D42A27DB-BD31-4B8C-83A1-F6EECF244321}">
                <p14:modId xmlns:p14="http://schemas.microsoft.com/office/powerpoint/2010/main" val="4052763296"/>
              </p:ext>
            </p:extLst>
          </p:nvPr>
        </p:nvGraphicFramePr>
        <p:xfrm>
          <a:off x="4800600" y="1147597"/>
          <a:ext cx="1600200" cy="1275017"/>
        </p:xfrm>
        <a:graphic>
          <a:graphicData uri="http://schemas.openxmlformats.org/drawingml/2006/table">
            <a:tbl>
              <a:tblPr/>
              <a:tblGrid>
                <a:gridCol w="270404">
                  <a:extLst>
                    <a:ext uri="{9D8B030D-6E8A-4147-A177-3AD203B41FA5}">
                      <a16:colId xmlns:a16="http://schemas.microsoft.com/office/drawing/2014/main" val="20000"/>
                    </a:ext>
                  </a:extLst>
                </a:gridCol>
                <a:gridCol w="1329796">
                  <a:extLst>
                    <a:ext uri="{9D8B030D-6E8A-4147-A177-3AD203B41FA5}">
                      <a16:colId xmlns:a16="http://schemas.microsoft.com/office/drawing/2014/main" val="20001"/>
                    </a:ext>
                  </a:extLst>
                </a:gridCol>
              </a:tblGrid>
              <a:tr h="0">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hlinkClick r:id="rId3" action="ppaction://hlinksldjump"/>
                        </a:rPr>
                        <a:t>3</a:t>
                      </a:r>
                      <a:endParaRPr kumimoji="0" lang="en-US" sz="900" b="0" i="0" u="none" strike="noStrike" cap="none" normalizeH="0" baseline="0" dirty="0">
                        <a:ln>
                          <a:noFill/>
                        </a:ln>
                        <a:solidFill>
                          <a:schemeClr val="tx1"/>
                        </a:solidFill>
                        <a:effectLst/>
                        <a:latin typeface="Arial" charset="0"/>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Business Transfer Manager, Transfer Team</a:t>
                      </a:r>
                      <a:r>
                        <a:rPr kumimoji="0" lang="en-US" sz="900" b="0" i="0" u="none" strike="noStrike" cap="none" normalizeH="0" baseline="0" dirty="0">
                          <a:ln>
                            <a:noFill/>
                          </a:ln>
                          <a:solidFill>
                            <a:schemeClr val="tx1"/>
                          </a:solidFill>
                          <a:effectLst/>
                          <a:latin typeface="Arial" charset="0"/>
                        </a:rPr>
                        <a:t> </a:t>
                      </a:r>
                    </a:p>
                  </a:txBody>
                  <a:tcPr marL="45720" marR="0" marT="27432" marB="27432"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4513">
                <a:tc gridSpan="2">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Review Business Transfer Documentation and initiate activities as in Business Transfer Execution Checklist. </a:t>
                      </a:r>
                    </a:p>
                  </a:txBody>
                  <a:tcPr marL="45720" marR="4572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1"/>
                  </a:ext>
                </a:extLst>
              </a:tr>
              <a:tr h="184150">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1" u="none" strike="noStrike" cap="none" normalizeH="0" baseline="0" dirty="0">
                          <a:ln>
                            <a:noFill/>
                          </a:ln>
                          <a:solidFill>
                            <a:schemeClr val="tx1"/>
                          </a:solidFill>
                          <a:effectLst/>
                          <a:latin typeface="Arial" charset="0"/>
                        </a:rPr>
                        <a:t>Business Transfer Documentation</a:t>
                      </a:r>
                      <a:r>
                        <a:rPr kumimoji="0" lang="en-US" sz="900" b="0" i="0" u="none" strike="noStrike" cap="none" normalizeH="0" baseline="0" dirty="0">
                          <a:ln>
                            <a:noFill/>
                          </a:ln>
                          <a:solidFill>
                            <a:schemeClr val="tx1"/>
                          </a:solidFill>
                          <a:effectLst/>
                          <a:latin typeface="Arial" charset="0"/>
                        </a:rPr>
                        <a:t> </a:t>
                      </a:r>
                    </a:p>
                  </a:txBody>
                  <a:tcPr marL="45720" marR="45720" marT="27432" marB="27432"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2"/>
                  </a:ext>
                </a:extLst>
              </a:tr>
            </a:tbl>
          </a:graphicData>
        </a:graphic>
      </p:graphicFrame>
      <p:cxnSp>
        <p:nvCxnSpPr>
          <p:cNvPr id="24" name="AutoShape 992">
            <a:extLst>
              <a:ext uri="{FF2B5EF4-FFF2-40B4-BE49-F238E27FC236}">
                <a16:creationId xmlns:a16="http://schemas.microsoft.com/office/drawing/2014/main" id="{9EA91C5D-81EE-FF28-0CF5-92ECC7046820}"/>
              </a:ext>
            </a:extLst>
          </p:cNvPr>
          <p:cNvCxnSpPr>
            <a:cxnSpLocks noChangeShapeType="1"/>
            <a:stCxn id="11" idx="3"/>
            <a:endCxn id="18" idx="1"/>
          </p:cNvCxnSpPr>
          <p:nvPr/>
        </p:nvCxnSpPr>
        <p:spPr bwMode="auto">
          <a:xfrm>
            <a:off x="4419600" y="1666970"/>
            <a:ext cx="381000" cy="118135"/>
          </a:xfrm>
          <a:prstGeom prst="bentConnector3">
            <a:avLst>
              <a:gd name="adj1" fmla="val 50000"/>
            </a:avLst>
          </a:prstGeom>
          <a:noFill/>
          <a:ln w="12700">
            <a:solidFill>
              <a:schemeClr val="tx1"/>
            </a:solidFill>
            <a:miter lim="800000"/>
            <a:headEnd/>
            <a:tailEnd type="triangle" w="med" len="med"/>
          </a:ln>
        </p:spPr>
      </p:cxnSp>
      <p:graphicFrame>
        <p:nvGraphicFramePr>
          <p:cNvPr id="25" name="Group 1466">
            <a:extLst>
              <a:ext uri="{FF2B5EF4-FFF2-40B4-BE49-F238E27FC236}">
                <a16:creationId xmlns:a16="http://schemas.microsoft.com/office/drawing/2014/main" id="{56A53732-4306-A732-2FF0-99658F14AA5C}"/>
              </a:ext>
            </a:extLst>
          </p:cNvPr>
          <p:cNvGraphicFramePr>
            <a:graphicFrameLocks noGrp="1"/>
          </p:cNvGraphicFramePr>
          <p:nvPr>
            <p:extLst>
              <p:ext uri="{D42A27DB-BD31-4B8C-83A1-F6EECF244321}">
                <p14:modId xmlns:p14="http://schemas.microsoft.com/office/powerpoint/2010/main" val="4088230968"/>
              </p:ext>
            </p:extLst>
          </p:nvPr>
        </p:nvGraphicFramePr>
        <p:xfrm>
          <a:off x="6924675" y="1209361"/>
          <a:ext cx="1600200" cy="1155700"/>
        </p:xfrm>
        <a:graphic>
          <a:graphicData uri="http://schemas.openxmlformats.org/drawingml/2006/table">
            <a:tbl>
              <a:tblPr/>
              <a:tblGrid>
                <a:gridCol w="270404">
                  <a:extLst>
                    <a:ext uri="{9D8B030D-6E8A-4147-A177-3AD203B41FA5}">
                      <a16:colId xmlns:a16="http://schemas.microsoft.com/office/drawing/2014/main" val="20000"/>
                    </a:ext>
                  </a:extLst>
                </a:gridCol>
                <a:gridCol w="1329796">
                  <a:extLst>
                    <a:ext uri="{9D8B030D-6E8A-4147-A177-3AD203B41FA5}">
                      <a16:colId xmlns:a16="http://schemas.microsoft.com/office/drawing/2014/main" val="20001"/>
                    </a:ext>
                  </a:extLst>
                </a:gridCol>
              </a:tblGrid>
              <a:tr h="0">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4</a:t>
                      </a: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Business Transfer Manager</a:t>
                      </a:r>
                      <a:r>
                        <a:rPr kumimoji="0" lang="en-US" sz="900" b="0" i="0" u="none" strike="noStrike" cap="none" normalizeH="0" baseline="0" dirty="0">
                          <a:ln>
                            <a:noFill/>
                          </a:ln>
                          <a:solidFill>
                            <a:schemeClr val="tx1"/>
                          </a:solidFill>
                          <a:effectLst/>
                          <a:latin typeface="Arial" charset="0"/>
                        </a:rPr>
                        <a:t> </a:t>
                      </a:r>
                    </a:p>
                  </a:txBody>
                  <a:tcPr marL="45720" marR="0" marT="27432" marB="27432"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2113">
                <a:tc gridSpan="2">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Present latest gaps and risks assessment, Business transfer checklist and timing plan </a:t>
                      </a:r>
                    </a:p>
                  </a:txBody>
                  <a:tcPr marL="45720" marR="4572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1"/>
                  </a:ext>
                </a:extLst>
              </a:tr>
              <a:tr h="184150">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1" u="none" strike="noStrike" cap="none" normalizeH="0" baseline="0" dirty="0">
                          <a:ln>
                            <a:noFill/>
                          </a:ln>
                          <a:solidFill>
                            <a:schemeClr val="tx1"/>
                          </a:solidFill>
                          <a:effectLst/>
                          <a:latin typeface="Arial" charset="0"/>
                        </a:rPr>
                        <a:t>CB Director, BU Director, Operations Director</a:t>
                      </a:r>
                    </a:p>
                  </a:txBody>
                  <a:tcPr marL="45720" marR="45720" marT="27432" marB="27432"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2"/>
                  </a:ext>
                </a:extLst>
              </a:tr>
            </a:tbl>
          </a:graphicData>
        </a:graphic>
      </p:graphicFrame>
      <p:cxnSp>
        <p:nvCxnSpPr>
          <p:cNvPr id="26" name="AutoShape 1014">
            <a:extLst>
              <a:ext uri="{FF2B5EF4-FFF2-40B4-BE49-F238E27FC236}">
                <a16:creationId xmlns:a16="http://schemas.microsoft.com/office/drawing/2014/main" id="{9D6B1A68-0C83-CA17-8FE7-6541A99AD819}"/>
              </a:ext>
            </a:extLst>
          </p:cNvPr>
          <p:cNvCxnSpPr>
            <a:cxnSpLocks noChangeShapeType="1"/>
            <a:stCxn id="18" idx="3"/>
            <a:endCxn id="25" idx="1"/>
          </p:cNvCxnSpPr>
          <p:nvPr/>
        </p:nvCxnSpPr>
        <p:spPr bwMode="auto">
          <a:xfrm>
            <a:off x="6400800" y="1785105"/>
            <a:ext cx="523875" cy="2106"/>
          </a:xfrm>
          <a:prstGeom prst="bentConnector3">
            <a:avLst>
              <a:gd name="adj1" fmla="val 50000"/>
            </a:avLst>
          </a:prstGeom>
          <a:noFill/>
          <a:ln w="12700">
            <a:solidFill>
              <a:schemeClr val="tx1"/>
            </a:solidFill>
            <a:miter lim="800000"/>
            <a:headEnd/>
            <a:tailEnd type="triangle" w="med" len="med"/>
          </a:ln>
        </p:spPr>
      </p:cxnSp>
      <p:graphicFrame>
        <p:nvGraphicFramePr>
          <p:cNvPr id="27" name="Group 1470">
            <a:extLst>
              <a:ext uri="{FF2B5EF4-FFF2-40B4-BE49-F238E27FC236}">
                <a16:creationId xmlns:a16="http://schemas.microsoft.com/office/drawing/2014/main" id="{A8CA66AF-80D3-910E-CC78-17911A4D712E}"/>
              </a:ext>
            </a:extLst>
          </p:cNvPr>
          <p:cNvGraphicFramePr>
            <a:graphicFrameLocks noGrp="1"/>
          </p:cNvGraphicFramePr>
          <p:nvPr>
            <p:extLst>
              <p:ext uri="{D42A27DB-BD31-4B8C-83A1-F6EECF244321}">
                <p14:modId xmlns:p14="http://schemas.microsoft.com/office/powerpoint/2010/main" val="547932966"/>
              </p:ext>
            </p:extLst>
          </p:nvPr>
        </p:nvGraphicFramePr>
        <p:xfrm>
          <a:off x="6477000" y="2895600"/>
          <a:ext cx="1371600" cy="1589850"/>
        </p:xfrm>
        <a:graphic>
          <a:graphicData uri="http://schemas.openxmlformats.org/drawingml/2006/table">
            <a:tbl>
              <a:tblPr/>
              <a:tblGrid>
                <a:gridCol w="231775">
                  <a:extLst>
                    <a:ext uri="{9D8B030D-6E8A-4147-A177-3AD203B41FA5}">
                      <a16:colId xmlns:a16="http://schemas.microsoft.com/office/drawing/2014/main" val="20000"/>
                    </a:ext>
                  </a:extLst>
                </a:gridCol>
                <a:gridCol w="1139825">
                  <a:extLst>
                    <a:ext uri="{9D8B030D-6E8A-4147-A177-3AD203B41FA5}">
                      <a16:colId xmlns:a16="http://schemas.microsoft.com/office/drawing/2014/main" val="20001"/>
                    </a:ext>
                  </a:extLst>
                </a:gridCol>
              </a:tblGrid>
              <a:tr h="433596">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hlinkClick r:id="rId3" action="ppaction://hlinksldjump"/>
                        </a:rPr>
                        <a:t>5</a:t>
                      </a:r>
                      <a:endParaRPr kumimoji="0" lang="en-US" sz="900" b="0" i="0" u="none" strike="noStrike" cap="none" normalizeH="0" baseline="0" dirty="0">
                        <a:ln>
                          <a:noFill/>
                        </a:ln>
                        <a:solidFill>
                          <a:schemeClr val="tx1"/>
                        </a:solidFill>
                        <a:effectLst/>
                        <a:latin typeface="Arial" charset="0"/>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BU Director,  Operations Director, BU Director</a:t>
                      </a:r>
                      <a:endParaRPr kumimoji="0" lang="en-US" sz="900" b="0" i="1" u="none" strike="noStrike" cap="none" normalizeH="0" baseline="0" dirty="0">
                        <a:ln>
                          <a:noFill/>
                        </a:ln>
                        <a:solidFill>
                          <a:schemeClr val="tx1"/>
                        </a:solidFill>
                        <a:effectLst/>
                        <a:latin typeface="Arial" charset="0"/>
                      </a:endParaRPr>
                    </a:p>
                  </a:txBody>
                  <a:tcPr marL="45720" marR="0" marT="27432" marB="27432"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47982">
                <a:tc gridSpan="2">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Determine frequency and timing of subsequent reviews. Business Transfer Manager needs to include review dates in the project plan. </a:t>
                      </a:r>
                    </a:p>
                  </a:txBody>
                  <a:tcPr marL="45720" marR="4572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1"/>
                  </a:ext>
                </a:extLst>
              </a:tr>
              <a:tr h="308272">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1" u="none" strike="noStrike" cap="none" normalizeH="0" baseline="0" dirty="0">
                          <a:ln>
                            <a:noFill/>
                          </a:ln>
                          <a:solidFill>
                            <a:schemeClr val="tx1"/>
                          </a:solidFill>
                          <a:effectLst/>
                          <a:latin typeface="Arial" charset="0"/>
                        </a:rPr>
                        <a:t>Business Transfer Manager</a:t>
                      </a:r>
                    </a:p>
                  </a:txBody>
                  <a:tcPr marL="45720" marR="45720" marT="27432" marB="27432"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2"/>
                  </a:ext>
                </a:extLst>
              </a:tr>
            </a:tbl>
          </a:graphicData>
        </a:graphic>
      </p:graphicFrame>
      <p:graphicFrame>
        <p:nvGraphicFramePr>
          <p:cNvPr id="28" name="Group 1468">
            <a:extLst>
              <a:ext uri="{FF2B5EF4-FFF2-40B4-BE49-F238E27FC236}">
                <a16:creationId xmlns:a16="http://schemas.microsoft.com/office/drawing/2014/main" id="{B4D305B0-3A24-5732-B1A8-2643EC190040}"/>
              </a:ext>
            </a:extLst>
          </p:cNvPr>
          <p:cNvGraphicFramePr>
            <a:graphicFrameLocks noGrp="1"/>
          </p:cNvGraphicFramePr>
          <p:nvPr>
            <p:extLst>
              <p:ext uri="{D42A27DB-BD31-4B8C-83A1-F6EECF244321}">
                <p14:modId xmlns:p14="http://schemas.microsoft.com/office/powerpoint/2010/main" val="1533548550"/>
              </p:ext>
            </p:extLst>
          </p:nvPr>
        </p:nvGraphicFramePr>
        <p:xfrm>
          <a:off x="4800600" y="2895600"/>
          <a:ext cx="1371600" cy="1600199"/>
        </p:xfrm>
        <a:graphic>
          <a:graphicData uri="http://schemas.openxmlformats.org/drawingml/2006/table">
            <a:tbl>
              <a:tblPr/>
              <a:tblGrid>
                <a:gridCol w="143987">
                  <a:extLst>
                    <a:ext uri="{9D8B030D-6E8A-4147-A177-3AD203B41FA5}">
                      <a16:colId xmlns:a16="http://schemas.microsoft.com/office/drawing/2014/main" val="20000"/>
                    </a:ext>
                  </a:extLst>
                </a:gridCol>
                <a:gridCol w="1227613">
                  <a:extLst>
                    <a:ext uri="{9D8B030D-6E8A-4147-A177-3AD203B41FA5}">
                      <a16:colId xmlns:a16="http://schemas.microsoft.com/office/drawing/2014/main" val="20001"/>
                    </a:ext>
                  </a:extLst>
                </a:gridCol>
              </a:tblGrid>
              <a:tr h="302067">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hlinkClick r:id="rId3" action="ppaction://hlinksldjump"/>
                        </a:rPr>
                        <a:t>6</a:t>
                      </a:r>
                      <a:endParaRPr kumimoji="0" lang="en-US" sz="900" b="0" i="0" u="none" strike="noStrike" cap="none" normalizeH="0" baseline="0" dirty="0">
                        <a:ln>
                          <a:noFill/>
                        </a:ln>
                        <a:solidFill>
                          <a:schemeClr val="tx1"/>
                        </a:solidFill>
                        <a:effectLst/>
                        <a:latin typeface="Arial" charset="0"/>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Business Transfer Manager</a:t>
                      </a:r>
                      <a:r>
                        <a:rPr kumimoji="0" lang="en-US" sz="900" b="0" i="0" u="none" strike="noStrike" cap="none" normalizeH="0" baseline="0" dirty="0">
                          <a:ln>
                            <a:noFill/>
                          </a:ln>
                          <a:solidFill>
                            <a:schemeClr val="tx1"/>
                          </a:solidFill>
                          <a:effectLst/>
                          <a:latin typeface="Arial" charset="0"/>
                        </a:rPr>
                        <a:t> </a:t>
                      </a:r>
                    </a:p>
                  </a:txBody>
                  <a:tcPr marL="45720" marR="0" marT="27432" marB="27432"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96065">
                <a:tc gridSpan="2">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Verify completion of Business Transfer Checklist and identify gaps and risks.</a:t>
                      </a:r>
                    </a:p>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Develop action plan for gap closure and risk mitigation</a:t>
                      </a:r>
                    </a:p>
                  </a:txBody>
                  <a:tcPr marL="45720" marR="4572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1"/>
                  </a:ext>
                </a:extLst>
              </a:tr>
              <a:tr h="302067">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1" u="none" strike="noStrike" cap="none" normalizeH="0" baseline="0" dirty="0">
                          <a:ln>
                            <a:noFill/>
                          </a:ln>
                          <a:solidFill>
                            <a:schemeClr val="tx1"/>
                          </a:solidFill>
                          <a:effectLst/>
                          <a:latin typeface="Arial" charset="0"/>
                        </a:rPr>
                        <a:t>Transfer Team, Business Transfer Checklist</a:t>
                      </a:r>
                    </a:p>
                  </a:txBody>
                  <a:tcPr marL="45720" marR="45720" marT="27432" marB="27432"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2"/>
                  </a:ext>
                </a:extLst>
              </a:tr>
            </a:tbl>
          </a:graphicData>
        </a:graphic>
      </p:graphicFrame>
      <p:graphicFrame>
        <p:nvGraphicFramePr>
          <p:cNvPr id="29" name="Group 1487">
            <a:extLst>
              <a:ext uri="{FF2B5EF4-FFF2-40B4-BE49-F238E27FC236}">
                <a16:creationId xmlns:a16="http://schemas.microsoft.com/office/drawing/2014/main" id="{F626D32B-E855-8D52-48C6-486D0A43E751}"/>
              </a:ext>
            </a:extLst>
          </p:cNvPr>
          <p:cNvGraphicFramePr>
            <a:graphicFrameLocks noGrp="1"/>
          </p:cNvGraphicFramePr>
          <p:nvPr>
            <p:extLst>
              <p:ext uri="{D42A27DB-BD31-4B8C-83A1-F6EECF244321}">
                <p14:modId xmlns:p14="http://schemas.microsoft.com/office/powerpoint/2010/main" val="4134492973"/>
              </p:ext>
            </p:extLst>
          </p:nvPr>
        </p:nvGraphicFramePr>
        <p:xfrm>
          <a:off x="1143000" y="2895600"/>
          <a:ext cx="1447800" cy="1600200"/>
        </p:xfrm>
        <a:graphic>
          <a:graphicData uri="http://schemas.openxmlformats.org/drawingml/2006/table">
            <a:tbl>
              <a:tblPr/>
              <a:tblGrid>
                <a:gridCol w="241300">
                  <a:extLst>
                    <a:ext uri="{9D8B030D-6E8A-4147-A177-3AD203B41FA5}">
                      <a16:colId xmlns:a16="http://schemas.microsoft.com/office/drawing/2014/main" val="20000"/>
                    </a:ext>
                  </a:extLst>
                </a:gridCol>
                <a:gridCol w="1206500">
                  <a:extLst>
                    <a:ext uri="{9D8B030D-6E8A-4147-A177-3AD203B41FA5}">
                      <a16:colId xmlns:a16="http://schemas.microsoft.com/office/drawing/2014/main" val="20001"/>
                    </a:ext>
                  </a:extLst>
                </a:gridCol>
              </a:tblGrid>
              <a:tr h="335734">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rgbClr val="FF0000"/>
                          </a:solidFill>
                          <a:effectLst/>
                          <a:latin typeface="Arial" charset="0"/>
                          <a:hlinkClick r:id="rId3" action="ppaction://hlinksldjump"/>
                        </a:rPr>
                        <a:t>8</a:t>
                      </a:r>
                      <a:endParaRPr kumimoji="0" lang="en-US" sz="900" b="0" i="0" u="none" strike="noStrike" cap="none" normalizeH="0" baseline="0" dirty="0">
                        <a:ln>
                          <a:noFill/>
                        </a:ln>
                        <a:solidFill>
                          <a:srgbClr val="FF0000"/>
                        </a:solidFill>
                        <a:effectLst/>
                        <a:latin typeface="Arial" charset="0"/>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Assessment Team</a:t>
                      </a:r>
                    </a:p>
                  </a:txBody>
                  <a:tcPr marL="45720" marR="0" marT="27432" marB="27432"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39490">
                <a:tc gridSpan="2">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defRPr/>
                      </a:pPr>
                      <a:r>
                        <a:rPr kumimoji="0" lang="en-US" sz="900" b="0" i="0" u="none" strike="noStrike" cap="none" normalizeH="0" baseline="0" dirty="0">
                          <a:ln>
                            <a:noFill/>
                          </a:ln>
                          <a:solidFill>
                            <a:schemeClr val="tx1"/>
                          </a:solidFill>
                          <a:effectLst/>
                          <a:latin typeface="Arial" charset="0"/>
                        </a:rPr>
                        <a:t>Review Business Transfer Execution Checklist and Action Plan closure and effectiveness</a:t>
                      </a:r>
                    </a:p>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defRPr/>
                      </a:pPr>
                      <a:r>
                        <a:rPr kumimoji="0" lang="en-US" sz="900" b="0" i="0" u="none" strike="noStrike" cap="none" normalizeH="0" baseline="0" dirty="0">
                          <a:ln>
                            <a:noFill/>
                          </a:ln>
                          <a:solidFill>
                            <a:schemeClr val="tx1"/>
                          </a:solidFill>
                          <a:effectLst/>
                          <a:latin typeface="Arial" charset="0"/>
                        </a:rPr>
                        <a:t> </a:t>
                      </a:r>
                    </a:p>
                  </a:txBody>
                  <a:tcPr marL="45720" marR="4572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1"/>
                  </a:ext>
                </a:extLst>
              </a:tr>
              <a:tr h="324976">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1" u="none" strike="noStrike" cap="none" normalizeH="0" baseline="0" dirty="0">
                          <a:ln>
                            <a:noFill/>
                          </a:ln>
                          <a:solidFill>
                            <a:schemeClr val="tx1"/>
                          </a:solidFill>
                          <a:effectLst/>
                          <a:latin typeface="Arial" charset="0"/>
                        </a:rPr>
                        <a:t>Transfer Team, BTM, Receiving Plant</a:t>
                      </a:r>
                    </a:p>
                  </a:txBody>
                  <a:tcPr marL="45720" marR="45720" marT="27432" marB="27432"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2"/>
                  </a:ext>
                </a:extLst>
              </a:tr>
            </a:tbl>
          </a:graphicData>
        </a:graphic>
      </p:graphicFrame>
      <p:cxnSp>
        <p:nvCxnSpPr>
          <p:cNvPr id="30" name="AutoShape 1072">
            <a:extLst>
              <a:ext uri="{FF2B5EF4-FFF2-40B4-BE49-F238E27FC236}">
                <a16:creationId xmlns:a16="http://schemas.microsoft.com/office/drawing/2014/main" id="{5551E3EF-E702-A45B-CCBB-8BE6C9294F1F}"/>
              </a:ext>
            </a:extLst>
          </p:cNvPr>
          <p:cNvCxnSpPr>
            <a:cxnSpLocks noChangeShapeType="1"/>
            <a:stCxn id="25" idx="3"/>
            <a:endCxn id="27" idx="3"/>
          </p:cNvCxnSpPr>
          <p:nvPr/>
        </p:nvCxnSpPr>
        <p:spPr bwMode="auto">
          <a:xfrm flipH="1">
            <a:off x="7848600" y="1787211"/>
            <a:ext cx="676275" cy="1903314"/>
          </a:xfrm>
          <a:prstGeom prst="bentConnector3">
            <a:avLst>
              <a:gd name="adj1" fmla="val -33803"/>
            </a:avLst>
          </a:prstGeom>
          <a:noFill/>
          <a:ln w="12700">
            <a:solidFill>
              <a:schemeClr val="tx1"/>
            </a:solidFill>
            <a:miter lim="800000"/>
            <a:headEnd/>
            <a:tailEnd type="triangle" w="med" len="med"/>
          </a:ln>
        </p:spPr>
      </p:cxnSp>
      <p:cxnSp>
        <p:nvCxnSpPr>
          <p:cNvPr id="31" name="AutoShape 1073">
            <a:extLst>
              <a:ext uri="{FF2B5EF4-FFF2-40B4-BE49-F238E27FC236}">
                <a16:creationId xmlns:a16="http://schemas.microsoft.com/office/drawing/2014/main" id="{8C63FC8E-459A-9C29-10A6-A479EE3F3047}"/>
              </a:ext>
            </a:extLst>
          </p:cNvPr>
          <p:cNvCxnSpPr>
            <a:cxnSpLocks noChangeShapeType="1"/>
            <a:stCxn id="27" idx="1"/>
            <a:endCxn id="28" idx="3"/>
          </p:cNvCxnSpPr>
          <p:nvPr/>
        </p:nvCxnSpPr>
        <p:spPr bwMode="auto">
          <a:xfrm rot="10800000" flipV="1">
            <a:off x="6172200" y="3690525"/>
            <a:ext cx="304800" cy="5174"/>
          </a:xfrm>
          <a:prstGeom prst="bentConnector3">
            <a:avLst>
              <a:gd name="adj1" fmla="val 50000"/>
            </a:avLst>
          </a:prstGeom>
          <a:noFill/>
          <a:ln w="12700">
            <a:solidFill>
              <a:schemeClr val="tx1"/>
            </a:solidFill>
            <a:miter lim="800000"/>
            <a:headEnd/>
            <a:tailEnd type="triangle" w="med" len="med"/>
          </a:ln>
        </p:spPr>
      </p:cxnSp>
      <p:cxnSp>
        <p:nvCxnSpPr>
          <p:cNvPr id="32" name="AutoShape 1074">
            <a:extLst>
              <a:ext uri="{FF2B5EF4-FFF2-40B4-BE49-F238E27FC236}">
                <a16:creationId xmlns:a16="http://schemas.microsoft.com/office/drawing/2014/main" id="{31CA0AAE-ED71-64AA-5FE3-C13583E0E2D4}"/>
              </a:ext>
            </a:extLst>
          </p:cNvPr>
          <p:cNvCxnSpPr>
            <a:cxnSpLocks noChangeShapeType="1"/>
            <a:stCxn id="28" idx="1"/>
            <a:endCxn id="39" idx="3"/>
          </p:cNvCxnSpPr>
          <p:nvPr/>
        </p:nvCxnSpPr>
        <p:spPr bwMode="auto">
          <a:xfrm rot="10800000">
            <a:off x="4343400" y="3477189"/>
            <a:ext cx="457200" cy="218511"/>
          </a:xfrm>
          <a:prstGeom prst="bentConnector3">
            <a:avLst>
              <a:gd name="adj1" fmla="val 50000"/>
            </a:avLst>
          </a:prstGeom>
          <a:noFill/>
          <a:ln w="12700">
            <a:solidFill>
              <a:schemeClr val="tx1"/>
            </a:solidFill>
            <a:miter lim="800000"/>
            <a:headEnd/>
            <a:tailEnd type="triangle" w="med" len="med"/>
          </a:ln>
        </p:spPr>
      </p:cxnSp>
      <p:sp>
        <p:nvSpPr>
          <p:cNvPr id="33" name="AutoShape 1322">
            <a:extLst>
              <a:ext uri="{FF2B5EF4-FFF2-40B4-BE49-F238E27FC236}">
                <a16:creationId xmlns:a16="http://schemas.microsoft.com/office/drawing/2014/main" id="{E0886857-ACBC-9995-7911-B24D141038F4}"/>
              </a:ext>
            </a:extLst>
          </p:cNvPr>
          <p:cNvSpPr>
            <a:spLocks noChangeArrowheads="1"/>
          </p:cNvSpPr>
          <p:nvPr/>
        </p:nvSpPr>
        <p:spPr bwMode="auto">
          <a:xfrm>
            <a:off x="3200400" y="4562191"/>
            <a:ext cx="1447800" cy="1100495"/>
          </a:xfrm>
          <a:prstGeom prst="flowChartDecision">
            <a:avLst/>
          </a:prstGeom>
          <a:noFill/>
          <a:ln w="12700">
            <a:solidFill>
              <a:schemeClr val="tx1"/>
            </a:solidFill>
            <a:miter lim="800000"/>
            <a:headEnd/>
            <a:tailEnd/>
          </a:ln>
        </p:spPr>
        <p:txBody>
          <a:bodyPr wrap="square" lIns="0" tIns="0" rIns="0" bIns="0" anchor="ctr">
            <a:spAutoFit/>
          </a:bodyPr>
          <a:lstStyle/>
          <a:p>
            <a:pPr algn="ctr"/>
            <a:r>
              <a:rPr lang="en-US" sz="900" i="0" dirty="0"/>
              <a:t>Is Production  Readiness Assessment  needed?</a:t>
            </a:r>
          </a:p>
        </p:txBody>
      </p:sp>
      <p:sp>
        <p:nvSpPr>
          <p:cNvPr id="35" name="Text Box 1324">
            <a:extLst>
              <a:ext uri="{FF2B5EF4-FFF2-40B4-BE49-F238E27FC236}">
                <a16:creationId xmlns:a16="http://schemas.microsoft.com/office/drawing/2014/main" id="{C9DB78F8-74E3-22A4-80FD-E557E885435A}"/>
              </a:ext>
            </a:extLst>
          </p:cNvPr>
          <p:cNvSpPr txBox="1">
            <a:spLocks noChangeArrowheads="1"/>
          </p:cNvSpPr>
          <p:nvPr/>
        </p:nvSpPr>
        <p:spPr bwMode="auto">
          <a:xfrm>
            <a:off x="4800600" y="5087779"/>
            <a:ext cx="228600" cy="246221"/>
          </a:xfrm>
          <a:prstGeom prst="rect">
            <a:avLst/>
          </a:prstGeom>
          <a:noFill/>
          <a:ln w="12700">
            <a:noFill/>
            <a:miter lim="800000"/>
            <a:headEnd/>
            <a:tailEnd/>
          </a:ln>
        </p:spPr>
        <p:txBody>
          <a:bodyPr wrap="square">
            <a:spAutoFit/>
          </a:bodyPr>
          <a:lstStyle/>
          <a:p>
            <a:r>
              <a:rPr lang="en-US" i="0" dirty="0"/>
              <a:t>Y</a:t>
            </a:r>
          </a:p>
        </p:txBody>
      </p:sp>
      <p:sp>
        <p:nvSpPr>
          <p:cNvPr id="36" name="Text Box 1341">
            <a:extLst>
              <a:ext uri="{FF2B5EF4-FFF2-40B4-BE49-F238E27FC236}">
                <a16:creationId xmlns:a16="http://schemas.microsoft.com/office/drawing/2014/main" id="{1F7D5EB9-2227-E57C-6CA9-5F6BB8429311}"/>
              </a:ext>
            </a:extLst>
          </p:cNvPr>
          <p:cNvSpPr txBox="1">
            <a:spLocks noChangeArrowheads="1"/>
          </p:cNvSpPr>
          <p:nvPr/>
        </p:nvSpPr>
        <p:spPr bwMode="auto">
          <a:xfrm>
            <a:off x="3657600" y="5715000"/>
            <a:ext cx="228600" cy="246221"/>
          </a:xfrm>
          <a:prstGeom prst="rect">
            <a:avLst/>
          </a:prstGeom>
          <a:noFill/>
          <a:ln w="12700">
            <a:noFill/>
            <a:miter lim="800000"/>
            <a:headEnd/>
            <a:tailEnd/>
          </a:ln>
        </p:spPr>
        <p:txBody>
          <a:bodyPr wrap="square">
            <a:spAutoFit/>
          </a:bodyPr>
          <a:lstStyle/>
          <a:p>
            <a:r>
              <a:rPr lang="en-US" i="0" dirty="0"/>
              <a:t>N</a:t>
            </a:r>
          </a:p>
        </p:txBody>
      </p:sp>
      <p:cxnSp>
        <p:nvCxnSpPr>
          <p:cNvPr id="37" name="AutoShape 1488">
            <a:extLst>
              <a:ext uri="{FF2B5EF4-FFF2-40B4-BE49-F238E27FC236}">
                <a16:creationId xmlns:a16="http://schemas.microsoft.com/office/drawing/2014/main" id="{72E17843-FAD8-CBB2-1F5D-D92CE3DE3E1B}"/>
              </a:ext>
            </a:extLst>
          </p:cNvPr>
          <p:cNvCxnSpPr>
            <a:cxnSpLocks noChangeShapeType="1"/>
            <a:stCxn id="33" idx="3"/>
            <a:endCxn id="38" idx="2"/>
          </p:cNvCxnSpPr>
          <p:nvPr/>
        </p:nvCxnSpPr>
        <p:spPr bwMode="auto">
          <a:xfrm flipV="1">
            <a:off x="4648200" y="5104607"/>
            <a:ext cx="609600" cy="7832"/>
          </a:xfrm>
          <a:prstGeom prst="straightConnector1">
            <a:avLst/>
          </a:prstGeom>
          <a:noFill/>
          <a:ln w="12700">
            <a:solidFill>
              <a:schemeClr val="tx1"/>
            </a:solidFill>
            <a:round/>
            <a:headEnd/>
            <a:tailEnd type="triangle" w="med" len="med"/>
          </a:ln>
        </p:spPr>
      </p:cxnSp>
      <p:sp>
        <p:nvSpPr>
          <p:cNvPr id="38" name="AutoShape 1342">
            <a:extLst>
              <a:ext uri="{FF2B5EF4-FFF2-40B4-BE49-F238E27FC236}">
                <a16:creationId xmlns:a16="http://schemas.microsoft.com/office/drawing/2014/main" id="{54004AC3-A26C-86B8-D64F-DBE24851D6E4}"/>
              </a:ext>
            </a:extLst>
          </p:cNvPr>
          <p:cNvSpPr>
            <a:spLocks noChangeArrowheads="1"/>
          </p:cNvSpPr>
          <p:nvPr/>
        </p:nvSpPr>
        <p:spPr bwMode="auto">
          <a:xfrm>
            <a:off x="5257800" y="4953000"/>
            <a:ext cx="304800" cy="303213"/>
          </a:xfrm>
          <a:prstGeom prst="flowChartConnector">
            <a:avLst/>
          </a:prstGeom>
          <a:noFill/>
          <a:ln w="12700">
            <a:solidFill>
              <a:schemeClr val="tx1"/>
            </a:solidFill>
            <a:round/>
            <a:headEnd/>
            <a:tailEnd/>
          </a:ln>
        </p:spPr>
        <p:txBody>
          <a:bodyPr wrap="none" lIns="91434" tIns="45717" rIns="91434" bIns="45717" anchor="ctr"/>
          <a:lstStyle/>
          <a:p>
            <a:pPr algn="ctr"/>
            <a:r>
              <a:rPr lang="en-US" i="0" dirty="0">
                <a:hlinkClick r:id="rId4" action="ppaction://hlinksldjump"/>
              </a:rPr>
              <a:t>9</a:t>
            </a:r>
            <a:endParaRPr lang="en-US" i="0" dirty="0"/>
          </a:p>
        </p:txBody>
      </p:sp>
      <p:graphicFrame>
        <p:nvGraphicFramePr>
          <p:cNvPr id="39" name="Group 1487">
            <a:extLst>
              <a:ext uri="{FF2B5EF4-FFF2-40B4-BE49-F238E27FC236}">
                <a16:creationId xmlns:a16="http://schemas.microsoft.com/office/drawing/2014/main" id="{47D75B3A-FA80-9C8B-9FFD-E7FC78085FFA}"/>
              </a:ext>
            </a:extLst>
          </p:cNvPr>
          <p:cNvGraphicFramePr>
            <a:graphicFrameLocks noGrp="1"/>
          </p:cNvGraphicFramePr>
          <p:nvPr>
            <p:extLst>
              <p:ext uri="{D42A27DB-BD31-4B8C-83A1-F6EECF244321}">
                <p14:modId xmlns:p14="http://schemas.microsoft.com/office/powerpoint/2010/main" val="2360896967"/>
              </p:ext>
            </p:extLst>
          </p:nvPr>
        </p:nvGraphicFramePr>
        <p:xfrm>
          <a:off x="2895600" y="2895600"/>
          <a:ext cx="1447800" cy="1163176"/>
        </p:xfrm>
        <a:graphic>
          <a:graphicData uri="http://schemas.openxmlformats.org/drawingml/2006/table">
            <a:tbl>
              <a:tblPr/>
              <a:tblGrid>
                <a:gridCol w="241300">
                  <a:extLst>
                    <a:ext uri="{9D8B030D-6E8A-4147-A177-3AD203B41FA5}">
                      <a16:colId xmlns:a16="http://schemas.microsoft.com/office/drawing/2014/main" val="20000"/>
                    </a:ext>
                  </a:extLst>
                </a:gridCol>
                <a:gridCol w="1206500">
                  <a:extLst>
                    <a:ext uri="{9D8B030D-6E8A-4147-A177-3AD203B41FA5}">
                      <a16:colId xmlns:a16="http://schemas.microsoft.com/office/drawing/2014/main" val="20001"/>
                    </a:ext>
                  </a:extLst>
                </a:gridCol>
              </a:tblGrid>
              <a:tr h="335733">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7</a:t>
                      </a: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AQP Manager</a:t>
                      </a:r>
                    </a:p>
                  </a:txBody>
                  <a:tcPr marL="45720" marR="0" marT="27432" marB="27432"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2467">
                <a:tc gridSpan="2">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defRPr/>
                      </a:pPr>
                      <a:r>
                        <a:rPr kumimoji="0" lang="en-US" sz="900" b="0" i="0" u="none" strike="noStrike" cap="none" normalizeH="0" baseline="0" dirty="0">
                          <a:ln>
                            <a:noFill/>
                          </a:ln>
                          <a:solidFill>
                            <a:schemeClr val="tx1"/>
                          </a:solidFill>
                          <a:effectLst/>
                          <a:latin typeface="Arial" charset="0"/>
                        </a:rPr>
                        <a:t>Define Project Assessment Team</a:t>
                      </a:r>
                    </a:p>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defRPr/>
                      </a:pPr>
                      <a:r>
                        <a:rPr kumimoji="0" lang="en-US" sz="900" b="0" i="0" u="none" strike="noStrike" cap="none" normalizeH="0" baseline="0" dirty="0">
                          <a:ln>
                            <a:noFill/>
                          </a:ln>
                          <a:solidFill>
                            <a:schemeClr val="tx1"/>
                          </a:solidFill>
                          <a:effectLst/>
                          <a:latin typeface="Arial" charset="0"/>
                        </a:rPr>
                        <a:t> </a:t>
                      </a:r>
                    </a:p>
                  </a:txBody>
                  <a:tcPr marL="45720" marR="4572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1"/>
                  </a:ext>
                </a:extLst>
              </a:tr>
              <a:tr h="324976">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900" b="0" i="1" u="none" strike="noStrike" cap="none" normalizeH="0" baseline="0" dirty="0">
                        <a:ln>
                          <a:noFill/>
                        </a:ln>
                        <a:solidFill>
                          <a:schemeClr val="tx1"/>
                        </a:solidFill>
                        <a:effectLst/>
                        <a:latin typeface="Arial" charset="0"/>
                      </a:endParaRPr>
                    </a:p>
                  </a:txBody>
                  <a:tcPr marL="45720" marR="45720" marT="27432" marB="27432"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2"/>
                  </a:ext>
                </a:extLst>
              </a:tr>
            </a:tbl>
          </a:graphicData>
        </a:graphic>
      </p:graphicFrame>
      <p:cxnSp>
        <p:nvCxnSpPr>
          <p:cNvPr id="40" name="AutoShape 1073">
            <a:extLst>
              <a:ext uri="{FF2B5EF4-FFF2-40B4-BE49-F238E27FC236}">
                <a16:creationId xmlns:a16="http://schemas.microsoft.com/office/drawing/2014/main" id="{9C313BC5-3B57-2E87-DB8C-0D1B7DF04D49}"/>
              </a:ext>
            </a:extLst>
          </p:cNvPr>
          <p:cNvCxnSpPr>
            <a:cxnSpLocks noChangeShapeType="1"/>
            <a:stCxn id="39" idx="1"/>
            <a:endCxn id="29" idx="3"/>
          </p:cNvCxnSpPr>
          <p:nvPr/>
        </p:nvCxnSpPr>
        <p:spPr bwMode="auto">
          <a:xfrm rot="10800000" flipV="1">
            <a:off x="2590800" y="3477188"/>
            <a:ext cx="304800" cy="218512"/>
          </a:xfrm>
          <a:prstGeom prst="bentConnector3">
            <a:avLst>
              <a:gd name="adj1" fmla="val 50000"/>
            </a:avLst>
          </a:prstGeom>
          <a:noFill/>
          <a:ln w="12700">
            <a:solidFill>
              <a:schemeClr val="tx1"/>
            </a:solidFill>
            <a:miter lim="800000"/>
            <a:headEnd/>
            <a:tailEnd type="triangle" w="med" len="med"/>
          </a:ln>
        </p:spPr>
      </p:cxnSp>
      <p:cxnSp>
        <p:nvCxnSpPr>
          <p:cNvPr id="41" name="AutoShape 1073">
            <a:extLst>
              <a:ext uri="{FF2B5EF4-FFF2-40B4-BE49-F238E27FC236}">
                <a16:creationId xmlns:a16="http://schemas.microsoft.com/office/drawing/2014/main" id="{7F1C66E9-076F-E1B6-D5FD-63D5421F1ED4}"/>
              </a:ext>
            </a:extLst>
          </p:cNvPr>
          <p:cNvCxnSpPr>
            <a:cxnSpLocks noChangeShapeType="1"/>
            <a:stCxn id="29" idx="2"/>
            <a:endCxn id="33" idx="1"/>
          </p:cNvCxnSpPr>
          <p:nvPr/>
        </p:nvCxnSpPr>
        <p:spPr bwMode="auto">
          <a:xfrm rot="16200000" flipH="1">
            <a:off x="2225331" y="4137369"/>
            <a:ext cx="616639" cy="1333500"/>
          </a:xfrm>
          <a:prstGeom prst="bentConnector2">
            <a:avLst/>
          </a:prstGeom>
          <a:noFill/>
          <a:ln w="12700">
            <a:solidFill>
              <a:schemeClr val="tx1"/>
            </a:solidFill>
            <a:miter lim="800000"/>
            <a:headEnd/>
            <a:tailEnd type="triangle" w="med" len="med"/>
          </a:ln>
        </p:spPr>
      </p:cxnSp>
      <p:cxnSp>
        <p:nvCxnSpPr>
          <p:cNvPr id="42" name="AutoShape 1073">
            <a:extLst>
              <a:ext uri="{FF2B5EF4-FFF2-40B4-BE49-F238E27FC236}">
                <a16:creationId xmlns:a16="http://schemas.microsoft.com/office/drawing/2014/main" id="{F6EA54DC-1CB2-79BE-EBE5-630301A5B205}"/>
              </a:ext>
            </a:extLst>
          </p:cNvPr>
          <p:cNvCxnSpPr>
            <a:cxnSpLocks noChangeShapeType="1"/>
            <a:stCxn id="33" idx="2"/>
          </p:cNvCxnSpPr>
          <p:nvPr/>
        </p:nvCxnSpPr>
        <p:spPr bwMode="auto">
          <a:xfrm rot="16200000" flipH="1">
            <a:off x="3747959" y="5839027"/>
            <a:ext cx="357114" cy="4432"/>
          </a:xfrm>
          <a:prstGeom prst="bentConnector3">
            <a:avLst>
              <a:gd name="adj1" fmla="val 50000"/>
            </a:avLst>
          </a:prstGeom>
          <a:noFill/>
          <a:ln w="12700">
            <a:solidFill>
              <a:schemeClr val="tx1"/>
            </a:solidFill>
            <a:miter lim="800000"/>
            <a:headEnd/>
            <a:tailEnd type="triangle" w="med" len="med"/>
          </a:ln>
        </p:spPr>
      </p:cxnSp>
      <p:sp>
        <p:nvSpPr>
          <p:cNvPr id="43" name="AutoShape 1342">
            <a:extLst>
              <a:ext uri="{FF2B5EF4-FFF2-40B4-BE49-F238E27FC236}">
                <a16:creationId xmlns:a16="http://schemas.microsoft.com/office/drawing/2014/main" id="{A657F792-F642-C7B2-2077-58D4A5897842}"/>
              </a:ext>
            </a:extLst>
          </p:cNvPr>
          <p:cNvSpPr>
            <a:spLocks noChangeArrowheads="1"/>
          </p:cNvSpPr>
          <p:nvPr/>
        </p:nvSpPr>
        <p:spPr bwMode="auto">
          <a:xfrm>
            <a:off x="3771900" y="6072114"/>
            <a:ext cx="304800" cy="304800"/>
          </a:xfrm>
          <a:prstGeom prst="flowChartConnector">
            <a:avLst/>
          </a:prstGeom>
          <a:noFill/>
          <a:ln w="12700">
            <a:solidFill>
              <a:schemeClr val="tx1"/>
            </a:solidFill>
            <a:round/>
            <a:headEnd/>
            <a:tailEnd/>
          </a:ln>
        </p:spPr>
        <p:txBody>
          <a:bodyPr wrap="none" lIns="91434" tIns="45717" rIns="91434" bIns="45717" anchor="ctr"/>
          <a:lstStyle/>
          <a:p>
            <a:pPr algn="ctr"/>
            <a:r>
              <a:rPr lang="en-US" i="0" dirty="0">
                <a:hlinkClick r:id="rId4" action="ppaction://hlinksldjump"/>
              </a:rPr>
              <a:t>12</a:t>
            </a:r>
            <a:endParaRPr lang="en-US" i="0" dirty="0"/>
          </a:p>
        </p:txBody>
      </p:sp>
    </p:spTree>
    <p:extLst>
      <p:ext uri="{BB962C8B-B14F-4D97-AF65-F5344CB8AC3E}">
        <p14:creationId xmlns:p14="http://schemas.microsoft.com/office/powerpoint/2010/main" val="2891940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oup 1307">
            <a:extLst>
              <a:ext uri="{FF2B5EF4-FFF2-40B4-BE49-F238E27FC236}">
                <a16:creationId xmlns:a16="http://schemas.microsoft.com/office/drawing/2014/main" id="{DBE6D937-E282-AA47-F8D0-E80549A7C68F}"/>
              </a:ext>
            </a:extLst>
          </p:cNvPr>
          <p:cNvGraphicFramePr>
            <a:graphicFrameLocks noGrp="1"/>
          </p:cNvGraphicFramePr>
          <p:nvPr>
            <p:extLst>
              <p:ext uri="{D42A27DB-BD31-4B8C-83A1-F6EECF244321}">
                <p14:modId xmlns:p14="http://schemas.microsoft.com/office/powerpoint/2010/main" val="2884532401"/>
              </p:ext>
            </p:extLst>
          </p:nvPr>
        </p:nvGraphicFramePr>
        <p:xfrm>
          <a:off x="2514600" y="4114800"/>
          <a:ext cx="1371600" cy="1075413"/>
        </p:xfrm>
        <a:graphic>
          <a:graphicData uri="http://schemas.openxmlformats.org/drawingml/2006/table">
            <a:tbl>
              <a:tblPr/>
              <a:tblGrid>
                <a:gridCol w="231775">
                  <a:extLst>
                    <a:ext uri="{9D8B030D-6E8A-4147-A177-3AD203B41FA5}">
                      <a16:colId xmlns:a16="http://schemas.microsoft.com/office/drawing/2014/main" val="20000"/>
                    </a:ext>
                  </a:extLst>
                </a:gridCol>
                <a:gridCol w="1139825">
                  <a:extLst>
                    <a:ext uri="{9D8B030D-6E8A-4147-A177-3AD203B41FA5}">
                      <a16:colId xmlns:a16="http://schemas.microsoft.com/office/drawing/2014/main" val="20001"/>
                    </a:ext>
                  </a:extLst>
                </a:gridCol>
              </a:tblGrid>
              <a:tr h="270741">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13</a:t>
                      </a: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a:ln>
                            <a:noFill/>
                          </a:ln>
                          <a:solidFill>
                            <a:schemeClr val="tx1"/>
                          </a:solidFill>
                          <a:effectLst/>
                          <a:latin typeface="Arial" charset="0"/>
                        </a:rPr>
                        <a:t>Receiving Plant</a:t>
                      </a:r>
                    </a:p>
                  </a:txBody>
                  <a:tcPr marL="45720" marR="0" marT="27432" marB="27432"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1175">
                <a:tc gridSpan="2">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Start production at Receiving Plant </a:t>
                      </a:r>
                    </a:p>
                  </a:txBody>
                  <a:tcPr marL="45720" marR="4572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1"/>
                  </a:ext>
                </a:extLst>
              </a:tr>
              <a:tr h="284884">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1" u="none" strike="noStrike" cap="none" normalizeH="0" baseline="0" dirty="0">
                          <a:ln>
                            <a:noFill/>
                          </a:ln>
                          <a:solidFill>
                            <a:schemeClr val="tx1"/>
                          </a:solidFill>
                          <a:effectLst/>
                          <a:latin typeface="Arial" charset="0"/>
                        </a:rPr>
                        <a:t>Transfer Team, Operations Director</a:t>
                      </a:r>
                    </a:p>
                  </a:txBody>
                  <a:tcPr marL="45720" marR="45720" marT="27432" marB="27432"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2"/>
                  </a:ext>
                </a:extLst>
              </a:tr>
            </a:tbl>
          </a:graphicData>
        </a:graphic>
      </p:graphicFrame>
      <p:graphicFrame>
        <p:nvGraphicFramePr>
          <p:cNvPr id="4" name="Group 1473">
            <a:extLst>
              <a:ext uri="{FF2B5EF4-FFF2-40B4-BE49-F238E27FC236}">
                <a16:creationId xmlns:a16="http://schemas.microsoft.com/office/drawing/2014/main" id="{93556AC6-3219-FAD0-EFBE-14995FE63B5A}"/>
              </a:ext>
            </a:extLst>
          </p:cNvPr>
          <p:cNvGraphicFramePr>
            <a:graphicFrameLocks noGrp="1"/>
          </p:cNvGraphicFramePr>
          <p:nvPr>
            <p:extLst>
              <p:ext uri="{D42A27DB-BD31-4B8C-83A1-F6EECF244321}">
                <p14:modId xmlns:p14="http://schemas.microsoft.com/office/powerpoint/2010/main" val="530937634"/>
              </p:ext>
            </p:extLst>
          </p:nvPr>
        </p:nvGraphicFramePr>
        <p:xfrm>
          <a:off x="6477000" y="1765002"/>
          <a:ext cx="1295400" cy="1458107"/>
        </p:xfrm>
        <a:graphic>
          <a:graphicData uri="http://schemas.openxmlformats.org/drawingml/2006/table">
            <a:tbl>
              <a:tblPr/>
              <a:tblGrid>
                <a:gridCol w="218898">
                  <a:extLst>
                    <a:ext uri="{9D8B030D-6E8A-4147-A177-3AD203B41FA5}">
                      <a16:colId xmlns:a16="http://schemas.microsoft.com/office/drawing/2014/main" val="20000"/>
                    </a:ext>
                  </a:extLst>
                </a:gridCol>
                <a:gridCol w="1076502">
                  <a:extLst>
                    <a:ext uri="{9D8B030D-6E8A-4147-A177-3AD203B41FA5}">
                      <a16:colId xmlns:a16="http://schemas.microsoft.com/office/drawing/2014/main" val="20001"/>
                    </a:ext>
                  </a:extLst>
                </a:gridCol>
              </a:tblGrid>
              <a:tr h="316123">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rgbClr val="FF0000"/>
                          </a:solidFill>
                          <a:effectLst/>
                          <a:latin typeface="Arial" charset="0"/>
                          <a:hlinkClick r:id="rId3" action="ppaction://hlinksldjump"/>
                        </a:rPr>
                        <a:t>11</a:t>
                      </a:r>
                      <a:endParaRPr kumimoji="0" lang="en-US" sz="900" b="0" i="0" u="none" strike="noStrike" cap="none" normalizeH="0" baseline="0" dirty="0">
                        <a:ln>
                          <a:noFill/>
                        </a:ln>
                        <a:solidFill>
                          <a:srgbClr val="FF0000"/>
                        </a:solidFill>
                        <a:effectLst/>
                        <a:latin typeface="Arial" charset="0"/>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Business Transfer Manager</a:t>
                      </a:r>
                      <a:r>
                        <a:rPr kumimoji="0" lang="en-US" sz="900" b="0" i="0" u="none" strike="noStrike" cap="none" normalizeH="0" baseline="0" dirty="0">
                          <a:ln>
                            <a:noFill/>
                          </a:ln>
                          <a:solidFill>
                            <a:schemeClr val="tx1"/>
                          </a:solidFill>
                          <a:effectLst/>
                          <a:latin typeface="Arial" charset="0"/>
                        </a:rPr>
                        <a:t> </a:t>
                      </a:r>
                    </a:p>
                  </a:txBody>
                  <a:tcPr marL="45720" marR="0" marT="27432" marB="27432"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2077">
                <a:tc gridSpan="2">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Execute and validate the action plan  or escalate problems in case is needed</a:t>
                      </a:r>
                    </a:p>
                  </a:txBody>
                  <a:tcPr marL="45720" marR="4572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1"/>
                  </a:ext>
                </a:extLst>
              </a:tr>
              <a:tr h="534000">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defRPr/>
                      </a:pPr>
                      <a:r>
                        <a:rPr kumimoji="0" lang="en-US" sz="900" b="0" i="1" u="none" strike="noStrike" cap="none" normalizeH="0" baseline="0" dirty="0">
                          <a:ln>
                            <a:noFill/>
                          </a:ln>
                          <a:solidFill>
                            <a:schemeClr val="tx1"/>
                          </a:solidFill>
                          <a:effectLst/>
                          <a:latin typeface="Arial" charset="0"/>
                        </a:rPr>
                        <a:t>Transfer Team, </a:t>
                      </a:r>
                      <a:r>
                        <a:rPr kumimoji="0" lang="en-US" sz="900" b="0" i="0" u="none" strike="noStrike" cap="none" normalizeH="0" baseline="0" dirty="0">
                          <a:ln>
                            <a:noFill/>
                          </a:ln>
                          <a:solidFill>
                            <a:schemeClr val="tx1"/>
                          </a:solidFill>
                          <a:effectLst/>
                          <a:latin typeface="Arial" charset="0"/>
                        </a:rPr>
                        <a:t>PBU Director,  Operations Director, BU Director</a:t>
                      </a:r>
                      <a:endParaRPr kumimoji="0" lang="en-US" sz="900" b="0" i="1" u="none" strike="noStrike" cap="none" normalizeH="0" baseline="0" dirty="0">
                        <a:ln>
                          <a:noFill/>
                        </a:ln>
                        <a:solidFill>
                          <a:schemeClr val="tx1"/>
                        </a:solidFill>
                        <a:effectLst/>
                        <a:latin typeface="Arial" charset="0"/>
                      </a:endParaRP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900" b="0" i="1" u="none" strike="noStrike" cap="none" normalizeH="0" baseline="0" dirty="0">
                        <a:ln>
                          <a:noFill/>
                        </a:ln>
                        <a:solidFill>
                          <a:schemeClr val="tx1"/>
                        </a:solidFill>
                        <a:effectLst/>
                        <a:latin typeface="Arial" charset="0"/>
                      </a:endParaRPr>
                    </a:p>
                  </a:txBody>
                  <a:tcPr marL="45720" marR="45720" marT="27432" marB="27432"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2"/>
                  </a:ext>
                </a:extLst>
              </a:tr>
            </a:tbl>
          </a:graphicData>
        </a:graphic>
      </p:graphicFrame>
      <p:sp>
        <p:nvSpPr>
          <p:cNvPr id="5" name="AutoShape 1342">
            <a:extLst>
              <a:ext uri="{FF2B5EF4-FFF2-40B4-BE49-F238E27FC236}">
                <a16:creationId xmlns:a16="http://schemas.microsoft.com/office/drawing/2014/main" id="{BFD690F2-A0D3-60E5-3708-16F4C5C9F4B3}"/>
              </a:ext>
            </a:extLst>
          </p:cNvPr>
          <p:cNvSpPr>
            <a:spLocks noChangeArrowheads="1"/>
          </p:cNvSpPr>
          <p:nvPr/>
        </p:nvSpPr>
        <p:spPr bwMode="auto">
          <a:xfrm>
            <a:off x="8286303" y="2340934"/>
            <a:ext cx="304800" cy="303213"/>
          </a:xfrm>
          <a:prstGeom prst="flowChartConnector">
            <a:avLst/>
          </a:prstGeom>
          <a:noFill/>
          <a:ln w="12700">
            <a:solidFill>
              <a:schemeClr val="tx1"/>
            </a:solidFill>
            <a:round/>
            <a:headEnd/>
            <a:tailEnd/>
          </a:ln>
        </p:spPr>
        <p:txBody>
          <a:bodyPr wrap="none" lIns="91434" tIns="45717" rIns="91434" bIns="45717" anchor="ctr"/>
          <a:lstStyle/>
          <a:p>
            <a:pPr algn="ctr"/>
            <a:r>
              <a:rPr lang="en-US" i="0" dirty="0"/>
              <a:t>12</a:t>
            </a:r>
          </a:p>
        </p:txBody>
      </p:sp>
      <p:cxnSp>
        <p:nvCxnSpPr>
          <p:cNvPr id="7" name="AutoShape 1413">
            <a:extLst>
              <a:ext uri="{FF2B5EF4-FFF2-40B4-BE49-F238E27FC236}">
                <a16:creationId xmlns:a16="http://schemas.microsoft.com/office/drawing/2014/main" id="{58AE1CCA-4B97-F228-D8F4-23744B31B77C}"/>
              </a:ext>
            </a:extLst>
          </p:cNvPr>
          <p:cNvCxnSpPr>
            <a:cxnSpLocks noChangeShapeType="1"/>
            <a:stCxn id="8" idx="3"/>
            <a:endCxn id="3" idx="1"/>
          </p:cNvCxnSpPr>
          <p:nvPr/>
        </p:nvCxnSpPr>
        <p:spPr bwMode="auto">
          <a:xfrm>
            <a:off x="2057400" y="4648200"/>
            <a:ext cx="457200" cy="4306"/>
          </a:xfrm>
          <a:prstGeom prst="bentConnector3">
            <a:avLst>
              <a:gd name="adj1" fmla="val 50000"/>
            </a:avLst>
          </a:prstGeom>
          <a:noFill/>
          <a:ln w="12700">
            <a:solidFill>
              <a:schemeClr val="tx1"/>
            </a:solidFill>
            <a:miter lim="800000"/>
            <a:headEnd/>
            <a:tailEnd type="triangle" w="med" len="med"/>
          </a:ln>
        </p:spPr>
      </p:cxnSp>
      <p:graphicFrame>
        <p:nvGraphicFramePr>
          <p:cNvPr id="8" name="Group 1481">
            <a:extLst>
              <a:ext uri="{FF2B5EF4-FFF2-40B4-BE49-F238E27FC236}">
                <a16:creationId xmlns:a16="http://schemas.microsoft.com/office/drawing/2014/main" id="{37B64F47-3CE4-2D25-72C2-19D8ABCADCCC}"/>
              </a:ext>
            </a:extLst>
          </p:cNvPr>
          <p:cNvGraphicFramePr>
            <a:graphicFrameLocks noGrp="1"/>
          </p:cNvGraphicFramePr>
          <p:nvPr>
            <p:extLst>
              <p:ext uri="{D42A27DB-BD31-4B8C-83A1-F6EECF244321}">
                <p14:modId xmlns:p14="http://schemas.microsoft.com/office/powerpoint/2010/main" val="2790811428"/>
              </p:ext>
            </p:extLst>
          </p:nvPr>
        </p:nvGraphicFramePr>
        <p:xfrm>
          <a:off x="609600" y="4114800"/>
          <a:ext cx="1447800" cy="1066801"/>
        </p:xfrm>
        <a:graphic>
          <a:graphicData uri="http://schemas.openxmlformats.org/drawingml/2006/table">
            <a:tbl>
              <a:tblPr/>
              <a:tblGrid>
                <a:gridCol w="244652">
                  <a:extLst>
                    <a:ext uri="{9D8B030D-6E8A-4147-A177-3AD203B41FA5}">
                      <a16:colId xmlns:a16="http://schemas.microsoft.com/office/drawing/2014/main" val="20000"/>
                    </a:ext>
                  </a:extLst>
                </a:gridCol>
                <a:gridCol w="1203148">
                  <a:extLst>
                    <a:ext uri="{9D8B030D-6E8A-4147-A177-3AD203B41FA5}">
                      <a16:colId xmlns:a16="http://schemas.microsoft.com/office/drawing/2014/main" val="20001"/>
                    </a:ext>
                  </a:extLst>
                </a:gridCol>
              </a:tblGrid>
              <a:tr h="302111">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hlinkClick r:id="rId3" action="ppaction://hlinksldjump"/>
                        </a:rPr>
                        <a:t>12</a:t>
                      </a:r>
                      <a:endParaRPr kumimoji="0" lang="en-US" sz="900" b="0" i="0" u="none" strike="noStrike" cap="none" normalizeH="0" baseline="0" dirty="0">
                        <a:ln>
                          <a:noFill/>
                        </a:ln>
                        <a:solidFill>
                          <a:schemeClr val="tx1"/>
                        </a:solidFill>
                        <a:effectLst/>
                        <a:latin typeface="Arial" charset="0"/>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Business Transfer Manager</a:t>
                      </a:r>
                    </a:p>
                  </a:txBody>
                  <a:tcPr marL="45720" marR="0" marT="27432" marB="27432"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2579">
                <a:tc gridSpan="2">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Get </a:t>
                      </a:r>
                      <a:r>
                        <a:rPr kumimoji="0" lang="en-US" sz="900" b="0" i="1" u="none" strike="noStrike" cap="none" normalizeH="0" baseline="0" dirty="0">
                          <a:ln>
                            <a:noFill/>
                          </a:ln>
                          <a:solidFill>
                            <a:schemeClr val="tx1"/>
                          </a:solidFill>
                          <a:effectLst/>
                          <a:latin typeface="Arial" charset="0"/>
                        </a:rPr>
                        <a:t>Harnesses BMG / </a:t>
                      </a:r>
                      <a:r>
                        <a:rPr kumimoji="0" lang="en-US" sz="900" b="0" i="0" u="none" strike="noStrike" cap="none" normalizeH="0" baseline="0" dirty="0">
                          <a:ln>
                            <a:noFill/>
                          </a:ln>
                          <a:solidFill>
                            <a:schemeClr val="tx1"/>
                          </a:solidFill>
                          <a:effectLst/>
                          <a:latin typeface="Arial" charset="0"/>
                        </a:rPr>
                        <a:t>PPAP and Run &amp; Rate approval when required</a:t>
                      </a:r>
                    </a:p>
                  </a:txBody>
                  <a:tcPr marL="45720" marR="4572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1"/>
                  </a:ext>
                </a:extLst>
              </a:tr>
              <a:tr h="302111">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1" u="none" strike="noStrike" cap="none" normalizeH="0" baseline="0" dirty="0">
                          <a:ln>
                            <a:noFill/>
                          </a:ln>
                          <a:solidFill>
                            <a:schemeClr val="tx1"/>
                          </a:solidFill>
                          <a:effectLst/>
                          <a:latin typeface="Arial" charset="0"/>
                        </a:rPr>
                        <a:t>BU Director, </a:t>
                      </a:r>
                      <a:r>
                        <a:rPr kumimoji="0" lang="en-US" sz="900" b="0" i="0" u="none" strike="noStrike" cap="none" normalizeH="0" baseline="0" dirty="0">
                          <a:ln>
                            <a:noFill/>
                          </a:ln>
                          <a:solidFill>
                            <a:schemeClr val="tx1"/>
                          </a:solidFill>
                          <a:effectLst/>
                          <a:latin typeface="Arial" charset="0"/>
                        </a:rPr>
                        <a:t>Customer</a:t>
                      </a:r>
                      <a:endParaRPr kumimoji="0" lang="en-US" sz="900" b="0" i="1" u="none" strike="noStrike" cap="none" normalizeH="0" baseline="0" dirty="0">
                        <a:ln>
                          <a:noFill/>
                        </a:ln>
                        <a:solidFill>
                          <a:schemeClr val="tx1"/>
                        </a:solidFill>
                        <a:effectLst/>
                        <a:latin typeface="Arial" charset="0"/>
                      </a:endParaRPr>
                    </a:p>
                  </a:txBody>
                  <a:tcPr marL="45720" marR="45720" marT="27432" marB="27432"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2"/>
                  </a:ext>
                </a:extLst>
              </a:tr>
            </a:tbl>
          </a:graphicData>
        </a:graphic>
      </p:graphicFrame>
      <p:cxnSp>
        <p:nvCxnSpPr>
          <p:cNvPr id="9" name="AutoShape 1430">
            <a:extLst>
              <a:ext uri="{FF2B5EF4-FFF2-40B4-BE49-F238E27FC236}">
                <a16:creationId xmlns:a16="http://schemas.microsoft.com/office/drawing/2014/main" id="{D8165F7C-C50C-07CF-0BF1-805C18C70802}"/>
              </a:ext>
            </a:extLst>
          </p:cNvPr>
          <p:cNvCxnSpPr>
            <a:cxnSpLocks noChangeShapeType="1"/>
            <a:stCxn id="3" idx="3"/>
            <a:endCxn id="10" idx="1"/>
          </p:cNvCxnSpPr>
          <p:nvPr/>
        </p:nvCxnSpPr>
        <p:spPr bwMode="auto">
          <a:xfrm flipV="1">
            <a:off x="3886200" y="4648200"/>
            <a:ext cx="381000" cy="4306"/>
          </a:xfrm>
          <a:prstGeom prst="bentConnector3">
            <a:avLst>
              <a:gd name="adj1" fmla="val 50000"/>
            </a:avLst>
          </a:prstGeom>
          <a:noFill/>
          <a:ln w="12700">
            <a:solidFill>
              <a:schemeClr val="tx1"/>
            </a:solidFill>
            <a:miter lim="800000"/>
            <a:headEnd/>
            <a:tailEnd type="triangle" w="med" len="med"/>
          </a:ln>
        </p:spPr>
      </p:cxnSp>
      <p:graphicFrame>
        <p:nvGraphicFramePr>
          <p:cNvPr id="10" name="Group 1472">
            <a:extLst>
              <a:ext uri="{FF2B5EF4-FFF2-40B4-BE49-F238E27FC236}">
                <a16:creationId xmlns:a16="http://schemas.microsoft.com/office/drawing/2014/main" id="{9C48D475-6B65-5074-4F46-00AF79AF142C}"/>
              </a:ext>
            </a:extLst>
          </p:cNvPr>
          <p:cNvGraphicFramePr>
            <a:graphicFrameLocks noGrp="1"/>
          </p:cNvGraphicFramePr>
          <p:nvPr>
            <p:extLst>
              <p:ext uri="{D42A27DB-BD31-4B8C-83A1-F6EECF244321}">
                <p14:modId xmlns:p14="http://schemas.microsoft.com/office/powerpoint/2010/main" val="1449554162"/>
              </p:ext>
            </p:extLst>
          </p:nvPr>
        </p:nvGraphicFramePr>
        <p:xfrm>
          <a:off x="4267200" y="4114800"/>
          <a:ext cx="1371600" cy="1066800"/>
        </p:xfrm>
        <a:graphic>
          <a:graphicData uri="http://schemas.openxmlformats.org/drawingml/2006/table">
            <a:tbl>
              <a:tblPr/>
              <a:tblGrid>
                <a:gridCol w="231775">
                  <a:extLst>
                    <a:ext uri="{9D8B030D-6E8A-4147-A177-3AD203B41FA5}">
                      <a16:colId xmlns:a16="http://schemas.microsoft.com/office/drawing/2014/main" val="20000"/>
                    </a:ext>
                  </a:extLst>
                </a:gridCol>
                <a:gridCol w="1139825">
                  <a:extLst>
                    <a:ext uri="{9D8B030D-6E8A-4147-A177-3AD203B41FA5}">
                      <a16:colId xmlns:a16="http://schemas.microsoft.com/office/drawing/2014/main" val="20001"/>
                    </a:ext>
                  </a:extLst>
                </a:gridCol>
              </a:tblGrid>
              <a:tr h="302111">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2"/>
                          </a:solidFill>
                          <a:effectLst/>
                          <a:latin typeface="Arial" charset="0"/>
                          <a:hlinkClick r:id="rId3" action="ppaction://hlinksldjump"/>
                        </a:rPr>
                        <a:t>14</a:t>
                      </a:r>
                      <a:endParaRPr kumimoji="0" lang="en-US" sz="900" b="0" i="0" u="none" strike="noStrike" cap="none" normalizeH="0" baseline="0" dirty="0">
                        <a:ln>
                          <a:noFill/>
                        </a:ln>
                        <a:solidFill>
                          <a:schemeClr val="tx2"/>
                        </a:solidFill>
                        <a:effectLst/>
                        <a:latin typeface="Arial" charset="0"/>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Business Transfer Manager  or BU</a:t>
                      </a:r>
                    </a:p>
                  </a:txBody>
                  <a:tcPr marL="45720" marR="0" marT="27432" marB="27432"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9760">
                <a:tc gridSpan="2">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Close  Transfer and Review  Metrics</a:t>
                      </a:r>
                    </a:p>
                  </a:txBody>
                  <a:tcPr marL="45720" marR="4572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1"/>
                  </a:ext>
                </a:extLst>
              </a:tr>
              <a:tr h="424929">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1" u="none" strike="noStrike" cap="none" normalizeH="0" baseline="0" dirty="0">
                          <a:ln>
                            <a:noFill/>
                          </a:ln>
                          <a:solidFill>
                            <a:schemeClr val="tx1"/>
                          </a:solidFill>
                          <a:effectLst/>
                          <a:latin typeface="Arial" charset="0"/>
                        </a:rPr>
                        <a:t>BU Director, BU Director, Operations Director</a:t>
                      </a:r>
                    </a:p>
                  </a:txBody>
                  <a:tcPr marL="45720" marR="45720" marT="27432" marB="27432"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2"/>
                  </a:ext>
                </a:extLst>
              </a:tr>
            </a:tbl>
          </a:graphicData>
        </a:graphic>
      </p:graphicFrame>
      <p:cxnSp>
        <p:nvCxnSpPr>
          <p:cNvPr id="12" name="AutoShape 1488">
            <a:extLst>
              <a:ext uri="{FF2B5EF4-FFF2-40B4-BE49-F238E27FC236}">
                <a16:creationId xmlns:a16="http://schemas.microsoft.com/office/drawing/2014/main" id="{2022B1AA-D07C-B5FA-CB18-89F9E7967CA6}"/>
              </a:ext>
            </a:extLst>
          </p:cNvPr>
          <p:cNvCxnSpPr>
            <a:cxnSpLocks noChangeShapeType="1"/>
            <a:stCxn id="4" idx="3"/>
            <a:endCxn id="5" idx="2"/>
          </p:cNvCxnSpPr>
          <p:nvPr/>
        </p:nvCxnSpPr>
        <p:spPr bwMode="auto">
          <a:xfrm flipV="1">
            <a:off x="7772400" y="2492541"/>
            <a:ext cx="513903" cy="1514"/>
          </a:xfrm>
          <a:prstGeom prst="straightConnector1">
            <a:avLst/>
          </a:prstGeom>
          <a:noFill/>
          <a:ln w="12700">
            <a:solidFill>
              <a:schemeClr val="tx1"/>
            </a:solidFill>
            <a:round/>
            <a:headEnd/>
            <a:tailEnd type="triangle" w="med" len="med"/>
          </a:ln>
        </p:spPr>
      </p:cxnSp>
      <p:graphicFrame>
        <p:nvGraphicFramePr>
          <p:cNvPr id="13" name="Group 2">
            <a:extLst>
              <a:ext uri="{FF2B5EF4-FFF2-40B4-BE49-F238E27FC236}">
                <a16:creationId xmlns:a16="http://schemas.microsoft.com/office/drawing/2014/main" id="{2E893E9E-1934-631B-6F46-9422615C13FF}"/>
              </a:ext>
            </a:extLst>
          </p:cNvPr>
          <p:cNvGraphicFramePr>
            <a:graphicFrameLocks noGrp="1"/>
          </p:cNvGraphicFramePr>
          <p:nvPr>
            <p:extLst>
              <p:ext uri="{D42A27DB-BD31-4B8C-83A1-F6EECF244321}">
                <p14:modId xmlns:p14="http://schemas.microsoft.com/office/powerpoint/2010/main" val="4120711493"/>
              </p:ext>
            </p:extLst>
          </p:nvPr>
        </p:nvGraphicFramePr>
        <p:xfrm>
          <a:off x="2514600" y="1731334"/>
          <a:ext cx="1524000" cy="1136621"/>
        </p:xfrm>
        <a:graphic>
          <a:graphicData uri="http://schemas.openxmlformats.org/drawingml/2006/table">
            <a:tbl>
              <a:tblPr/>
              <a:tblGrid>
                <a:gridCol w="196850">
                  <a:extLst>
                    <a:ext uri="{9D8B030D-6E8A-4147-A177-3AD203B41FA5}">
                      <a16:colId xmlns:a16="http://schemas.microsoft.com/office/drawing/2014/main" val="20000"/>
                    </a:ext>
                  </a:extLst>
                </a:gridCol>
                <a:gridCol w="1327150">
                  <a:extLst>
                    <a:ext uri="{9D8B030D-6E8A-4147-A177-3AD203B41FA5}">
                      <a16:colId xmlns:a16="http://schemas.microsoft.com/office/drawing/2014/main" val="20001"/>
                    </a:ext>
                  </a:extLst>
                </a:gridCol>
              </a:tblGrid>
              <a:tr h="27379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dirty="0">
                          <a:ln>
                            <a:noFill/>
                          </a:ln>
                          <a:solidFill>
                            <a:schemeClr val="tx1"/>
                          </a:solidFill>
                          <a:effectLst/>
                          <a:latin typeface="Arial" pitchFamily="34" charset="0"/>
                        </a:rPr>
                        <a:t>10</a:t>
                      </a:r>
                      <a:endParaRPr kumimoji="0" lang="en-US" sz="1800" b="0" i="0" u="none" strike="noStrike" cap="none" normalizeH="0" baseline="0" dirty="0">
                        <a:ln>
                          <a:noFill/>
                        </a:ln>
                        <a:solidFill>
                          <a:schemeClr val="tx1"/>
                        </a:solidFill>
                        <a:effectLst/>
                        <a:latin typeface="Arial" pitchFamily="34" charset="0"/>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dirty="0">
                          <a:ln>
                            <a:noFill/>
                          </a:ln>
                          <a:solidFill>
                            <a:schemeClr val="tx1"/>
                          </a:solidFill>
                          <a:effectLst/>
                          <a:latin typeface="Arial" pitchFamily="34" charset="0"/>
                        </a:rPr>
                        <a:t>Assessment Team</a:t>
                      </a:r>
                      <a:endParaRPr kumimoji="0" lang="en-US" sz="1800" b="1" i="0" u="none" strike="noStrike" cap="none" normalizeH="0" baseline="0" dirty="0">
                        <a:ln>
                          <a:noFill/>
                        </a:ln>
                        <a:solidFill>
                          <a:schemeClr val="tx1"/>
                        </a:solidFill>
                        <a:effectLst/>
                        <a:latin typeface="Arial" pitchFamily="34" charset="0"/>
                      </a:endParaRPr>
                    </a:p>
                  </a:txBody>
                  <a:tcPr marL="45720" marR="0" marT="27432" marB="27432"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7074">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dirty="0">
                          <a:ln>
                            <a:noFill/>
                          </a:ln>
                          <a:solidFill>
                            <a:schemeClr val="tx1"/>
                          </a:solidFill>
                          <a:effectLst/>
                          <a:latin typeface="Arial" pitchFamily="34" charset="0"/>
                        </a:rPr>
                        <a:t>Perform the Assessment. </a:t>
                      </a:r>
                      <a:endParaRPr kumimoji="0" lang="en-US" sz="1800" b="0" i="0" u="none" strike="noStrike" cap="none" normalizeH="0" baseline="0" dirty="0">
                        <a:ln>
                          <a:noFill/>
                        </a:ln>
                        <a:solidFill>
                          <a:schemeClr val="tx1"/>
                        </a:solidFill>
                        <a:effectLst/>
                        <a:latin typeface="Arial" pitchFamily="34" charset="0"/>
                      </a:endParaRPr>
                    </a:p>
                  </a:txBody>
                  <a:tcPr marL="45720" marR="4572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505755">
                <a:tc gridSpan="2">
                  <a:txBody>
                    <a:bodyPr/>
                    <a:lstStyle/>
                    <a:p>
                      <a:pPr marL="63500" marR="0" lvl="0" indent="-63500" algn="l" defTabSz="947738" rtl="0" eaLnBrk="1" fontAlgn="base" latinLnBrk="0" hangingPunct="1">
                        <a:lnSpc>
                          <a:spcPct val="87000"/>
                        </a:lnSpc>
                        <a:spcBef>
                          <a:spcPct val="20000"/>
                        </a:spcBef>
                        <a:spcAft>
                          <a:spcPct val="0"/>
                        </a:spcAft>
                        <a:buClr>
                          <a:schemeClr val="tx1"/>
                        </a:buClr>
                        <a:buSzTx/>
                        <a:buFontTx/>
                        <a:buChar char="•"/>
                        <a:tabLst/>
                      </a:pPr>
                      <a:r>
                        <a:rPr kumimoji="0" lang="de-DE" sz="800" b="0" i="0" u="none" strike="noStrike" cap="none" normalizeH="0" baseline="0" dirty="0">
                          <a:ln>
                            <a:noFill/>
                          </a:ln>
                          <a:solidFill>
                            <a:schemeClr val="tx2"/>
                          </a:solidFill>
                          <a:effectLst/>
                          <a:latin typeface="Arial" charset="0"/>
                        </a:rPr>
                        <a:t>EAGP-4.4-CS-01 </a:t>
                      </a:r>
                      <a:r>
                        <a:rPr kumimoji="0" lang="de-DE" sz="800" b="0" i="0" u="none" strike="noStrike" cap="none" normalizeH="0" baseline="0" dirty="0" err="1">
                          <a:ln>
                            <a:noFill/>
                          </a:ln>
                          <a:solidFill>
                            <a:schemeClr val="tx1"/>
                          </a:solidFill>
                          <a:effectLst/>
                          <a:latin typeface="Arial" charset="0"/>
                        </a:rPr>
                        <a:t>Production</a:t>
                      </a:r>
                      <a:r>
                        <a:rPr kumimoji="0" lang="de-DE" sz="800" b="0" i="0" u="none" strike="noStrike" cap="none" normalizeH="0" baseline="0" dirty="0">
                          <a:ln>
                            <a:noFill/>
                          </a:ln>
                          <a:solidFill>
                            <a:schemeClr val="tx1"/>
                          </a:solidFill>
                          <a:effectLst/>
                          <a:latin typeface="Arial" charset="0"/>
                        </a:rPr>
                        <a:t> </a:t>
                      </a:r>
                      <a:r>
                        <a:rPr kumimoji="0" lang="de-DE" sz="800" b="0" i="0" u="none" strike="noStrike" cap="none" normalizeH="0" baseline="0" dirty="0" err="1">
                          <a:ln>
                            <a:noFill/>
                          </a:ln>
                          <a:solidFill>
                            <a:schemeClr val="tx1"/>
                          </a:solidFill>
                          <a:effectLst/>
                          <a:latin typeface="Arial" charset="0"/>
                        </a:rPr>
                        <a:t>Readiness</a:t>
                      </a:r>
                      <a:r>
                        <a:rPr kumimoji="0" lang="de-DE" sz="800" b="0" i="0" u="none" strike="noStrike" cap="none" normalizeH="0" baseline="0" dirty="0">
                          <a:ln>
                            <a:noFill/>
                          </a:ln>
                          <a:solidFill>
                            <a:schemeClr val="tx1"/>
                          </a:solidFill>
                          <a:effectLst/>
                          <a:latin typeface="Arial" charset="0"/>
                        </a:rPr>
                        <a:t> Assessment</a:t>
                      </a:r>
                      <a:endParaRPr kumimoji="0" lang="en-US" sz="800" b="0" i="0" u="none" strike="noStrike" cap="none" normalizeH="0" baseline="0" dirty="0">
                        <a:ln>
                          <a:noFill/>
                        </a:ln>
                        <a:solidFill>
                          <a:schemeClr val="tx1"/>
                        </a:solidFill>
                        <a:effectLst/>
                        <a:latin typeface="Arial" charset="0"/>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800" b="0" i="0" u="none" strike="noStrike" cap="none" normalizeH="0" baseline="0" dirty="0">
                        <a:ln>
                          <a:noFill/>
                        </a:ln>
                        <a:solidFill>
                          <a:srgbClr val="FF0000"/>
                        </a:solidFill>
                        <a:effectLst/>
                        <a:latin typeface="Arial" pitchFamily="34" charset="0"/>
                      </a:endParaRPr>
                    </a:p>
                  </a:txBody>
                  <a:tcPr marL="45720" marR="45720" marT="27432" marB="27432"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graphicFrame>
        <p:nvGraphicFramePr>
          <p:cNvPr id="14" name="Group 1487">
            <a:extLst>
              <a:ext uri="{FF2B5EF4-FFF2-40B4-BE49-F238E27FC236}">
                <a16:creationId xmlns:a16="http://schemas.microsoft.com/office/drawing/2014/main" id="{84CA02E7-3F05-3292-4562-17EBCF925A4E}"/>
              </a:ext>
            </a:extLst>
          </p:cNvPr>
          <p:cNvGraphicFramePr>
            <a:graphicFrameLocks noGrp="1"/>
          </p:cNvGraphicFramePr>
          <p:nvPr>
            <p:extLst>
              <p:ext uri="{D42A27DB-BD31-4B8C-83A1-F6EECF244321}">
                <p14:modId xmlns:p14="http://schemas.microsoft.com/office/powerpoint/2010/main" val="185154224"/>
              </p:ext>
            </p:extLst>
          </p:nvPr>
        </p:nvGraphicFramePr>
        <p:xfrm>
          <a:off x="609600" y="1731334"/>
          <a:ext cx="1447800" cy="1524000"/>
        </p:xfrm>
        <a:graphic>
          <a:graphicData uri="http://schemas.openxmlformats.org/drawingml/2006/table">
            <a:tbl>
              <a:tblPr/>
              <a:tblGrid>
                <a:gridCol w="241300">
                  <a:extLst>
                    <a:ext uri="{9D8B030D-6E8A-4147-A177-3AD203B41FA5}">
                      <a16:colId xmlns:a16="http://schemas.microsoft.com/office/drawing/2014/main" val="20000"/>
                    </a:ext>
                  </a:extLst>
                </a:gridCol>
                <a:gridCol w="1206500">
                  <a:extLst>
                    <a:ext uri="{9D8B030D-6E8A-4147-A177-3AD203B41FA5}">
                      <a16:colId xmlns:a16="http://schemas.microsoft.com/office/drawing/2014/main" val="20001"/>
                    </a:ext>
                  </a:extLst>
                </a:gridCol>
              </a:tblGrid>
              <a:tr h="319746">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9</a:t>
                      </a: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AQP Manager</a:t>
                      </a:r>
                    </a:p>
                  </a:txBody>
                  <a:tcPr marL="45720" marR="0" marT="27432" marB="27432"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94753">
                <a:tc gridSpan="2">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defRPr/>
                      </a:pPr>
                      <a:r>
                        <a:rPr kumimoji="0" lang="en-US" sz="900" b="0" i="0" u="none" strike="noStrike" cap="none" normalizeH="0" baseline="0" dirty="0">
                          <a:ln>
                            <a:noFill/>
                          </a:ln>
                          <a:solidFill>
                            <a:schemeClr val="tx1"/>
                          </a:solidFill>
                          <a:effectLst/>
                          <a:latin typeface="Arial" charset="0"/>
                        </a:rPr>
                        <a:t>Schedule Production Readiness  Assessment. </a:t>
                      </a:r>
                    </a:p>
                  </a:txBody>
                  <a:tcPr marL="45720" marR="4572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1"/>
                  </a:ext>
                </a:extLst>
              </a:tr>
              <a:tr h="309501">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1" u="none" strike="noStrike" cap="none" normalizeH="0" baseline="0" dirty="0">
                          <a:ln>
                            <a:noFill/>
                          </a:ln>
                          <a:solidFill>
                            <a:schemeClr val="tx1"/>
                          </a:solidFill>
                          <a:effectLst/>
                          <a:latin typeface="Arial" charset="0"/>
                        </a:rPr>
                        <a:t>Transfer Team, BTM, Receiving Plant</a:t>
                      </a:r>
                    </a:p>
                  </a:txBody>
                  <a:tcPr marL="45720" marR="45720" marT="27432" marB="27432"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PT"/>
                    </a:p>
                  </a:txBody>
                  <a:tcPr/>
                </a:tc>
                <a:extLst>
                  <a:ext uri="{0D108BD9-81ED-4DB2-BD59-A6C34878D82A}">
                    <a16:rowId xmlns:a16="http://schemas.microsoft.com/office/drawing/2014/main" val="10002"/>
                  </a:ext>
                </a:extLst>
              </a:tr>
            </a:tbl>
          </a:graphicData>
        </a:graphic>
      </p:graphicFrame>
      <p:sp>
        <p:nvSpPr>
          <p:cNvPr id="15" name="AutoShape 1322">
            <a:extLst>
              <a:ext uri="{FF2B5EF4-FFF2-40B4-BE49-F238E27FC236}">
                <a16:creationId xmlns:a16="http://schemas.microsoft.com/office/drawing/2014/main" id="{4B26B728-34B0-4C48-FF5D-7B71773DDEBA}"/>
              </a:ext>
            </a:extLst>
          </p:cNvPr>
          <p:cNvSpPr>
            <a:spLocks noChangeArrowheads="1"/>
          </p:cNvSpPr>
          <p:nvPr/>
        </p:nvSpPr>
        <p:spPr bwMode="auto">
          <a:xfrm>
            <a:off x="4419600" y="2209800"/>
            <a:ext cx="1295400" cy="558800"/>
          </a:xfrm>
          <a:prstGeom prst="flowChartDecision">
            <a:avLst/>
          </a:prstGeom>
          <a:noFill/>
          <a:ln w="12700">
            <a:solidFill>
              <a:schemeClr val="tx1"/>
            </a:solidFill>
            <a:miter lim="800000"/>
            <a:headEnd/>
            <a:tailEnd/>
          </a:ln>
        </p:spPr>
        <p:txBody>
          <a:bodyPr lIns="0" tIns="0" rIns="0" bIns="0" anchor="ctr">
            <a:spAutoFit/>
          </a:bodyPr>
          <a:lstStyle/>
          <a:p>
            <a:pPr algn="ctr"/>
            <a:r>
              <a:rPr lang="en-US" sz="900" i="0" dirty="0"/>
              <a:t>Process approved?</a:t>
            </a:r>
          </a:p>
        </p:txBody>
      </p:sp>
      <p:cxnSp>
        <p:nvCxnSpPr>
          <p:cNvPr id="16" name="AutoShape 992">
            <a:extLst>
              <a:ext uri="{FF2B5EF4-FFF2-40B4-BE49-F238E27FC236}">
                <a16:creationId xmlns:a16="http://schemas.microsoft.com/office/drawing/2014/main" id="{71F4AF69-2FC2-F5B9-9FA5-2B6E5FD29DAD}"/>
              </a:ext>
            </a:extLst>
          </p:cNvPr>
          <p:cNvCxnSpPr>
            <a:cxnSpLocks noChangeShapeType="1"/>
            <a:stCxn id="14" idx="3"/>
            <a:endCxn id="13" idx="1"/>
          </p:cNvCxnSpPr>
          <p:nvPr/>
        </p:nvCxnSpPr>
        <p:spPr bwMode="auto">
          <a:xfrm flipV="1">
            <a:off x="2057400" y="2299644"/>
            <a:ext cx="457200" cy="193690"/>
          </a:xfrm>
          <a:prstGeom prst="bentConnector3">
            <a:avLst>
              <a:gd name="adj1" fmla="val 50000"/>
            </a:avLst>
          </a:prstGeom>
          <a:noFill/>
          <a:ln w="12700">
            <a:solidFill>
              <a:schemeClr val="tx1"/>
            </a:solidFill>
            <a:miter lim="800000"/>
            <a:headEnd/>
            <a:tailEnd type="triangle" w="med" len="med"/>
          </a:ln>
        </p:spPr>
      </p:cxnSp>
      <p:cxnSp>
        <p:nvCxnSpPr>
          <p:cNvPr id="17" name="AutoShape 992">
            <a:extLst>
              <a:ext uri="{FF2B5EF4-FFF2-40B4-BE49-F238E27FC236}">
                <a16:creationId xmlns:a16="http://schemas.microsoft.com/office/drawing/2014/main" id="{B0CD4511-D2B1-25EA-8E50-FB4D0AD1154A}"/>
              </a:ext>
            </a:extLst>
          </p:cNvPr>
          <p:cNvCxnSpPr>
            <a:cxnSpLocks noChangeShapeType="1"/>
            <a:stCxn id="13" idx="3"/>
            <a:endCxn id="15" idx="1"/>
          </p:cNvCxnSpPr>
          <p:nvPr/>
        </p:nvCxnSpPr>
        <p:spPr bwMode="auto">
          <a:xfrm>
            <a:off x="4038600" y="2299644"/>
            <a:ext cx="381000" cy="189556"/>
          </a:xfrm>
          <a:prstGeom prst="bentConnector3">
            <a:avLst>
              <a:gd name="adj1" fmla="val 50000"/>
            </a:avLst>
          </a:prstGeom>
          <a:noFill/>
          <a:ln w="12700">
            <a:solidFill>
              <a:schemeClr val="tx1"/>
            </a:solidFill>
            <a:miter lim="800000"/>
            <a:headEnd/>
            <a:tailEnd type="triangle" w="med" len="med"/>
          </a:ln>
        </p:spPr>
      </p:cxnSp>
      <p:cxnSp>
        <p:nvCxnSpPr>
          <p:cNvPr id="19" name="AutoShape 1430">
            <a:extLst>
              <a:ext uri="{FF2B5EF4-FFF2-40B4-BE49-F238E27FC236}">
                <a16:creationId xmlns:a16="http://schemas.microsoft.com/office/drawing/2014/main" id="{44EF770E-64DD-6F2D-7F7E-04F722165650}"/>
              </a:ext>
            </a:extLst>
          </p:cNvPr>
          <p:cNvCxnSpPr>
            <a:cxnSpLocks noChangeShapeType="1"/>
            <a:stCxn id="15" idx="3"/>
            <a:endCxn id="4" idx="1"/>
          </p:cNvCxnSpPr>
          <p:nvPr/>
        </p:nvCxnSpPr>
        <p:spPr bwMode="auto">
          <a:xfrm>
            <a:off x="5715000" y="2489200"/>
            <a:ext cx="762000" cy="4855"/>
          </a:xfrm>
          <a:prstGeom prst="bentConnector3">
            <a:avLst>
              <a:gd name="adj1" fmla="val 50000"/>
            </a:avLst>
          </a:prstGeom>
          <a:noFill/>
          <a:ln w="12700">
            <a:solidFill>
              <a:schemeClr val="tx1"/>
            </a:solidFill>
            <a:miter lim="800000"/>
            <a:headEnd/>
            <a:tailEnd type="triangle" w="med" len="med"/>
          </a:ln>
        </p:spPr>
      </p:cxnSp>
      <p:sp>
        <p:nvSpPr>
          <p:cNvPr id="20" name="Text Box 1324">
            <a:extLst>
              <a:ext uri="{FF2B5EF4-FFF2-40B4-BE49-F238E27FC236}">
                <a16:creationId xmlns:a16="http://schemas.microsoft.com/office/drawing/2014/main" id="{399AC525-C8BC-94B4-750C-F6DB8D9D7DDF}"/>
              </a:ext>
            </a:extLst>
          </p:cNvPr>
          <p:cNvSpPr txBox="1">
            <a:spLocks noChangeArrowheads="1"/>
          </p:cNvSpPr>
          <p:nvPr/>
        </p:nvSpPr>
        <p:spPr bwMode="auto">
          <a:xfrm>
            <a:off x="5963097" y="2186923"/>
            <a:ext cx="228600" cy="246221"/>
          </a:xfrm>
          <a:prstGeom prst="rect">
            <a:avLst/>
          </a:prstGeom>
          <a:noFill/>
          <a:ln w="12700">
            <a:noFill/>
            <a:miter lim="800000"/>
            <a:headEnd/>
            <a:tailEnd/>
          </a:ln>
        </p:spPr>
        <p:txBody>
          <a:bodyPr wrap="square">
            <a:spAutoFit/>
          </a:bodyPr>
          <a:lstStyle/>
          <a:p>
            <a:r>
              <a:rPr lang="en-US" i="0" dirty="0"/>
              <a:t>N</a:t>
            </a:r>
          </a:p>
        </p:txBody>
      </p:sp>
      <p:sp>
        <p:nvSpPr>
          <p:cNvPr id="21" name="AutoShape 1342">
            <a:extLst>
              <a:ext uri="{FF2B5EF4-FFF2-40B4-BE49-F238E27FC236}">
                <a16:creationId xmlns:a16="http://schemas.microsoft.com/office/drawing/2014/main" id="{2AC7B1F1-6EB3-A3B2-4ED3-024628E7DAD9}"/>
              </a:ext>
            </a:extLst>
          </p:cNvPr>
          <p:cNvSpPr>
            <a:spLocks noChangeArrowheads="1"/>
          </p:cNvSpPr>
          <p:nvPr/>
        </p:nvSpPr>
        <p:spPr bwMode="auto">
          <a:xfrm>
            <a:off x="4921101" y="3125787"/>
            <a:ext cx="304800" cy="303213"/>
          </a:xfrm>
          <a:prstGeom prst="flowChartConnector">
            <a:avLst/>
          </a:prstGeom>
          <a:noFill/>
          <a:ln w="12700">
            <a:solidFill>
              <a:schemeClr val="tx1"/>
            </a:solidFill>
            <a:round/>
            <a:headEnd/>
            <a:tailEnd/>
          </a:ln>
        </p:spPr>
        <p:txBody>
          <a:bodyPr wrap="none" lIns="91434" tIns="45717" rIns="91434" bIns="45717" anchor="ctr"/>
          <a:lstStyle/>
          <a:p>
            <a:pPr algn="ctr"/>
            <a:r>
              <a:rPr lang="en-US" i="0" dirty="0"/>
              <a:t>12</a:t>
            </a:r>
          </a:p>
        </p:txBody>
      </p:sp>
      <p:sp>
        <p:nvSpPr>
          <p:cNvPr id="22" name="Text Box 1324">
            <a:extLst>
              <a:ext uri="{FF2B5EF4-FFF2-40B4-BE49-F238E27FC236}">
                <a16:creationId xmlns:a16="http://schemas.microsoft.com/office/drawing/2014/main" id="{BD7A90DF-11BA-8238-071B-08B87CF6C01E}"/>
              </a:ext>
            </a:extLst>
          </p:cNvPr>
          <p:cNvSpPr txBox="1">
            <a:spLocks noChangeArrowheads="1"/>
          </p:cNvSpPr>
          <p:nvPr/>
        </p:nvSpPr>
        <p:spPr bwMode="auto">
          <a:xfrm>
            <a:off x="5082365" y="2819400"/>
            <a:ext cx="228600" cy="246221"/>
          </a:xfrm>
          <a:prstGeom prst="rect">
            <a:avLst/>
          </a:prstGeom>
          <a:noFill/>
          <a:ln w="12700">
            <a:noFill/>
            <a:miter lim="800000"/>
            <a:headEnd/>
            <a:tailEnd/>
          </a:ln>
        </p:spPr>
        <p:txBody>
          <a:bodyPr wrap="square">
            <a:spAutoFit/>
          </a:bodyPr>
          <a:lstStyle/>
          <a:p>
            <a:r>
              <a:rPr lang="en-US" i="0" dirty="0"/>
              <a:t>Y</a:t>
            </a:r>
          </a:p>
        </p:txBody>
      </p:sp>
      <p:cxnSp>
        <p:nvCxnSpPr>
          <p:cNvPr id="23" name="AutoShape 992">
            <a:extLst>
              <a:ext uri="{FF2B5EF4-FFF2-40B4-BE49-F238E27FC236}">
                <a16:creationId xmlns:a16="http://schemas.microsoft.com/office/drawing/2014/main" id="{A7B54E89-3189-5F29-424B-2985C3E6600C}"/>
              </a:ext>
            </a:extLst>
          </p:cNvPr>
          <p:cNvCxnSpPr>
            <a:cxnSpLocks noChangeShapeType="1"/>
            <a:stCxn id="15" idx="2"/>
            <a:endCxn id="21" idx="0"/>
          </p:cNvCxnSpPr>
          <p:nvPr/>
        </p:nvCxnSpPr>
        <p:spPr bwMode="auto">
          <a:xfrm rot="16200000" flipH="1">
            <a:off x="4891807" y="2944092"/>
            <a:ext cx="357187" cy="6201"/>
          </a:xfrm>
          <a:prstGeom prst="bentConnector3">
            <a:avLst>
              <a:gd name="adj1" fmla="val 50000"/>
            </a:avLst>
          </a:prstGeom>
          <a:noFill/>
          <a:ln w="12700">
            <a:solidFill>
              <a:schemeClr val="tx1"/>
            </a:solidFill>
            <a:miter lim="800000"/>
            <a:headEnd/>
            <a:tailEnd type="triangle" w="med" len="med"/>
          </a:ln>
        </p:spPr>
      </p:cxnSp>
    </p:spTree>
    <p:extLst>
      <p:ext uri="{BB962C8B-B14F-4D97-AF65-F5344CB8AC3E}">
        <p14:creationId xmlns:p14="http://schemas.microsoft.com/office/powerpoint/2010/main" val="2790267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565915800"/>
              </p:ext>
            </p:extLst>
          </p:nvPr>
        </p:nvGraphicFramePr>
        <p:xfrm>
          <a:off x="381000" y="990600"/>
          <a:ext cx="8610600" cy="4628147"/>
        </p:xfrm>
        <a:graphic>
          <a:graphicData uri="http://schemas.openxmlformats.org/drawingml/2006/table">
            <a:tbl>
              <a:tblPr firstRow="1" bandRow="1">
                <a:tableStyleId>{7DF18680-E054-41AD-8BC1-D1AEF772440D}</a:tableStyleId>
              </a:tblPr>
              <a:tblGrid>
                <a:gridCol w="838199">
                  <a:extLst>
                    <a:ext uri="{9D8B030D-6E8A-4147-A177-3AD203B41FA5}">
                      <a16:colId xmlns:a16="http://schemas.microsoft.com/office/drawing/2014/main" val="20000"/>
                    </a:ext>
                  </a:extLst>
                </a:gridCol>
                <a:gridCol w="1676401">
                  <a:extLst>
                    <a:ext uri="{9D8B030D-6E8A-4147-A177-3AD203B41FA5}">
                      <a16:colId xmlns:a16="http://schemas.microsoft.com/office/drawing/2014/main" val="20001"/>
                    </a:ext>
                  </a:extLst>
                </a:gridCol>
                <a:gridCol w="6096000">
                  <a:extLst>
                    <a:ext uri="{9D8B030D-6E8A-4147-A177-3AD203B41FA5}">
                      <a16:colId xmlns:a16="http://schemas.microsoft.com/office/drawing/2014/main" val="20002"/>
                    </a:ext>
                  </a:extLst>
                </a:gridCol>
              </a:tblGrid>
              <a:tr h="547949">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Process Step #</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E7C88"/>
                    </a:solidFill>
                  </a:tcPr>
                </a:tc>
                <a:tc>
                  <a:txBody>
                    <a:bodyPr/>
                    <a:lstStyle/>
                    <a:p>
                      <a:pPr algn="ctr"/>
                      <a:r>
                        <a:rPr kumimoji="0" lang="en-US" sz="1200" b="1" i="0" u="none" strike="noStrike" cap="none" normalizeH="0" baseline="0" dirty="0">
                          <a:ln>
                            <a:noFill/>
                          </a:ln>
                          <a:solidFill>
                            <a:schemeClr val="bg1"/>
                          </a:solidFill>
                          <a:effectLst/>
                          <a:latin typeface="Arial" charset="0"/>
                        </a:rPr>
                        <a:t>Owner</a:t>
                      </a:r>
                      <a:endParaRPr 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E7C88"/>
                    </a:solidFill>
                  </a:tcPr>
                </a:tc>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Requirements and/or Additional Details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E7C88"/>
                    </a:solidFill>
                  </a:tcPr>
                </a:tc>
                <a:extLst>
                  <a:ext uri="{0D108BD9-81ED-4DB2-BD59-A6C34878D82A}">
                    <a16:rowId xmlns:a16="http://schemas.microsoft.com/office/drawing/2014/main" val="10000"/>
                  </a:ext>
                </a:extLst>
              </a:tr>
              <a:tr h="493845">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0" i="0" u="none" strike="noStrike" cap="none" normalizeH="0" baseline="0" dirty="0">
                          <a:ln>
                            <a:noFill/>
                          </a:ln>
                          <a:solidFill>
                            <a:schemeClr val="tx1"/>
                          </a:solidFill>
                          <a:effectLst/>
                          <a:latin typeface="Arial" charset="0"/>
                        </a:rPr>
                        <a:t>1</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7D1CF">
                        <a:alpha val="2470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normalizeH="0" baseline="0" dirty="0">
                          <a:ln>
                            <a:noFill/>
                          </a:ln>
                          <a:solidFill>
                            <a:schemeClr val="tx1"/>
                          </a:solidFill>
                          <a:effectLst/>
                          <a:latin typeface="Arial" charset="0"/>
                          <a:ea typeface="+mn-ea"/>
                          <a:cs typeface="+mn-cs"/>
                        </a:rPr>
                        <a:t>Business Transfer Manager </a:t>
                      </a:r>
                    </a:p>
                    <a:p>
                      <a:pPr algn="l"/>
                      <a:endParaRPr kumimoji="0" lang="en-US" sz="1200" b="0" i="0" u="none" strike="noStrike" kern="1200" cap="none" normalizeH="0" baseline="0" dirty="0">
                        <a:ln>
                          <a:noFill/>
                        </a:ln>
                        <a:solidFill>
                          <a:schemeClr val="tx1"/>
                        </a:solidFill>
                        <a:effectLst/>
                        <a:latin typeface="Arial"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Business Transfer Manager is the person responsible for the management and completion of the business transfer and shall be assigned within the Region according to the existing procedures.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93845">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0" i="0" u="none" strike="noStrike" cap="none" normalizeH="0" baseline="0" dirty="0">
                          <a:ln>
                            <a:noFill/>
                          </a:ln>
                          <a:solidFill>
                            <a:schemeClr val="tx1"/>
                          </a:solidFill>
                          <a:effectLst/>
                          <a:latin typeface="Arial" charset="0"/>
                        </a:rPr>
                        <a:t>2</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7D1CF">
                        <a:alpha val="2470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normalizeH="0" baseline="0" dirty="0">
                          <a:ln>
                            <a:noFill/>
                          </a:ln>
                          <a:solidFill>
                            <a:schemeClr val="tx1"/>
                          </a:solidFill>
                          <a:effectLst/>
                          <a:latin typeface="Arial" charset="0"/>
                          <a:ea typeface="+mn-ea"/>
                          <a:cs typeface="+mn-cs"/>
                        </a:rPr>
                        <a:t>Business Transfer Manager, Functional Management, Transferring plant, Receiving Plant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Both the Receiving and Transferring Plants should have a Manufacturing Support Team which typically includes Manufacturing, PC&amp;L, Quality Engineering and Process/Tool/Industrial Engineering, </a:t>
                      </a:r>
                      <a:r>
                        <a:rPr lang="en-US" sz="1200" i="1" dirty="0">
                          <a:solidFill>
                            <a:schemeClr val="tx1"/>
                          </a:solidFill>
                        </a:rPr>
                        <a:t>EHS</a:t>
                      </a:r>
                      <a:r>
                        <a:rPr lang="en-US" sz="1200" dirty="0"/>
                        <a:t>.  The Transfer Team consists of these two teams plus representatives from Sales, Application Engineering, Regional or Divisional Process/Tool/Industrial Engineering, Advanced PC&amp;L or any other staff area as needed.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solidFill>
                            <a:schemeClr val="tx1"/>
                          </a:solidFill>
                        </a:rPr>
                        <a:t>The risk assessment done in the Business Transfer Concept checklist must be considered for all functional team members included in the transfer team definition. When ever risks are identified as high for team capabilities, an experienced transfer team from central or from mature plant must be in place to mitigate identified risk.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42136">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0" i="0" u="none" strike="noStrike" cap="none" normalizeH="0" baseline="0" dirty="0">
                          <a:ln>
                            <a:noFill/>
                          </a:ln>
                          <a:solidFill>
                            <a:schemeClr val="tx1"/>
                          </a:solidFill>
                          <a:effectLst/>
                          <a:latin typeface="Arial" charset="0"/>
                        </a:rPr>
                        <a:t>3</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7D1CF">
                        <a:alpha val="2470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normalizeH="0" baseline="0" dirty="0">
                          <a:ln>
                            <a:noFill/>
                          </a:ln>
                          <a:solidFill>
                            <a:schemeClr val="tx1"/>
                          </a:solidFill>
                          <a:effectLst/>
                          <a:latin typeface="Arial" charset="0"/>
                          <a:ea typeface="+mn-ea"/>
                          <a:cs typeface="+mn-cs"/>
                        </a:rPr>
                        <a:t>Business Transfer Manager, Transfer Team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Business Transfer Manager initiates Business Transfer Checklist (use </a:t>
                      </a:r>
                      <a:r>
                        <a:rPr lang="en-US" sz="1200" dirty="0">
                          <a:solidFill>
                            <a:srgbClr val="FF0000"/>
                          </a:solidFill>
                          <a:hlinkClick r:id="rId3"/>
                        </a:rPr>
                        <a:t>EAGP_4-4_MG_01-F01_EN </a:t>
                      </a:r>
                      <a:r>
                        <a:rPr lang="en-US" sz="1200" dirty="0"/>
                        <a:t>from this procedure or an equivalent one), and he / she  is responsible to define dates and responsibilities for each activity which must be in accordance with the Transfer Team.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76223">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0" i="0" u="none" strike="noStrike" cap="none" normalizeH="0" baseline="0" dirty="0">
                          <a:ln>
                            <a:noFill/>
                          </a:ln>
                          <a:solidFill>
                            <a:schemeClr val="tx1"/>
                          </a:solidFill>
                          <a:effectLst/>
                          <a:latin typeface="Arial" charset="0"/>
                        </a:rPr>
                        <a:t>5</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7D1CF">
                        <a:alpha val="24706"/>
                      </a:srgbClr>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0" i="0" u="none" strike="noStrike" cap="none" normalizeH="0" baseline="0" dirty="0">
                          <a:ln>
                            <a:noFill/>
                          </a:ln>
                          <a:solidFill>
                            <a:schemeClr val="tx1"/>
                          </a:solidFill>
                          <a:effectLst/>
                          <a:latin typeface="Arial" charset="0"/>
                        </a:rPr>
                        <a:t>BU Director,  Operations Director, BU Director</a:t>
                      </a:r>
                      <a:endParaRPr kumimoji="0" lang="en-US" sz="1200" b="0" i="1" u="none" strike="noStrike" cap="none" normalizeH="0" baseline="0" dirty="0">
                        <a:ln>
                          <a:noFill/>
                        </a:ln>
                        <a:solidFill>
                          <a:schemeClr val="tx1"/>
                        </a:solidFill>
                        <a:effectLst/>
                        <a:latin typeface="Arial"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At least one meeting with Management shall be scheduled to review  the Compliance level of the Business Transfer  Execution Checklist.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93845">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0" i="0" u="none" strike="noStrike" kern="1200" cap="none" normalizeH="0" baseline="0" dirty="0">
                          <a:ln>
                            <a:noFill/>
                          </a:ln>
                          <a:solidFill>
                            <a:schemeClr val="tx1"/>
                          </a:solidFill>
                          <a:effectLst/>
                          <a:latin typeface="Arial" charset="0"/>
                          <a:ea typeface="+mn-ea"/>
                          <a:cs typeface="+mn-cs"/>
                        </a:rPr>
                        <a:t>6</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7D1CF">
                        <a:alpha val="2470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normalizeH="0" baseline="0" dirty="0">
                          <a:ln>
                            <a:noFill/>
                          </a:ln>
                          <a:solidFill>
                            <a:schemeClr val="tx1"/>
                          </a:solidFill>
                          <a:effectLst/>
                          <a:latin typeface="Arial" charset="0"/>
                          <a:ea typeface="+mn-ea"/>
                          <a:cs typeface="+mn-cs"/>
                        </a:rPr>
                        <a:t>Business Transfer Manager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dirty="0"/>
                        <a:t>In case of open actions or risks identified, the Business Transfer Manager shall escalate the  problems to Management during  the Project Transfer Review Meeting.</a:t>
                      </a:r>
                      <a:r>
                        <a:rPr lang="en-US" sz="1200" dirty="0"/>
                        <a:t> </a:t>
                      </a:r>
                      <a:endParaRPr lang="en-GB" sz="12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51542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876270141"/>
              </p:ext>
            </p:extLst>
          </p:nvPr>
        </p:nvGraphicFramePr>
        <p:xfrm>
          <a:off x="381000" y="762000"/>
          <a:ext cx="8610600" cy="5851469"/>
        </p:xfrm>
        <a:graphic>
          <a:graphicData uri="http://schemas.openxmlformats.org/drawingml/2006/table">
            <a:tbl>
              <a:tblPr firstRow="1" bandRow="1">
                <a:tableStyleId>{7DF18680-E054-41AD-8BC1-D1AEF772440D}</a:tableStyleId>
              </a:tblPr>
              <a:tblGrid>
                <a:gridCol w="838199">
                  <a:extLst>
                    <a:ext uri="{9D8B030D-6E8A-4147-A177-3AD203B41FA5}">
                      <a16:colId xmlns:a16="http://schemas.microsoft.com/office/drawing/2014/main" val="20000"/>
                    </a:ext>
                  </a:extLst>
                </a:gridCol>
                <a:gridCol w="1676401">
                  <a:extLst>
                    <a:ext uri="{9D8B030D-6E8A-4147-A177-3AD203B41FA5}">
                      <a16:colId xmlns:a16="http://schemas.microsoft.com/office/drawing/2014/main" val="20001"/>
                    </a:ext>
                  </a:extLst>
                </a:gridCol>
                <a:gridCol w="6096000">
                  <a:extLst>
                    <a:ext uri="{9D8B030D-6E8A-4147-A177-3AD203B41FA5}">
                      <a16:colId xmlns:a16="http://schemas.microsoft.com/office/drawing/2014/main" val="20002"/>
                    </a:ext>
                  </a:extLst>
                </a:gridCol>
              </a:tblGrid>
              <a:tr h="547949">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Process Step #</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E7C88"/>
                    </a:solidFill>
                  </a:tcPr>
                </a:tc>
                <a:tc>
                  <a:txBody>
                    <a:bodyPr/>
                    <a:lstStyle/>
                    <a:p>
                      <a:pPr algn="ctr"/>
                      <a:r>
                        <a:rPr kumimoji="0" lang="en-US" sz="1200" b="1" i="0" u="none" strike="noStrike" cap="none" normalizeH="0" baseline="0" dirty="0">
                          <a:ln>
                            <a:noFill/>
                          </a:ln>
                          <a:solidFill>
                            <a:schemeClr val="bg1"/>
                          </a:solidFill>
                          <a:effectLst/>
                          <a:latin typeface="Arial" charset="0"/>
                        </a:rPr>
                        <a:t>Owner</a:t>
                      </a:r>
                      <a:endParaRPr 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E7C88"/>
                    </a:solidFill>
                  </a:tcPr>
                </a:tc>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Requirements and/or Additional Details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E7C88"/>
                    </a:solidFill>
                  </a:tcPr>
                </a:tc>
                <a:extLst>
                  <a:ext uri="{0D108BD9-81ED-4DB2-BD59-A6C34878D82A}">
                    <a16:rowId xmlns:a16="http://schemas.microsoft.com/office/drawing/2014/main" val="10000"/>
                  </a:ext>
                </a:extLst>
              </a:tr>
              <a:tr h="493845">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0" i="0" u="none" strike="noStrike" cap="none" normalizeH="0" baseline="0" dirty="0">
                          <a:ln>
                            <a:noFill/>
                          </a:ln>
                          <a:solidFill>
                            <a:schemeClr val="tx1"/>
                          </a:solidFill>
                          <a:effectLst/>
                          <a:latin typeface="Arial" charset="0"/>
                        </a:rPr>
                        <a:t>8</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7D1CF">
                        <a:alpha val="24706"/>
                      </a:srgbClr>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0" i="0" u="none" strike="noStrike" cap="none" normalizeH="0" baseline="0" dirty="0">
                          <a:ln>
                            <a:noFill/>
                          </a:ln>
                          <a:solidFill>
                            <a:schemeClr val="tx1"/>
                          </a:solidFill>
                          <a:effectLst/>
                          <a:latin typeface="Arial" charset="0"/>
                        </a:rPr>
                        <a:t>Assessment Team</a:t>
                      </a:r>
                    </a:p>
                    <a:p>
                      <a:pPr algn="l"/>
                      <a:endParaRPr lang="en-US" sz="12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defTabSz="914400" eaLnBrk="1" hangingPunct="1">
                        <a:lnSpc>
                          <a:spcPct val="100000"/>
                        </a:lnSpc>
                        <a:buFont typeface="+mj-lt"/>
                        <a:buNone/>
                      </a:pPr>
                      <a:r>
                        <a:rPr lang="en-GB" sz="1200" kern="1200" dirty="0">
                          <a:solidFill>
                            <a:schemeClr val="dk1"/>
                          </a:solidFill>
                          <a:latin typeface="+mn-lt"/>
                          <a:ea typeface="+mn-ea"/>
                          <a:cs typeface="+mn-cs"/>
                        </a:rPr>
                        <a:t>The Assessment Team is responsible to approve  the Manufacturing Process at the receiving plant  before SOP according  the Business Transfer Execution Checklist results . The Business Transfer Manager should participate in this Assessment and  is under his / her  responsibility the definition of the Action Plan to close the Gaps. </a:t>
                      </a:r>
                    </a:p>
                    <a:p>
                      <a:pPr>
                        <a:buNone/>
                      </a:pPr>
                      <a:r>
                        <a:rPr lang="pt-PT" dirty="0"/>
                        <a:t>	</a:t>
                      </a:r>
                      <a:r>
                        <a:rPr lang="pt-PT" sz="1200" kern="1200" dirty="0">
                          <a:solidFill>
                            <a:schemeClr val="dk1"/>
                          </a:solidFill>
                          <a:latin typeface="+mn-lt"/>
                          <a:ea typeface="+mn-ea"/>
                          <a:cs typeface="+mn-cs"/>
                        </a:rPr>
                        <a:t>The </a:t>
                      </a:r>
                      <a:r>
                        <a:rPr lang="en-US" sz="1200" kern="1200" dirty="0">
                          <a:solidFill>
                            <a:schemeClr val="dk1"/>
                          </a:solidFill>
                          <a:latin typeface="+mn-lt"/>
                          <a:ea typeface="+mn-ea"/>
                          <a:cs typeface="+mn-cs"/>
                        </a:rPr>
                        <a:t>Assessment Team must analyze the transfer checklist and decide the Project status based on the following criteria:</a:t>
                      </a:r>
                      <a:endParaRPr lang="en-GB" sz="1200" kern="1200" dirty="0">
                        <a:solidFill>
                          <a:schemeClr val="dk1"/>
                        </a:solidFill>
                        <a:latin typeface="+mn-lt"/>
                        <a:ea typeface="+mn-ea"/>
                        <a:cs typeface="+mn-cs"/>
                      </a:endParaRPr>
                    </a:p>
                    <a:p>
                      <a:pPr>
                        <a:buNone/>
                      </a:pPr>
                      <a:r>
                        <a:rPr lang="en-US" dirty="0"/>
                        <a:t> </a:t>
                      </a:r>
                      <a:endParaRPr lang="en-GB" dirty="0"/>
                    </a:p>
                    <a:p>
                      <a:pPr defTabSz="914400" eaLnBrk="1" hangingPunct="1">
                        <a:lnSpc>
                          <a:spcPct val="100000"/>
                        </a:lnSpc>
                        <a:buNone/>
                      </a:pPr>
                      <a:endParaRPr lang="pt-PT" dirty="0"/>
                    </a:p>
                    <a:p>
                      <a:pPr defTabSz="914400" eaLnBrk="1" hangingPunct="1">
                        <a:lnSpc>
                          <a:spcPct val="100000"/>
                        </a:lnSpc>
                        <a:buNone/>
                      </a:pPr>
                      <a:endParaRPr lang="pt-PT" dirty="0"/>
                    </a:p>
                    <a:p>
                      <a:pPr defTabSz="914400" eaLnBrk="1" hangingPunct="1">
                        <a:lnSpc>
                          <a:spcPct val="100000"/>
                        </a:lnSpc>
                        <a:buNone/>
                      </a:pPr>
                      <a:endParaRPr lang="en-US" dirty="0"/>
                    </a:p>
                    <a:p>
                      <a:pPr defTabSz="914400" eaLnBrk="1" hangingPunct="1">
                        <a:lnSpc>
                          <a:spcPct val="100000"/>
                        </a:lnSpc>
                        <a:buNone/>
                      </a:pPr>
                      <a:r>
                        <a:rPr lang="en-US" sz="1800" kern="1200" dirty="0">
                          <a:solidFill>
                            <a:schemeClr val="dk1"/>
                          </a:solidFill>
                          <a:latin typeface="+mn-lt"/>
                          <a:ea typeface="+mn-ea"/>
                          <a:cs typeface="+mn-cs"/>
                        </a:rPr>
                        <a:t> </a:t>
                      </a:r>
                      <a:r>
                        <a:rPr lang="en-US" sz="1200" kern="1200" dirty="0">
                          <a:solidFill>
                            <a:schemeClr val="dk1"/>
                          </a:solidFill>
                          <a:latin typeface="+mn-lt"/>
                          <a:ea typeface="+mn-ea"/>
                          <a:cs typeface="+mn-cs"/>
                        </a:rPr>
                        <a:t>If Result is Yellow or Red, Production Readiness Assessment (PRA ) must be scheduled.</a:t>
                      </a:r>
                    </a:p>
                    <a:p>
                      <a:pPr defTabSz="914400" eaLnBrk="1" hangingPunct="1">
                        <a:lnSpc>
                          <a:spcPct val="100000"/>
                        </a:lnSpc>
                        <a:buNone/>
                      </a:pPr>
                      <a:r>
                        <a:rPr lang="en-US" sz="1200" kern="1200" dirty="0">
                          <a:solidFill>
                            <a:schemeClr val="dk1"/>
                          </a:solidFill>
                          <a:latin typeface="+mn-lt"/>
                          <a:ea typeface="+mn-ea"/>
                          <a:cs typeface="+mn-cs"/>
                        </a:rPr>
                        <a:t>      After the EAGP-4.4-BU.01 F01 Business transfer execution check list is completed without any open action that could affect the Product, if necessary the process can run with intention of training and learning curve and no pieces will be shipped until PPAP &amp; </a:t>
                      </a:r>
                      <a:r>
                        <a:rPr lang="en-US" sz="1200" kern="1200" dirty="0" err="1">
                          <a:solidFill>
                            <a:schemeClr val="dk1"/>
                          </a:solidFill>
                          <a:latin typeface="+mn-lt"/>
                          <a:ea typeface="+mn-ea"/>
                          <a:cs typeface="+mn-cs"/>
                        </a:rPr>
                        <a:t>Run@Rate</a:t>
                      </a:r>
                      <a:r>
                        <a:rPr lang="en-US" sz="1200" kern="1200" dirty="0">
                          <a:solidFill>
                            <a:schemeClr val="dk1"/>
                          </a:solidFill>
                          <a:latin typeface="+mn-lt"/>
                          <a:ea typeface="+mn-ea"/>
                          <a:cs typeface="+mn-cs"/>
                        </a:rPr>
                        <a:t> Approval.</a:t>
                      </a:r>
                      <a:endParaRPr lang="en-GB" sz="1200" kern="120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93845">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0" i="0" u="none" strike="noStrike" cap="none" normalizeH="0" baseline="0" dirty="0">
                          <a:ln>
                            <a:noFill/>
                          </a:ln>
                          <a:solidFill>
                            <a:schemeClr val="tx1"/>
                          </a:solidFill>
                          <a:effectLst/>
                          <a:latin typeface="Arial" charset="0"/>
                        </a:rPr>
                        <a:t>11</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7D1CF">
                        <a:alpha val="2470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cap="none" normalizeH="0" baseline="0" dirty="0">
                          <a:ln>
                            <a:noFill/>
                          </a:ln>
                          <a:solidFill>
                            <a:schemeClr val="tx1"/>
                          </a:solidFill>
                          <a:effectLst/>
                          <a:latin typeface="Arial" charset="0"/>
                        </a:rPr>
                        <a:t>Business Transfer Manager </a:t>
                      </a:r>
                    </a:p>
                    <a:p>
                      <a:pPr algn="l"/>
                      <a:endParaRPr lang="en-US" sz="12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In case of Open Actions by the SOP timing,  the Operations Director should decide if the Process can be launched.  Perform Transfer Reflections if there is opportunities for improvement or Lessons Learned.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493845">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0" i="0" u="none" strike="noStrike" cap="none" normalizeH="0" baseline="0" dirty="0">
                          <a:ln>
                            <a:noFill/>
                          </a:ln>
                          <a:solidFill>
                            <a:schemeClr val="tx1"/>
                          </a:solidFill>
                          <a:effectLst/>
                          <a:latin typeface="Arial" charset="0"/>
                        </a:rPr>
                        <a:t>12</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7D1CF">
                        <a:alpha val="25098"/>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cap="none" normalizeH="0" baseline="0" dirty="0">
                          <a:ln>
                            <a:noFill/>
                          </a:ln>
                          <a:solidFill>
                            <a:schemeClr val="tx1"/>
                          </a:solidFill>
                          <a:effectLst/>
                          <a:latin typeface="Arial" charset="0"/>
                        </a:rPr>
                        <a:t>Business Transfer Manager</a:t>
                      </a:r>
                    </a:p>
                    <a:p>
                      <a:pPr algn="l"/>
                      <a:endParaRPr lang="en-US" sz="12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defTabSz="914400" eaLnBrk="1" hangingPunct="1">
                        <a:lnSpc>
                          <a:spcPct val="100000"/>
                        </a:lnSpc>
                        <a:buNone/>
                      </a:pPr>
                      <a:r>
                        <a:rPr lang="en-US" sz="1200" dirty="0"/>
                        <a:t>The Transfer is completed when the </a:t>
                      </a:r>
                      <a:r>
                        <a:rPr lang="en-US" sz="1200" i="1" dirty="0">
                          <a:solidFill>
                            <a:schemeClr val="tx1"/>
                          </a:solidFill>
                        </a:rPr>
                        <a:t>Harnesses BMG( if applicable), </a:t>
                      </a:r>
                      <a:r>
                        <a:rPr lang="en-US" sz="1200" dirty="0"/>
                        <a:t>PPAP and Run &amp; Rate are completed  for the new plant and approved by Customer . CT should be done approx. 1 month after PRA.</a:t>
                      </a:r>
                    </a:p>
                    <a:p>
                      <a:pPr defTabSz="914400" eaLnBrk="1" hangingPunct="1">
                        <a:lnSpc>
                          <a:spcPct val="100000"/>
                        </a:lnSpc>
                        <a:buNone/>
                      </a:pPr>
                      <a:r>
                        <a:rPr lang="en-US" sz="1200" i="1" dirty="0">
                          <a:solidFill>
                            <a:schemeClr val="tx1"/>
                          </a:solidFill>
                        </a:rPr>
                        <a:t>      BMG stands for Build Sample Approval and is a specific requirement from VW customer.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493845">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0" i="0" u="none" strike="noStrike" cap="none" normalizeH="0" baseline="0" dirty="0">
                          <a:ln>
                            <a:noFill/>
                          </a:ln>
                          <a:solidFill>
                            <a:schemeClr val="tx1"/>
                          </a:solidFill>
                          <a:effectLst/>
                          <a:latin typeface="Arial" charset="0"/>
                        </a:rPr>
                        <a:t>14</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7D1CF">
                        <a:alpha val="25098"/>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cap="none" normalizeH="0" baseline="0" dirty="0">
                          <a:ln>
                            <a:noFill/>
                          </a:ln>
                          <a:solidFill>
                            <a:schemeClr val="tx1"/>
                          </a:solidFill>
                          <a:effectLst/>
                          <a:latin typeface="Arial" charset="0"/>
                        </a:rPr>
                        <a:t>Business Transfer Manager  or BU</a:t>
                      </a:r>
                    </a:p>
                    <a:p>
                      <a:pPr algn="l"/>
                      <a:endParaRPr lang="en-US" sz="12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In some regions can be requested, that the Business Transfer Manager presents the actual Metrics and get the Management Declaration for  Project Closure. From this moment onwards the Project  is under the Responsibility of Plant Management.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0"/>
                  </a:ext>
                </a:extLst>
              </a:tr>
            </a:tbl>
          </a:graphicData>
        </a:graphic>
      </p:graphicFrame>
      <p:graphicFrame>
        <p:nvGraphicFramePr>
          <p:cNvPr id="2" name="Object 2">
            <a:extLst>
              <a:ext uri="{FF2B5EF4-FFF2-40B4-BE49-F238E27FC236}">
                <a16:creationId xmlns:a16="http://schemas.microsoft.com/office/drawing/2014/main" id="{9E1C1794-8D56-43EF-30E5-32691E861995}"/>
              </a:ext>
            </a:extLst>
          </p:cNvPr>
          <p:cNvGraphicFramePr>
            <a:graphicFrameLocks noChangeAspect="1"/>
          </p:cNvGraphicFramePr>
          <p:nvPr>
            <p:extLst>
              <p:ext uri="{D42A27DB-BD31-4B8C-83A1-F6EECF244321}">
                <p14:modId xmlns:p14="http://schemas.microsoft.com/office/powerpoint/2010/main" val="4269530561"/>
              </p:ext>
            </p:extLst>
          </p:nvPr>
        </p:nvGraphicFramePr>
        <p:xfrm>
          <a:off x="2992438" y="2548554"/>
          <a:ext cx="5795962" cy="1139180"/>
        </p:xfrm>
        <a:graphic>
          <a:graphicData uri="http://schemas.openxmlformats.org/presentationml/2006/ole">
            <mc:AlternateContent xmlns:mc="http://schemas.openxmlformats.org/markup-compatibility/2006">
              <mc:Choice xmlns:v="urn:schemas-microsoft-com:vml" Requires="v">
                <p:oleObj name="Worksheet" r:id="rId3" imgW="7172249" imgH="1409700" progId="Excel.Sheet.12">
                  <p:embed/>
                </p:oleObj>
              </mc:Choice>
              <mc:Fallback>
                <p:oleObj name="Worksheet" r:id="rId3" imgW="7172249" imgH="1409700" progId="Excel.Sheet.12">
                  <p:embed/>
                  <p:pic>
                    <p:nvPicPr>
                      <p:cNvPr id="2" name="Object 2">
                        <a:extLst>
                          <a:ext uri="{FF2B5EF4-FFF2-40B4-BE49-F238E27FC236}">
                            <a16:creationId xmlns:a16="http://schemas.microsoft.com/office/drawing/2014/main" id="{9E1C1794-8D56-43EF-30E5-32691E8619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2438" y="2548554"/>
                        <a:ext cx="5795962" cy="113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941647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35"/>
          <p:cNvGraphicFramePr>
            <a:graphicFrameLocks/>
          </p:cNvGraphicFramePr>
          <p:nvPr>
            <p:extLst>
              <p:ext uri="{D42A27DB-BD31-4B8C-83A1-F6EECF244321}">
                <p14:modId xmlns:p14="http://schemas.microsoft.com/office/powerpoint/2010/main" val="2847811686"/>
              </p:ext>
            </p:extLst>
          </p:nvPr>
        </p:nvGraphicFramePr>
        <p:xfrm>
          <a:off x="152399" y="914400"/>
          <a:ext cx="8686800" cy="5619165"/>
        </p:xfrm>
        <a:graphic>
          <a:graphicData uri="http://schemas.openxmlformats.org/drawingml/2006/table">
            <a:tbl>
              <a:tblPr/>
              <a:tblGrid>
                <a:gridCol w="1265505">
                  <a:extLst>
                    <a:ext uri="{9D8B030D-6E8A-4147-A177-3AD203B41FA5}">
                      <a16:colId xmlns:a16="http://schemas.microsoft.com/office/drawing/2014/main" val="20000"/>
                    </a:ext>
                  </a:extLst>
                </a:gridCol>
                <a:gridCol w="1265505">
                  <a:extLst>
                    <a:ext uri="{9D8B030D-6E8A-4147-A177-3AD203B41FA5}">
                      <a16:colId xmlns:a16="http://schemas.microsoft.com/office/drawing/2014/main" val="20001"/>
                    </a:ext>
                  </a:extLst>
                </a:gridCol>
                <a:gridCol w="4190245">
                  <a:extLst>
                    <a:ext uri="{9D8B030D-6E8A-4147-A177-3AD203B41FA5}">
                      <a16:colId xmlns:a16="http://schemas.microsoft.com/office/drawing/2014/main" val="20002"/>
                    </a:ext>
                  </a:extLst>
                </a:gridCol>
                <a:gridCol w="1965545">
                  <a:extLst>
                    <a:ext uri="{9D8B030D-6E8A-4147-A177-3AD203B41FA5}">
                      <a16:colId xmlns:a16="http://schemas.microsoft.com/office/drawing/2014/main" val="20003"/>
                    </a:ext>
                  </a:extLst>
                </a:gridCol>
              </a:tblGrid>
              <a:tr h="381000">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Release Date</a:t>
                      </a:r>
                    </a:p>
                  </a:txBody>
                  <a:tcPr marL="85866" marR="85866" marT="42161" marB="421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E7C88"/>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DCR Number</a:t>
                      </a:r>
                    </a:p>
                  </a:txBody>
                  <a:tcPr marL="85866" marR="85866" marT="42161" marB="421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E7C88"/>
                    </a:solid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Change Details</a:t>
                      </a:r>
                    </a:p>
                  </a:txBody>
                  <a:tcPr marL="85866" marR="85866" marT="42161" marB="421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E7C88"/>
                    </a:solid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Document Owner</a:t>
                      </a:r>
                    </a:p>
                  </a:txBody>
                  <a:tcPr marL="85866" marR="85866" marT="42161" marB="421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E7C88"/>
                    </a:solidFill>
                  </a:tcPr>
                </a:tc>
                <a:extLst>
                  <a:ext uri="{0D108BD9-81ED-4DB2-BD59-A6C34878D82A}">
                    <a16:rowId xmlns:a16="http://schemas.microsoft.com/office/drawing/2014/main" val="10000"/>
                  </a:ext>
                </a:extLst>
              </a:tr>
              <a:tr h="502036">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lang="en-US" sz="1100" i="0" dirty="0"/>
                        <a:t>6/10/2008</a:t>
                      </a: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lang="en-US" sz="1100" i="0" dirty="0"/>
                        <a:t>(</a:t>
                      </a:r>
                      <a:r>
                        <a:rPr lang="en-US" sz="1100" i="0" dirty="0">
                          <a:hlinkClick r:id="rId3"/>
                        </a:rPr>
                        <a:t>DCR G414</a:t>
                      </a:r>
                      <a:r>
                        <a:rPr lang="en-US" sz="1100" i="0" dirty="0"/>
                        <a:t>)</a:t>
                      </a: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914400" indent="-914400" algn="l">
                        <a:spcBef>
                          <a:spcPct val="50000"/>
                        </a:spcBef>
                      </a:pPr>
                      <a:r>
                        <a:rPr lang="en-US" sz="1100" i="0" dirty="0"/>
                        <a:t>New document.  Replaces EAGP 10.2-3.  </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pt-PT" sz="1100" b="0" i="0" u="none" strike="noStrike" cap="none" normalizeH="0" baseline="0" dirty="0">
                          <a:ln>
                            <a:noFill/>
                          </a:ln>
                          <a:solidFill>
                            <a:schemeClr val="tx1"/>
                          </a:solidFill>
                          <a:effectLst/>
                          <a:latin typeface="Arial" charset="0"/>
                        </a:rPr>
                        <a:t>BU</a:t>
                      </a: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3407">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lang="en-US" sz="1100" i="0" dirty="0"/>
                        <a:t>10/2/2008</a:t>
                      </a: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defRPr/>
                      </a:pPr>
                      <a:r>
                        <a:rPr lang="en-US" sz="1100" i="0" dirty="0">
                          <a:hlinkClick r:id="rId4"/>
                        </a:rPr>
                        <a:t>DCR G557</a:t>
                      </a:r>
                      <a:r>
                        <a:rPr lang="en-US" sz="1100" i="0" dirty="0"/>
                        <a:t>)</a:t>
                      </a:r>
                    </a:p>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Arial" panose="020B0604020202020204" pitchFamily="34" charset="0"/>
                        <a:buNone/>
                        <a:tabLst/>
                      </a:pPr>
                      <a:r>
                        <a:rPr lang="en-US" sz="1100" i="0" dirty="0"/>
                        <a:t>Removed DCS from Scope.  Revised Steps 6, 7 and 9.  Revised Note 3.  Deleted Note 7. </a:t>
                      </a: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nb-NO" sz="1100" b="0" i="0" u="none" strike="noStrike" cap="none" normalizeH="0" baseline="0" dirty="0">
                          <a:ln>
                            <a:noFill/>
                          </a:ln>
                          <a:solidFill>
                            <a:schemeClr val="tx1"/>
                          </a:solidFill>
                          <a:effectLst/>
                          <a:latin typeface="Arial" charset="0"/>
                        </a:rPr>
                        <a:t>BU</a:t>
                      </a: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3407">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lang="en-US" sz="1100" i="0" dirty="0"/>
                        <a:t>11/21/2008</a:t>
                      </a: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defRPr/>
                      </a:pPr>
                      <a:r>
                        <a:rPr lang="en-US" sz="1100" i="0" dirty="0"/>
                        <a:t>(</a:t>
                      </a:r>
                      <a:r>
                        <a:rPr lang="en-US" sz="1100" i="0" dirty="0">
                          <a:hlinkClick r:id="rId5"/>
                        </a:rPr>
                        <a:t>DCR G625</a:t>
                      </a:r>
                      <a:r>
                        <a:rPr lang="en-US" sz="1100" i="0" dirty="0"/>
                        <a:t>)</a:t>
                      </a: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Arial" panose="020B0604020202020204" pitchFamily="34" charset="0"/>
                        <a:buNone/>
                        <a:tabLst/>
                      </a:pPr>
                      <a:r>
                        <a:rPr lang="en-US" sz="1100" i="0" dirty="0"/>
                        <a:t>Process moved from Flow 2 to Flow 4.  Document number was EAGP-2.6.CB1-BU-03.  Steps 35 and 36 added to Form F01 to include facilities and environmental activities. </a:t>
                      </a: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100" b="0" i="0" u="none" strike="noStrike" cap="none" normalizeH="0" baseline="0" dirty="0">
                          <a:ln>
                            <a:noFill/>
                          </a:ln>
                          <a:solidFill>
                            <a:schemeClr val="tx1"/>
                          </a:solidFill>
                          <a:effectLst/>
                          <a:latin typeface="Arial" charset="0"/>
                        </a:rPr>
                        <a:t>BU</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3407">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lang="en-US" sz="1100" i="0" dirty="0"/>
                        <a:t>11/10/2009   </a:t>
                      </a: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lang="en-US" sz="1100" i="0" dirty="0"/>
                        <a:t>01/05/2011</a:t>
                      </a: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lang="en-US" sz="1100" i="0" dirty="0"/>
                        <a:t>07/25/2011</a:t>
                      </a: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lang="en-US" sz="1100" i="0" dirty="0"/>
                        <a:t>06/07/2012</a:t>
                      </a: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lang="en-US" sz="1100" i="0" dirty="0"/>
                        <a:t>11/06/2014</a:t>
                      </a: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lang="en-US" sz="1100" i="0" dirty="0"/>
                        <a:t>5/19/2023</a:t>
                      </a: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defRPr/>
                      </a:pPr>
                      <a:r>
                        <a:rPr lang="en-US" sz="1100" i="0" dirty="0">
                          <a:hlinkClick r:id="rId6"/>
                        </a:rPr>
                        <a:t>DCR G754</a:t>
                      </a:r>
                      <a:r>
                        <a:rPr lang="en-US" sz="1100" i="0" dirty="0"/>
                        <a:t>)</a:t>
                      </a: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defRPr/>
                      </a:pPr>
                      <a:r>
                        <a:rPr lang="en-US" sz="1100" i="0" dirty="0"/>
                        <a:t>(</a:t>
                      </a:r>
                      <a:r>
                        <a:rPr lang="en-US" sz="1100" i="0" dirty="0">
                          <a:hlinkClick r:id="rId7"/>
                        </a:rPr>
                        <a:t>DCR G849)</a:t>
                      </a:r>
                      <a:endParaRPr lang="en-US" sz="1100" i="0" dirty="0"/>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defRPr/>
                      </a:pPr>
                      <a:r>
                        <a:rPr lang="en-US" sz="1100" i="0" dirty="0"/>
                        <a:t>(</a:t>
                      </a:r>
                      <a:r>
                        <a:rPr lang="en-US" sz="1100" i="0" dirty="0">
                          <a:hlinkClick r:id="rId8"/>
                        </a:rPr>
                        <a:t>DCR G891</a:t>
                      </a:r>
                      <a:r>
                        <a:rPr lang="en-US" sz="1100" i="0" dirty="0"/>
                        <a:t>)</a:t>
                      </a: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defRPr/>
                      </a:pPr>
                      <a:r>
                        <a:rPr lang="en-US" sz="1100" i="0" dirty="0"/>
                        <a:t>(</a:t>
                      </a:r>
                      <a:r>
                        <a:rPr lang="en-US" sz="1100" i="0" dirty="0">
                          <a:hlinkClick r:id="rId9"/>
                        </a:rPr>
                        <a:t>DCR G12-39</a:t>
                      </a:r>
                      <a:r>
                        <a:rPr lang="en-US" sz="1100" i="0" dirty="0"/>
                        <a:t>)</a:t>
                      </a: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defRPr/>
                      </a:pPr>
                      <a:r>
                        <a:rPr lang="en-US" sz="1100" i="0" dirty="0"/>
                        <a:t>(</a:t>
                      </a:r>
                      <a:r>
                        <a:rPr lang="en-US" sz="1100" i="0" dirty="0">
                          <a:hlinkClick r:id="rId10"/>
                        </a:rPr>
                        <a:t>G1131</a:t>
                      </a:r>
                      <a:r>
                        <a:rPr lang="en-US" sz="1100" i="0" dirty="0"/>
                        <a:t>)</a:t>
                      </a: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100" b="0" i="0" u="none" strike="noStrike" cap="none" normalizeH="0" baseline="0" dirty="0">
                          <a:ln>
                            <a:noFill/>
                          </a:ln>
                          <a:solidFill>
                            <a:schemeClr val="tx1"/>
                          </a:solidFill>
                          <a:effectLst/>
                          <a:latin typeface="Arial" charset="0"/>
                        </a:rPr>
                        <a:t>No DCR </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71450" marR="0" lvl="0" indent="-171450" algn="l" defTabSz="947738" rtl="0" eaLnBrk="1" fontAlgn="base" latinLnBrk="0" hangingPunct="1">
                        <a:lnSpc>
                          <a:spcPct val="87000"/>
                        </a:lnSpc>
                        <a:spcBef>
                          <a:spcPct val="30000"/>
                        </a:spcBef>
                        <a:spcAft>
                          <a:spcPct val="0"/>
                        </a:spcAft>
                        <a:buClr>
                          <a:schemeClr val="tx1"/>
                        </a:buClr>
                        <a:buSzTx/>
                        <a:buFont typeface="Arial" panose="020B0604020202020204" pitchFamily="34" charset="0"/>
                        <a:buChar char="•"/>
                        <a:tabLst/>
                      </a:pPr>
                      <a:r>
                        <a:rPr kumimoji="0" lang="en-US" sz="1100" b="0" i="0" u="none" strike="noStrike" cap="none" normalizeH="0" baseline="0" dirty="0">
                          <a:ln>
                            <a:noFill/>
                          </a:ln>
                          <a:solidFill>
                            <a:schemeClr val="tx1"/>
                          </a:solidFill>
                          <a:effectLst/>
                          <a:latin typeface="Arial" charset="0"/>
                        </a:rPr>
                        <a:t>See all change details in Obsoleted version Sep. 2024 </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100" b="0" i="0" u="none" strike="noStrike" cap="none" normalizeH="0" baseline="0">
                          <a:ln>
                            <a:noFill/>
                          </a:ln>
                          <a:solidFill>
                            <a:schemeClr val="tx1"/>
                          </a:solidFill>
                          <a:effectLst/>
                          <a:latin typeface="Arial" charset="0"/>
                        </a:rPr>
                        <a:t>BU -Gerhard </a:t>
                      </a:r>
                      <a:r>
                        <a:rPr kumimoji="0" lang="en-US" sz="1100" b="0" i="0" u="none" strike="noStrike" cap="none" normalizeH="0" baseline="0" dirty="0">
                          <a:ln>
                            <a:noFill/>
                          </a:ln>
                          <a:solidFill>
                            <a:schemeClr val="tx1"/>
                          </a:solidFill>
                          <a:effectLst/>
                          <a:latin typeface="Arial" charset="0"/>
                        </a:rPr>
                        <a:t>Distler</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3407">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100" b="0" i="0" u="none" strike="noStrike" cap="none" normalizeH="0" baseline="0" dirty="0">
                          <a:ln>
                            <a:noFill/>
                          </a:ln>
                          <a:solidFill>
                            <a:schemeClr val="tx1"/>
                          </a:solidFill>
                          <a:effectLst/>
                          <a:latin typeface="Arial" charset="0"/>
                        </a:rPr>
                        <a:t>10/8/2024</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100" b="0" i="0" u="none" strike="noStrike" cap="none" normalizeH="0" baseline="0" dirty="0">
                          <a:ln>
                            <a:noFill/>
                          </a:ln>
                          <a:solidFill>
                            <a:schemeClr val="tx1"/>
                          </a:solidFill>
                          <a:effectLst/>
                          <a:latin typeface="Arial" charset="0"/>
                        </a:rPr>
                        <a:t>DCR </a:t>
                      </a:r>
                      <a:r>
                        <a:rPr kumimoji="0" lang="en-US" sz="1100" b="0" i="0" u="none" strike="noStrike" cap="none" normalizeH="0" baseline="0" dirty="0">
                          <a:ln>
                            <a:noFill/>
                          </a:ln>
                          <a:solidFill>
                            <a:schemeClr val="tx1"/>
                          </a:solidFill>
                          <a:effectLst/>
                          <a:latin typeface="Arial" charset="0"/>
                          <a:hlinkClick r:id="rId11"/>
                        </a:rPr>
                        <a:t>2115</a:t>
                      </a: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Arial" panose="020B0604020202020204" pitchFamily="34" charset="0"/>
                        <a:buNone/>
                        <a:tabLst/>
                      </a:pPr>
                      <a:r>
                        <a:rPr kumimoji="0" lang="en-US" sz="1100" b="0" i="0" u="none" strike="noStrike" cap="none" normalizeH="0" baseline="0" dirty="0">
                          <a:ln>
                            <a:noFill/>
                          </a:ln>
                          <a:solidFill>
                            <a:schemeClr val="tx1"/>
                          </a:solidFill>
                          <a:effectLst/>
                          <a:latin typeface="Arial" charset="0"/>
                        </a:rPr>
                        <a:t>Format template changed; SL owner changed from BU to MG Operations;  update the DO to Antonio Andrade ; In step and Note 12 added Harnesses BMG (</a:t>
                      </a:r>
                      <a:r>
                        <a:rPr lang="en-US" sz="1100" dirty="0">
                          <a:solidFill>
                            <a:schemeClr val="tx1"/>
                          </a:solidFill>
                        </a:rPr>
                        <a:t>if applicable). </a:t>
                      </a:r>
                      <a:r>
                        <a:rPr lang="en-US" sz="1100">
                          <a:solidFill>
                            <a:schemeClr val="tx1"/>
                          </a:solidFill>
                        </a:rPr>
                        <a:t>In </a:t>
                      </a:r>
                      <a:r>
                        <a:rPr lang="en-US" sz="1100" dirty="0">
                          <a:solidFill>
                            <a:schemeClr val="tx1"/>
                          </a:solidFill>
                        </a:rPr>
                        <a:t>F01 changed the ownership from BU to MG, no change in </a:t>
                      </a:r>
                      <a:r>
                        <a:rPr lang="en-US" sz="1100">
                          <a:solidFill>
                            <a:schemeClr val="tx1"/>
                          </a:solidFill>
                        </a:rPr>
                        <a:t>content .</a:t>
                      </a: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100" b="0" i="0" u="none" strike="noStrike" cap="none" normalizeH="0" baseline="0" dirty="0">
                          <a:ln>
                            <a:noFill/>
                          </a:ln>
                          <a:solidFill>
                            <a:schemeClr val="tx1"/>
                          </a:solidFill>
                          <a:effectLst/>
                          <a:latin typeface="Arial" charset="0"/>
                        </a:rPr>
                        <a:t>Antonio Andrade </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3407">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100" b="0" i="0" u="none" strike="noStrike" cap="none" normalizeH="0" baseline="0" dirty="0">
                          <a:ln>
                            <a:noFill/>
                          </a:ln>
                          <a:solidFill>
                            <a:schemeClr val="tx1"/>
                          </a:solidFill>
                          <a:effectLst/>
                          <a:latin typeface="Arial" charset="0"/>
                        </a:rPr>
                        <a:t>12/2/2024</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100" b="0" i="0" u="none" strike="noStrike" cap="none" normalizeH="0" baseline="0" dirty="0">
                          <a:ln>
                            <a:noFill/>
                          </a:ln>
                          <a:solidFill>
                            <a:schemeClr val="tx1"/>
                          </a:solidFill>
                          <a:effectLst/>
                          <a:latin typeface="Arial" charset="0"/>
                          <a:hlinkClick r:id="rId12"/>
                        </a:rPr>
                        <a:t>2619</a:t>
                      </a: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sz="1100" b="0" i="1" u="none" strike="noStrike" kern="1200" cap="none" normalizeH="0" baseline="0" dirty="0">
                          <a:ln>
                            <a:noFill/>
                          </a:ln>
                          <a:solidFill>
                            <a:schemeClr val="tx1"/>
                          </a:solidFill>
                          <a:effectLst/>
                          <a:latin typeface="Arial" charset="0"/>
                          <a:ea typeface="+mn-ea"/>
                          <a:cs typeface="+mn-cs"/>
                        </a:rPr>
                        <a:t>Procedure note 2 updated (risk assessment of receiving plant team capability) to reflect lessons learned from Warranty claim SQP ticket TK2024000018006/ QSYS no W-240904-001.</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defRPr/>
                      </a:pPr>
                      <a:r>
                        <a:rPr kumimoji="0" lang="en-US" sz="1100" b="0" i="0" u="none" strike="noStrike" cap="none" normalizeH="0" baseline="0" dirty="0">
                          <a:ln>
                            <a:noFill/>
                          </a:ln>
                          <a:solidFill>
                            <a:schemeClr val="tx1"/>
                          </a:solidFill>
                          <a:effectLst/>
                          <a:latin typeface="Arial" charset="0"/>
                        </a:rPr>
                        <a:t>Antonio Andrade </a:t>
                      </a: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3407">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Arial" panose="020B0604020202020204" pitchFamily="34" charset="0"/>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53407">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71450" marR="0" lvl="0" indent="-171450" algn="l" defTabSz="947738" rtl="0" eaLnBrk="1" fontAlgn="base" latinLnBrk="0" hangingPunct="1">
                        <a:lnSpc>
                          <a:spcPct val="87000"/>
                        </a:lnSpc>
                        <a:spcBef>
                          <a:spcPct val="30000"/>
                        </a:spcBef>
                        <a:spcAft>
                          <a:spcPct val="0"/>
                        </a:spcAft>
                        <a:buClr>
                          <a:schemeClr val="tx1"/>
                        </a:buClr>
                        <a:buSzTx/>
                        <a:buFont typeface="Arial" panose="020B0604020202020204" pitchFamily="34" charset="0"/>
                        <a:buChar char="•"/>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53407">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71450" marR="0" lvl="0" indent="-171450" algn="l" defTabSz="947738" rtl="0" eaLnBrk="1" fontAlgn="base" latinLnBrk="0" hangingPunct="1">
                        <a:lnSpc>
                          <a:spcPct val="87000"/>
                        </a:lnSpc>
                        <a:spcBef>
                          <a:spcPct val="30000"/>
                        </a:spcBef>
                        <a:spcAft>
                          <a:spcPct val="0"/>
                        </a:spcAft>
                        <a:buClr>
                          <a:schemeClr val="tx1"/>
                        </a:buClr>
                        <a:buSzTx/>
                        <a:buFont typeface="Arial" panose="020B0604020202020204" pitchFamily="34" charset="0"/>
                        <a:buChar char="•"/>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83629778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EOS Document" ma:contentTypeID="0x010100D1D3186A8B59604F90124F3B9C63333C008C7C7C2BCEAECD42A4292251E1C1C1D5" ma:contentTypeVersion="97" ma:contentTypeDescription="" ma:contentTypeScope="" ma:versionID="6c94af7b18803b97a8f64143f08e1564">
  <xsd:schema xmlns:xsd="http://www.w3.org/2001/XMLSchema" xmlns:xs="http://www.w3.org/2001/XMLSchema" xmlns:p="http://schemas.microsoft.com/office/2006/metadata/properties" xmlns:ns2="c308d7af-8d34-4105-8a9f-128cf31d995c" xmlns:ns3="d7ad00f7-eb1f-49e9-a898-20fd00e2134b" xmlns:ns4="0c36092b-8ec2-40bd-b469-d1fe4f1e7785" targetNamespace="http://schemas.microsoft.com/office/2006/metadata/properties" ma:root="true" ma:fieldsID="7c4185f0d10810158945b7c7d81b9cba" ns2:_="" ns3:_="" ns4:_="">
    <xsd:import namespace="c308d7af-8d34-4105-8a9f-128cf31d995c"/>
    <xsd:import namespace="d7ad00f7-eb1f-49e9-a898-20fd00e2134b"/>
    <xsd:import namespace="0c36092b-8ec2-40bd-b469-d1fe4f1e7785"/>
    <xsd:element name="properties">
      <xsd:complexType>
        <xsd:sequence>
          <xsd:element name="documentManagement">
            <xsd:complexType>
              <xsd:all>
                <xsd:element ref="ns2:OptionalIdentifier" minOccurs="0"/>
                <xsd:element ref="ns2:PrimaryDocSeriesNum" minOccurs="0"/>
                <xsd:element ref="ns2:SecondaryDocSeriesNum" minOccurs="0"/>
                <xsd:element ref="ns2:ChildDocNum" minOccurs="0"/>
                <xsd:element ref="ns2:DocumentState"/>
                <xsd:element ref="ns2:ApprovalDate" minOccurs="0"/>
                <xsd:element ref="ns2:EffectiveDate"/>
                <xsd:element ref="ns2:ObsoleteDate" minOccurs="0"/>
                <xsd:element ref="ns2:DocumentOwner"/>
                <xsd:element ref="ns2:DocumentController"/>
                <xsd:element ref="ns2:ReplacedBy" minOccurs="0"/>
                <xsd:element ref="ns2:Replaces" minOccurs="0"/>
                <xsd:element ref="ns2:DCRInfo" minOccurs="0"/>
                <xsd:element ref="ns2:EOSDocNum" minOccurs="0"/>
                <xsd:element ref="ns3:NeedsReprocessing" minOccurs="0"/>
                <xsd:element ref="ns4:TaxCatchAll" minOccurs="0"/>
                <xsd:element ref="ns2:b936ac81c11149c28abe10623a36d336" minOccurs="0"/>
                <xsd:element ref="ns2:b91eb8078c9543538bce35d45c081f79" minOccurs="0"/>
                <xsd:element ref="ns2:f8d7a6658cea4a10a51d8a3a11a6b803" minOccurs="0"/>
                <xsd:element ref="ns2:m65c1b3ed9cd4a9daeead227122b534d" minOccurs="0"/>
                <xsd:element ref="ns2:k9a925d7be4c452281f764c8b8b1b3f3" minOccurs="0"/>
                <xsd:element ref="ns2:ndde19fd7ef1483493a8f1c53b1b6b1a" minOccurs="0"/>
                <xsd:element ref="ns2:h2fe4d1c038e45e8889eb5b7cd50c800" minOccurs="0"/>
                <xsd:element ref="ns2:iaa644f6615246ffac384ba389ed9d22" minOccurs="0"/>
                <xsd:element ref="ns2:he11d22bca4f4dd7a936424bc304e998" minOccurs="0"/>
                <xsd:element ref="ns2:f2da7fc86df14e80848c715a582a09fc" minOccurs="0"/>
                <xsd:element ref="ns2:m3e5d886d5834254918a02334e296b76" minOccurs="0"/>
                <xsd:element ref="ns4:TaxCatchAllLabel" minOccurs="0"/>
                <xsd:element ref="ns2:ffb72c8aeb3f421fb176c6fc08d2cbe9" minOccurs="0"/>
                <xsd:element ref="ns4:fddf08f74f1e4eb0b4a866c10db37afa" minOccurs="0"/>
                <xsd:element ref="ns4:ka0759a5942f41c695b775aef8208f3e" minOccurs="0"/>
                <xsd:element ref="ns4:le32960acc2343b2a783ebfbeb256c3d" minOccurs="0"/>
                <xsd:element ref="ns3:i07f8e2dc724467c88034e42fb6bf3df" minOccurs="0"/>
                <xsd:element ref="ns3:MediaServiceMetadata" minOccurs="0"/>
                <xsd:element ref="ns3:MediaServiceFastMetadata" minOccurs="0"/>
                <xsd:element ref="ns3:MediaServiceAutoKeyPoints" minOccurs="0"/>
                <xsd:element ref="ns3:MediaServiceKeyPoints" minOccurs="0"/>
                <xsd:element ref="ns2:SharedWithUsers" minOccurs="0"/>
                <xsd:element ref="ns2:SharedWithDetails" minOccurs="0"/>
                <xsd:element ref="ns3:Last_x0020_Reviewed"/>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308d7af-8d34-4105-8a9f-128cf31d995c" elementFormDefault="qualified">
    <xsd:import namespace="http://schemas.microsoft.com/office/2006/documentManagement/types"/>
    <xsd:import namespace="http://schemas.microsoft.com/office/infopath/2007/PartnerControls"/>
    <xsd:element name="OptionalIdentifier" ma:index="5" nillable="true" ma:displayName="Optional Identifier" ma:description="This Optional THREE Character Designation may be used to identify a Specific Area within a Function.  Ex: Plant 10 = P10" ma:internalName="OptionalIdentifier" ma:readOnly="false">
      <xsd:simpleType>
        <xsd:restriction base="dms:Text">
          <xsd:maxLength value="3"/>
        </xsd:restriction>
      </xsd:simpleType>
    </xsd:element>
    <xsd:element name="PrimaryDocSeriesNum" ma:index="11" nillable="true" ma:displayName="Primary Document Series Number" ma:internalName="PrimaryDocSeriesNum" ma:readOnly="false">
      <xsd:simpleType>
        <xsd:restriction base="dms:Text">
          <xsd:maxLength value="255"/>
        </xsd:restriction>
      </xsd:simpleType>
    </xsd:element>
    <xsd:element name="SecondaryDocSeriesNum" ma:index="12" nillable="true" ma:displayName="Secondary Document Series Number" ma:internalName="SecondaryDocSeriesNum" ma:readOnly="false">
      <xsd:simpleType>
        <xsd:restriction base="dms:Text">
          <xsd:maxLength value="255"/>
        </xsd:restriction>
      </xsd:simpleType>
    </xsd:element>
    <xsd:element name="ChildDocNum" ma:index="13" nillable="true" ma:displayName="Child Document and Number" ma:internalName="ChildDocNum" ma:readOnly="false">
      <xsd:simpleType>
        <xsd:restriction base="dms:Text">
          <xsd:maxLength value="255"/>
        </xsd:restriction>
      </xsd:simpleType>
    </xsd:element>
    <xsd:element name="DocumentState" ma:index="16" ma:displayName="Document State" ma:default="Released" ma:format="Dropdown" ma:indexed="true" ma:internalName="DocumentState" ma:readOnly="false">
      <xsd:simpleType>
        <xsd:restriction base="dms:Choice">
          <xsd:enumeration value="Released"/>
          <xsd:enumeration value="Obsolete"/>
        </xsd:restriction>
      </xsd:simpleType>
    </xsd:element>
    <xsd:element name="ApprovalDate" ma:index="17" nillable="true" ma:displayName="Approval Date" ma:default="[today]" ma:format="DateOnly" ma:indexed="true" ma:internalName="ApprovalDate" ma:readOnly="false">
      <xsd:simpleType>
        <xsd:restriction base="dms:DateTime"/>
      </xsd:simpleType>
    </xsd:element>
    <xsd:element name="EffectiveDate" ma:index="18" ma:displayName="Effective Date" ma:format="DateOnly" ma:indexed="true" ma:internalName="EffectiveDate" ma:readOnly="false">
      <xsd:simpleType>
        <xsd:restriction base="dms:DateTime"/>
      </xsd:simpleType>
    </xsd:element>
    <xsd:element name="ObsoleteDate" ma:index="19" nillable="true" ma:displayName="Obsolete Date" ma:format="DateOnly" ma:internalName="ObsoleteDate" ma:readOnly="false">
      <xsd:simpleType>
        <xsd:restriction base="dms:DateTime"/>
      </xsd:simpleType>
    </xsd:element>
    <xsd:element name="DocumentOwner" ma:index="20" ma:displayName="Document Owner" ma:indexed="true" ma:list="UserInfo" ma:SharePointGroup="0" ma:internalName="DocumentOwner"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DocumentController" ma:index="21" ma:displayName="Document Controller" ma:indexed="true" ma:list="UserInfo" ma:SharePointGroup="0" ma:internalName="DocumentController"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ReplacedBy" ma:index="22" nillable="true" ma:displayName="Replaced By" ma:internalName="ReplacedBy" ma:readOnly="false">
      <xsd:simpleType>
        <xsd:restriction base="dms:Text">
          <xsd:maxLength value="255"/>
        </xsd:restriction>
      </xsd:simpleType>
    </xsd:element>
    <xsd:element name="Replaces" ma:index="23" nillable="true" ma:displayName="Replaces" ma:internalName="Replaces" ma:readOnly="false">
      <xsd:simpleType>
        <xsd:restriction base="dms:Text">
          <xsd:maxLength value="255"/>
        </xsd:restriction>
      </xsd:simpleType>
    </xsd:element>
    <xsd:element name="DCRInfo" ma:index="24" nillable="true" ma:displayName="DCR Information" ma:internalName="DCRInfo" ma:readOnly="false">
      <xsd:simpleType>
        <xsd:restriction base="dms:Text">
          <xsd:maxLength value="255"/>
        </xsd:restriction>
      </xsd:simpleType>
    </xsd:element>
    <xsd:element name="EOSDocNum" ma:index="25" nillable="true" ma:displayName="EOS Document Number" ma:internalName="EOSDocNum" ma:readOnly="false">
      <xsd:simpleType>
        <xsd:restriction base="dms:Text">
          <xsd:maxLength value="255"/>
        </xsd:restriction>
      </xsd:simpleType>
    </xsd:element>
    <xsd:element name="b936ac81c11149c28abe10623a36d336" ma:index="33" ma:taxonomy="true" ma:internalName="b936ac81c11149c28abe10623a36d336" ma:taxonomyFieldName="PBU" ma:displayName="Business Unit" ma:readOnly="false" ma:default="" ma:fieldId="{b936ac81-c111-49c2-8abe-10623a36d336}" ma:taxonomyMulti="true" ma:sspId="9f8ee6ba-22ae-4b18-a96b-b6990d3e2b67" ma:termSetId="cac45e59-285a-4c47-89ac-50a992ae684f" ma:anchorId="40978b63-ad8c-4cb8-9bea-75e613fea672" ma:open="false" ma:isKeyword="false">
      <xsd:complexType>
        <xsd:sequence>
          <xsd:element ref="pc:Terms" minOccurs="0" maxOccurs="1"/>
        </xsd:sequence>
      </xsd:complexType>
    </xsd:element>
    <xsd:element name="b91eb8078c9543538bce35d45c081f79" ma:index="34" ma:taxonomy="true" ma:internalName="b91eb8078c9543538bce35d45c081f79" ma:taxonomyFieldName="Region" ma:displayName="Region" ma:readOnly="false" ma:default="2;#Global|69131ddd-08f9-4e82-a493-4c385ab63c3d" ma:fieldId="{b91eb807-8c95-4353-8bce-35d45c081f79}" ma:taxonomyMulti="true" ma:sspId="9f8ee6ba-22ae-4b18-a96b-b6990d3e2b67" ma:termSetId="0c0e7ef1-ec70-42ae-89ef-3ca7fab66565" ma:anchorId="00000000-0000-0000-0000-000000000000" ma:open="false" ma:isKeyword="false">
      <xsd:complexType>
        <xsd:sequence>
          <xsd:element ref="pc:Terms" minOccurs="0" maxOccurs="1"/>
        </xsd:sequence>
      </xsd:complexType>
    </xsd:element>
    <xsd:element name="f8d7a6658cea4a10a51d8a3a11a6b803" ma:index="35" ma:taxonomy="true" ma:internalName="f8d7a6658cea4a10a51d8a3a11a6b803" ma:taxonomyFieldName="SwimlaneParticipant" ma:displayName="Swimlane - Participants" ma:readOnly="false" ma:default="" ma:fieldId="{f8d7a665-8cea-4a10-a51d-8a3a11a6b803}" ma:taxonomyMulti="true" ma:sspId="9f8ee6ba-22ae-4b18-a96b-b6990d3e2b67" ma:termSetId="cac45e59-285a-4c47-89ac-50a992ae684f" ma:anchorId="3ac7a09e-b76c-4088-903b-3177ee397169" ma:open="false" ma:isKeyword="false">
      <xsd:complexType>
        <xsd:sequence>
          <xsd:element ref="pc:Terms" minOccurs="0" maxOccurs="1"/>
        </xsd:sequence>
      </xsd:complexType>
    </xsd:element>
    <xsd:element name="m65c1b3ed9cd4a9daeead227122b534d" ma:index="36" nillable="true" ma:taxonomy="true" ma:internalName="m65c1b3ed9cd4a9daeead227122b534d" ma:taxonomyFieldName="StakeholderBank" ma:displayName="Stakeholder or Bank" ma:indexed="true" ma:readOnly="false" ma:default="" ma:fieldId="{665c1b3e-d9cd-4a9d-aeea-d227122b534d}" ma:sspId="9f8ee6ba-22ae-4b18-a96b-b6990d3e2b67" ma:termSetId="572bda01-e1b0-495c-933b-d01413b8721c" ma:anchorId="00000000-0000-0000-0000-000000000000" ma:open="false" ma:isKeyword="false">
      <xsd:complexType>
        <xsd:sequence>
          <xsd:element ref="pc:Terms" minOccurs="0" maxOccurs="1"/>
        </xsd:sequence>
      </xsd:complexType>
    </xsd:element>
    <xsd:element name="k9a925d7be4c452281f764c8b8b1b3f3" ma:index="37" ma:taxonomy="true" ma:internalName="k9a925d7be4c452281f764c8b8b1b3f3" ma:taxonomyFieldName="SwimlaneDO" ma:displayName="Swimlane - Document Owner" ma:indexed="true" ma:readOnly="false" ma:default="" ma:fieldId="{49a925d7-be4c-4522-81f7-64c8b8b1b3f3}" ma:sspId="9f8ee6ba-22ae-4b18-a96b-b6990d3e2b67" ma:termSetId="cac45e59-285a-4c47-89ac-50a992ae684f" ma:anchorId="3ac7a09e-b76c-4088-903b-3177ee397169" ma:open="false" ma:isKeyword="false">
      <xsd:complexType>
        <xsd:sequence>
          <xsd:element ref="pc:Terms" minOccurs="0" maxOccurs="1"/>
        </xsd:sequence>
      </xsd:complexType>
    </xsd:element>
    <xsd:element name="ndde19fd7ef1483493a8f1c53b1b6b1a" ma:index="38" ma:taxonomy="true" ma:internalName="ndde19fd7ef1483493a8f1c53b1b6b1a" ma:taxonomyFieldName="FlowPipe" ma:displayName="Flow &amp; Pipe" ma:indexed="true" ma:readOnly="false" ma:default="" ma:fieldId="{7dde19fd-7ef1-4834-93a8-f1c53b1b6b1a}" ma:sspId="9f8ee6ba-22ae-4b18-a96b-b6990d3e2b67" ma:termSetId="9abfc8cf-c748-47f6-9e73-fa499e1ded32" ma:anchorId="00000000-0000-0000-0000-000000000000" ma:open="false" ma:isKeyword="false">
      <xsd:complexType>
        <xsd:sequence>
          <xsd:element ref="pc:Terms" minOccurs="0" maxOccurs="1"/>
        </xsd:sequence>
      </xsd:complexType>
    </xsd:element>
    <xsd:element name="h2fe4d1c038e45e8889eb5b7cd50c800" ma:index="39" nillable="true" ma:taxonomy="true" ma:internalName="h2fe4d1c038e45e8889eb5b7cd50c800" ma:taxonomyFieldName="DocumentType" ma:displayName="Document Type" ma:indexed="true" ma:readOnly="false" ma:default="" ma:fieldId="{12fe4d1c-038e-45e8-889e-b5b7cd50c800}" ma:sspId="9f8ee6ba-22ae-4b18-a96b-b6990d3e2b67" ma:termSetId="7985808b-297d-4325-9d6c-6b8ba11487f4" ma:anchorId="00000000-0000-0000-0000-000000000000" ma:open="false" ma:isKeyword="false">
      <xsd:complexType>
        <xsd:sequence>
          <xsd:element ref="pc:Terms" minOccurs="0" maxOccurs="1"/>
        </xsd:sequence>
      </xsd:complexType>
    </xsd:element>
    <xsd:element name="iaa644f6615246ffac384ba389ed9d22" ma:index="40" nillable="true" ma:taxonomy="true" ma:internalName="iaa644f6615246ffac384ba389ed9d22" ma:taxonomyFieldName="RegionalIdentifier" ma:displayName="Regional Identifier" ma:readOnly="false" ma:default="" ma:fieldId="{2aa644f6-6152-46ff-ac38-4ba389ed9d22}" ma:sspId="9f8ee6ba-22ae-4b18-a96b-b6990d3e2b67" ma:termSetId="0c0e7ef1-ec70-42ae-89ef-3ca7fab66565" ma:anchorId="00000000-0000-0000-0000-000000000000" ma:open="false" ma:isKeyword="false">
      <xsd:complexType>
        <xsd:sequence>
          <xsd:element ref="pc:Terms" minOccurs="0" maxOccurs="1"/>
        </xsd:sequence>
      </xsd:complexType>
    </xsd:element>
    <xsd:element name="he11d22bca4f4dd7a936424bc304e998" ma:index="42" nillable="true" ma:taxonomy="true" ma:internalName="he11d22bca4f4dd7a936424bc304e998" ma:taxonomyFieldName="Division" ma:displayName="Division" ma:readOnly="false" ma:default="" ma:fieldId="{1e11d22b-ca4f-4dd7-a936-424bc304e998}" ma:sspId="9f8ee6ba-22ae-4b18-a96b-b6990d3e2b67" ma:termSetId="cac45e59-285a-4c47-89ac-50a992ae684f" ma:anchorId="42f6875b-cdc2-422c-b177-7dc4ff57190f" ma:open="false" ma:isKeyword="false">
      <xsd:complexType>
        <xsd:sequence>
          <xsd:element ref="pc:Terms" minOccurs="0" maxOccurs="1"/>
        </xsd:sequence>
      </xsd:complexType>
    </xsd:element>
    <xsd:element name="f2da7fc86df14e80848c715a582a09fc" ma:index="43" nillable="true" ma:taxonomy="true" ma:internalName="f2da7fc86df14e80848c715a582a09fc" ma:taxonomyFieldName="AppliesTo" ma:displayName="Applies To" ma:indexed="true" ma:readOnly="false" ma:default="4;#Electrical/Electronic Architecture|d29f3057-ceed-4c2b-8e04-cc67c851821f" ma:fieldId="{f2da7fc8-6df1-4e80-848c-715a582a09fc}" ma:sspId="9f8ee6ba-22ae-4b18-a96b-b6990d3e2b67" ma:termSetId="980b08b5-83a7-482e-a97a-c2bbc2baba7e" ma:anchorId="0374b421-8714-4188-adb6-b676266e31f5" ma:open="false" ma:isKeyword="false">
      <xsd:complexType>
        <xsd:sequence>
          <xsd:element ref="pc:Terms" minOccurs="0" maxOccurs="1"/>
        </xsd:sequence>
      </xsd:complexType>
    </xsd:element>
    <xsd:element name="m3e5d886d5834254918a02334e296b76" ma:index="44" nillable="true" ma:taxonomy="true" ma:internalName="m3e5d886d5834254918a02334e296b76" ma:taxonomyFieldName="emm_SiteName" ma:displayName="emm_SiteName" ma:readOnly="false" ma:default="11;#EOS Packard|ca96d14a-e0df-4472-85a8-f5588353657c" ma:fieldId="{63e5d886-d583-4254-918a-02334e296b76}" ma:sspId="9f8ee6ba-22ae-4b18-a96b-b6990d3e2b67" ma:termSetId="f71672fd-a586-4354-b730-108af30ebf17" ma:anchorId="00000000-0000-0000-0000-000000000000" ma:open="false" ma:isKeyword="false">
      <xsd:complexType>
        <xsd:sequence>
          <xsd:element ref="pc:Terms" minOccurs="0" maxOccurs="1"/>
        </xsd:sequence>
      </xsd:complexType>
    </xsd:element>
    <xsd:element name="ffb72c8aeb3f421fb176c6fc08d2cbe9" ma:index="48" ma:taxonomy="true" ma:internalName="ffb72c8aeb3f421fb176c6fc08d2cbe9" ma:taxonomyFieldName="EOSLanguage" ma:displayName="EOS Language" ma:indexed="true" ma:readOnly="false" ma:default="3;#English|0f869863-28c5-4bad-88f4-5e957fc1fedc" ma:fieldId="{ffb72c8a-eb3f-421f-b176-c6fc08d2cbe9}" ma:sspId="9f8ee6ba-22ae-4b18-a96b-b6990d3e2b67" ma:termSetId="51caa2fe-2100-4465-98b3-f767ccc42497" ma:anchorId="c865fae2-6ccc-4818-8a02-1baae675c8fe" ma:open="false" ma:isKeyword="false">
      <xsd:complexType>
        <xsd:sequence>
          <xsd:element ref="pc:Terms" minOccurs="0" maxOccurs="1"/>
        </xsd:sequence>
      </xsd:complexType>
    </xsd:element>
    <xsd:element name="SharedWithUsers" ma:index="6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6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7ad00f7-eb1f-49e9-a898-20fd00e2134b" elementFormDefault="qualified">
    <xsd:import namespace="http://schemas.microsoft.com/office/2006/documentManagement/types"/>
    <xsd:import namespace="http://schemas.microsoft.com/office/infopath/2007/PartnerControls"/>
    <xsd:element name="NeedsReprocessing" ma:index="26" nillable="true" ma:displayName="NeedsReprocessing" ma:default="0" ma:internalName="NeedsReprocessing" ma:readOnly="false">
      <xsd:simpleType>
        <xsd:restriction base="dms:Boolean"/>
      </xsd:simpleType>
    </xsd:element>
    <xsd:element name="i07f8e2dc724467c88034e42fb6bf3df" ma:index="54" nillable="true" ma:taxonomy="true" ma:internalName="i07f8e2dc724467c88034e42fb6bf3df" ma:taxonomyFieldName="Product_x0020_Line" ma:displayName="Product Line" ma:indexed="true" ma:readOnly="false" ma:default="" ma:fieldId="{207f8e2d-c724-467c-8803-4e42fb6bf3df}" ma:sspId="9f8ee6ba-22ae-4b18-a96b-b6990d3e2b67" ma:termSetId="cac45e59-285a-4c47-89ac-50a992ae684f" ma:anchorId="4e5ef880-62ff-485e-a237-259ea525603c" ma:open="false" ma:isKeyword="false">
      <xsd:complexType>
        <xsd:sequence>
          <xsd:element ref="pc:Terms" minOccurs="0" maxOccurs="1"/>
        </xsd:sequence>
      </xsd:complexType>
    </xsd:element>
    <xsd:element name="MediaServiceMetadata" ma:index="57" nillable="true" ma:displayName="MediaServiceMetadata" ma:hidden="true" ma:internalName="MediaServiceMetadata" ma:readOnly="true">
      <xsd:simpleType>
        <xsd:restriction base="dms:Note"/>
      </xsd:simpleType>
    </xsd:element>
    <xsd:element name="MediaServiceFastMetadata" ma:index="58" nillable="true" ma:displayName="MediaServiceFastMetadata" ma:hidden="true" ma:internalName="MediaServiceFastMetadata" ma:readOnly="true">
      <xsd:simpleType>
        <xsd:restriction base="dms:Note"/>
      </xsd:simpleType>
    </xsd:element>
    <xsd:element name="MediaServiceAutoKeyPoints" ma:index="60" nillable="true" ma:displayName="MediaServiceAutoKeyPoints" ma:hidden="true" ma:internalName="MediaServiceAutoKeyPoints" ma:readOnly="true">
      <xsd:simpleType>
        <xsd:restriction base="dms:Note"/>
      </xsd:simpleType>
    </xsd:element>
    <xsd:element name="MediaServiceKeyPoints" ma:index="61" nillable="true" ma:displayName="KeyPoints" ma:internalName="MediaServiceKeyPoints" ma:readOnly="true">
      <xsd:simpleType>
        <xsd:restriction base="dms:Note">
          <xsd:maxLength value="255"/>
        </xsd:restriction>
      </xsd:simpleType>
    </xsd:element>
    <xsd:element name="Last_x0020_Reviewed" ma:index="64" ma:displayName="Last Reviewed" ma:format="DateOnly" ma:indexed="true" ma:internalName="Last_x0020_Reviewed" ma:readOnly="false">
      <xsd:simpleType>
        <xsd:restriction base="dms:DateTime"/>
      </xsd:simpleType>
    </xsd:element>
    <xsd:element name="MediaServiceObjectDetectorVersions" ma:index="65" nillable="true" ma:displayName="MediaServiceObjectDetectorVersions" ma:hidden="true" ma:indexed="true" ma:internalName="MediaServiceObjectDetectorVersions" ma:readOnly="true">
      <xsd:simpleType>
        <xsd:restriction base="dms:Text"/>
      </xsd:simpleType>
    </xsd:element>
    <xsd:element name="MediaServiceSearchProperties" ma:index="6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c36092b-8ec2-40bd-b469-d1fe4f1e7785" elementFormDefault="qualified">
    <xsd:import namespace="http://schemas.microsoft.com/office/2006/documentManagement/types"/>
    <xsd:import namespace="http://schemas.microsoft.com/office/infopath/2007/PartnerControls"/>
    <xsd:element name="TaxCatchAll" ma:index="31" nillable="true" ma:displayName="Taxonomy Catch All Column" ma:hidden="true" ma:list="{1d5a3d42-05ae-4bb1-9d84-3ecfd3aa57cf}" ma:internalName="TaxCatchAll" ma:readOnly="false" ma:showField="CatchAllData" ma:web="c308d7af-8d34-4105-8a9f-128cf31d995c">
      <xsd:complexType>
        <xsd:complexContent>
          <xsd:extension base="dms:MultiChoiceLookup">
            <xsd:sequence>
              <xsd:element name="Value" type="dms:Lookup" maxOccurs="unbounded" minOccurs="0" nillable="true"/>
            </xsd:sequence>
          </xsd:extension>
        </xsd:complexContent>
      </xsd:complexType>
    </xsd:element>
    <xsd:element name="TaxCatchAllLabel" ma:index="46" nillable="true" ma:displayName="Taxonomy Catch All Column1" ma:hidden="true" ma:list="{1d5a3d42-05ae-4bb1-9d84-3ecfd3aa57cf}" ma:internalName="TaxCatchAllLabel" ma:readOnly="false" ma:showField="CatchAllDataLabel" ma:web="c308d7af-8d34-4105-8a9f-128cf31d995c">
      <xsd:complexType>
        <xsd:complexContent>
          <xsd:extension base="dms:MultiChoiceLookup">
            <xsd:sequence>
              <xsd:element name="Value" type="dms:Lookup" maxOccurs="unbounded" minOccurs="0" nillable="true"/>
            </xsd:sequence>
          </xsd:extension>
        </xsd:complexContent>
      </xsd:complexType>
    </xsd:element>
    <xsd:element name="fddf08f74f1e4eb0b4a866c10db37afa" ma:index="51" nillable="true" ma:taxonomy="true" ma:internalName="fddf08f74f1e4eb0b4a866c10db37afa" ma:taxonomyFieldName="emm_Division" ma:displayName="emm_Division" ma:readOnly="false" ma:fieldId="{fddf08f7-4f1e-4eb0-b4a8-66c10db37afa}" ma:sspId="9f8ee6ba-22ae-4b18-a96b-b6990d3e2b67" ma:termSetId="5dde4a48-55d5-4c0a-9779-582059f53b16" ma:anchorId="00000000-0000-0000-0000-000000000000" ma:open="false" ma:isKeyword="false">
      <xsd:complexType>
        <xsd:sequence>
          <xsd:element ref="pc:Terms" minOccurs="0" maxOccurs="1"/>
        </xsd:sequence>
      </xsd:complexType>
    </xsd:element>
    <xsd:element name="ka0759a5942f41c695b775aef8208f3e" ma:index="52" nillable="true" ma:taxonomy="true" ma:internalName="ka0759a5942f41c695b775aef8208f3e" ma:taxonomyFieldName="emm_Function" ma:displayName="emm_Function" ma:readOnly="false" ma:fieldId="{4a0759a5-942f-41c6-95b7-75aef8208f3e}" ma:sspId="9f8ee6ba-22ae-4b18-a96b-b6990d3e2b67" ma:termSetId="2cdd7b0f-fc41-4bc0-b507-1083be529d14" ma:anchorId="00000000-0000-0000-0000-000000000000" ma:open="false" ma:isKeyword="false">
      <xsd:complexType>
        <xsd:sequence>
          <xsd:element ref="pc:Terms" minOccurs="0" maxOccurs="1"/>
        </xsd:sequence>
      </xsd:complexType>
    </xsd:element>
    <xsd:element name="le32960acc2343b2a783ebfbeb256c3d" ma:index="53" nillable="true" ma:taxonomy="true" ma:internalName="le32960acc2343b2a783ebfbeb256c3d" ma:taxonomyFieldName="emm_Language" ma:displayName="emm_Language" ma:readOnly="false" ma:fieldId="{5e32960a-cc23-43b2-a783-ebfbeb256c3d}" ma:sspId="9f8ee6ba-22ae-4b18-a96b-b6990d3e2b67" ma:termSetId="628d4a0e-43e1-471b-bfbd-4dccf339dc98" ma:anchorId="00000000-0000-0000-0000-000000000000" ma:open="fals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1"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haredContentType xmlns="Microsoft.SharePoint.Taxonomy.ContentTypeSync" SourceId="9f8ee6ba-22ae-4b18-a96b-b6990d3e2b67" ContentTypeId="0x01" PreviousValue="false"/>
</file>

<file path=customXml/item4.xml><?xml version="1.0" encoding="utf-8"?>
<p:properties xmlns:p="http://schemas.microsoft.com/office/2006/metadata/properties" xmlns:xsi="http://www.w3.org/2001/XMLSchema-instance" xmlns:pc="http://schemas.microsoft.com/office/infopath/2007/PartnerControls">
  <documentManagement>
    <b936ac81c11149c28abe10623a36d336 xmlns="c308d7af-8d34-4105-8a9f-128cf31d995c">
      <Terms xmlns="http://schemas.microsoft.com/office/infopath/2007/PartnerControls">
        <TermInfo xmlns="http://schemas.microsoft.com/office/infopath/2007/PartnerControls">
          <TermName xmlns="http://schemas.microsoft.com/office/infopath/2007/PartnerControls">EDS</TermName>
          <TermId xmlns="http://schemas.microsoft.com/office/infopath/2007/PartnerControls">98e3e8fc-7860-4c9e-9fef-8587d7363aa4</TermId>
        </TermInfo>
      </Terms>
    </b936ac81c11149c28abe10623a36d336>
    <ReplacedBy xmlns="c308d7af-8d34-4105-8a9f-128cf31d995c" xsi:nil="true"/>
    <f8d7a6658cea4a10a51d8a3a11a6b803 xmlns="c308d7af-8d34-4105-8a9f-128cf31d995c">
      <Terms xmlns="http://schemas.microsoft.com/office/infopath/2007/PartnerControls">
        <TermInfo xmlns="http://schemas.microsoft.com/office/infopath/2007/PartnerControls">
          <TermName xmlns="http://schemas.microsoft.com/office/infopath/2007/PartnerControls">Program Management</TermName>
          <TermId xmlns="http://schemas.microsoft.com/office/infopath/2007/PartnerControls">8494c4b4-b55b-4d26-b280-1af9525a0432</TermId>
        </TermInfo>
        <TermInfo xmlns="http://schemas.microsoft.com/office/infopath/2007/PartnerControls">
          <TermName xmlns="http://schemas.microsoft.com/office/infopath/2007/PartnerControls">Product Engineering</TermName>
          <TermId xmlns="http://schemas.microsoft.com/office/infopath/2007/PartnerControls">621db317-de40-4d80-aa65-b89afbc5c530</TermId>
        </TermInfo>
        <TermInfo xmlns="http://schemas.microsoft.com/office/infopath/2007/PartnerControls">
          <TermName xmlns="http://schemas.microsoft.com/office/infopath/2007/PartnerControls">Manufacturing Engineering</TermName>
          <TermId xmlns="http://schemas.microsoft.com/office/infopath/2007/PartnerControls">2c7fde2e-2037-427d-b5f4-38db5502efb0</TermId>
        </TermInfo>
        <TermInfo xmlns="http://schemas.microsoft.com/office/infopath/2007/PartnerControls">
          <TermName xmlns="http://schemas.microsoft.com/office/infopath/2007/PartnerControls">Production Control</TermName>
          <TermId xmlns="http://schemas.microsoft.com/office/infopath/2007/PartnerControls">83dbb5c5-4926-466e-91b0-c2e6e6fe2a54</TermId>
        </TermInfo>
        <TermInfo xmlns="http://schemas.microsoft.com/office/infopath/2007/PartnerControls">
          <TermName xmlns="http://schemas.microsoft.com/office/infopath/2007/PartnerControls">Manufacturing</TermName>
          <TermId xmlns="http://schemas.microsoft.com/office/infopath/2007/PartnerControls">b1ea8de9-f6ce-4bd0-a6e3-6ea2cd943613</TermId>
        </TermInfo>
        <TermInfo xmlns="http://schemas.microsoft.com/office/infopath/2007/PartnerControls">
          <TermName xmlns="http://schemas.microsoft.com/office/infopath/2007/PartnerControls">Customer Satisfaction</TermName>
          <TermId xmlns="http://schemas.microsoft.com/office/infopath/2007/PartnerControls">4e4a150a-86cc-4af1-87dc-2768392eab49</TermId>
        </TermInfo>
        <TermInfo xmlns="http://schemas.microsoft.com/office/infopath/2007/PartnerControls">
          <TermName xmlns="http://schemas.microsoft.com/office/infopath/2007/PartnerControls">Environmental Health ＆ Safety-Corp.</TermName>
          <TermId xmlns="http://schemas.microsoft.com/office/infopath/2007/PartnerControls">b697c4a1-28b6-471e-bce9-8885cb20002c</TermId>
        </TermInfo>
      </Terms>
    </f8d7a6658cea4a10a51d8a3a11a6b803>
    <DCRInfo xmlns="c308d7af-8d34-4105-8a9f-128cf31d995c">2619</DCRInfo>
    <ApprovalDate xmlns="c308d7af-8d34-4105-8a9f-128cf31d995c">2024-12-02T05:00:00+00:00</ApprovalDate>
    <DocumentOwner xmlns="c308d7af-8d34-4105-8a9f-128cf31d995c">
      <UserInfo>
        <DisplayName>Andrade, Antonio</DisplayName>
        <AccountId>467</AccountId>
        <AccountType/>
      </UserInfo>
    </DocumentOwner>
    <OptionalIdentifier xmlns="c308d7af-8d34-4105-8a9f-128cf31d995c" xsi:nil="true"/>
    <DocumentState xmlns="c308d7af-8d34-4105-8a9f-128cf31d995c">Released</DocumentState>
    <h2fe4d1c038e45e8889eb5b7cd50c800 xmlns="c308d7af-8d34-4105-8a9f-128cf31d995c">
      <Terms xmlns="http://schemas.microsoft.com/office/infopath/2007/PartnerControls">
        <TermInfo xmlns="http://schemas.microsoft.com/office/infopath/2007/PartnerControls">
          <TermName xmlns="http://schemas.microsoft.com/office/infopath/2007/PartnerControls">Procedure</TermName>
          <TermId xmlns="http://schemas.microsoft.com/office/infopath/2007/PartnerControls">64e15cbe-4824-438d-8b65-1d27b336f011</TermId>
        </TermInfo>
      </Terms>
    </h2fe4d1c038e45e8889eb5b7cd50c800>
    <EOSDocNum xmlns="c308d7af-8d34-4105-8a9f-128cf31d995c">EAGP_4-4_MG_01_EN</EOSDocNum>
    <TaxCatchAll xmlns="0c36092b-8ec2-40bd-b469-d1fe4f1e7785">
      <Value>108</Value>
      <Value>64</Value>
      <Value>96</Value>
      <Value>95</Value>
      <Value>55</Value>
      <Value>54</Value>
      <Value>21</Value>
      <Value>307</Value>
      <Value>44</Value>
      <Value>5</Value>
      <Value>78</Value>
      <Value>3</Value>
      <Value>2</Value>
    </TaxCatchAll>
    <DocumentController xmlns="c308d7af-8d34-4105-8a9f-128cf31d995c">
      <UserInfo>
        <DisplayName>Dragoi, Alina</DisplayName>
        <AccountId>33</AccountId>
        <AccountType/>
      </UserInfo>
    </DocumentController>
    <SecondaryDocSeriesNum xmlns="c308d7af-8d34-4105-8a9f-128cf31d995c" xsi:nil="true"/>
    <ObsoleteDate xmlns="c308d7af-8d34-4105-8a9f-128cf31d995c" xsi:nil="true"/>
    <Replaces xmlns="c308d7af-8d34-4105-8a9f-128cf31d995c">EAGP_4-4_BU_01_EN</Replaces>
    <he11d22bca4f4dd7a936424bc304e998 xmlns="c308d7af-8d34-4105-8a9f-128cf31d995c">
      <Terms xmlns="http://schemas.microsoft.com/office/infopath/2007/PartnerControls">
        <TermInfo xmlns="http://schemas.microsoft.com/office/infopath/2007/PartnerControls">
          <TermName xmlns="http://schemas.microsoft.com/office/infopath/2007/PartnerControls">S＆PS</TermName>
          <TermId xmlns="http://schemas.microsoft.com/office/infopath/2007/PartnerControls">40978b63-ad8c-4cb8-9bea-75e613fea672</TermId>
        </TermInfo>
      </Terms>
    </he11d22bca4f4dd7a936424bc304e998>
    <b91eb8078c9543538bce35d45c081f79 xmlns="c308d7af-8d34-4105-8a9f-128cf31d995c">
      <Terms xmlns="http://schemas.microsoft.com/office/infopath/2007/PartnerControls">
        <TermInfo xmlns="http://schemas.microsoft.com/office/infopath/2007/PartnerControls">
          <TermName xmlns="http://schemas.microsoft.com/office/infopath/2007/PartnerControls">Global</TermName>
          <TermId xmlns="http://schemas.microsoft.com/office/infopath/2007/PartnerControls">69131ddd-08f9-4e82-a493-4c385ab63c3d</TermId>
        </TermInfo>
      </Terms>
    </b91eb8078c9543538bce35d45c081f79>
    <PrimaryDocSeriesNum xmlns="c308d7af-8d34-4105-8a9f-128cf31d995c">01</PrimaryDocSeriesNum>
    <ChildDocNum xmlns="c308d7af-8d34-4105-8a9f-128cf31d995c" xsi:nil="true"/>
    <ffb72c8aeb3f421fb176c6fc08d2cbe9 xmlns="c308d7af-8d34-4105-8a9f-128cf31d995c">
      <Terms xmlns="http://schemas.microsoft.com/office/infopath/2007/PartnerControls">
        <TermInfo xmlns="http://schemas.microsoft.com/office/infopath/2007/PartnerControls">
          <TermName xmlns="http://schemas.microsoft.com/office/infopath/2007/PartnerControls">English</TermName>
          <TermId xmlns="http://schemas.microsoft.com/office/infopath/2007/PartnerControls">0f869863-28c5-4bad-88f4-5e957fc1fedc</TermId>
        </TermInfo>
      </Terms>
    </ffb72c8aeb3f421fb176c6fc08d2cbe9>
    <k9a925d7be4c452281f764c8b8b1b3f3 xmlns="c308d7af-8d34-4105-8a9f-128cf31d995c">
      <Terms xmlns="http://schemas.microsoft.com/office/infopath/2007/PartnerControls">
        <TermInfo xmlns="http://schemas.microsoft.com/office/infopath/2007/PartnerControls">
          <TermName xmlns="http://schemas.microsoft.com/office/infopath/2007/PartnerControls">Manufacturing</TermName>
          <TermId xmlns="http://schemas.microsoft.com/office/infopath/2007/PartnerControls">b1ea8de9-f6ce-4bd0-a6e3-6ea2cd943613</TermId>
        </TermInfo>
      </Terms>
    </k9a925d7be4c452281f764c8b8b1b3f3>
    <m65c1b3ed9cd4a9daeead227122b534d xmlns="c308d7af-8d34-4105-8a9f-128cf31d995c">
      <Terms xmlns="http://schemas.microsoft.com/office/infopath/2007/PartnerControls"/>
    </m65c1b3ed9cd4a9daeead227122b534d>
    <EffectiveDate xmlns="c308d7af-8d34-4105-8a9f-128cf31d995c">2024-12-23T05:00:00+00:00</EffectiveDate>
    <ndde19fd7ef1483493a8f1c53b1b6b1a xmlns="c308d7af-8d34-4105-8a9f-128cf31d995c">
      <Terms xmlns="http://schemas.microsoft.com/office/infopath/2007/PartnerControls">
        <TermInfo xmlns="http://schemas.microsoft.com/office/infopath/2007/PartnerControls">
          <TermName xmlns="http://schemas.microsoft.com/office/infopath/2007/PartnerControls">4-4 Validate Requirements</TermName>
          <TermId xmlns="http://schemas.microsoft.com/office/infopath/2007/PartnerControls">55cbbde4-8c40-4e75-854e-ffcd046f746b</TermId>
        </TermInfo>
      </Terms>
    </ndde19fd7ef1483493a8f1c53b1b6b1a>
    <ka0759a5942f41c695b775aef8208f3e xmlns="0c36092b-8ec2-40bd-b469-d1fe4f1e7785">
      <Terms xmlns="http://schemas.microsoft.com/office/infopath/2007/PartnerControls"/>
    </ka0759a5942f41c695b775aef8208f3e>
    <le32960acc2343b2a783ebfbeb256c3d xmlns="0c36092b-8ec2-40bd-b469-d1fe4f1e7785">
      <Terms xmlns="http://schemas.microsoft.com/office/infopath/2007/PartnerControls"/>
    </le32960acc2343b2a783ebfbeb256c3d>
    <fddf08f74f1e4eb0b4a866c10db37afa xmlns="0c36092b-8ec2-40bd-b469-d1fe4f1e7785">
      <Terms xmlns="http://schemas.microsoft.com/office/infopath/2007/PartnerControls"/>
    </fddf08f74f1e4eb0b4a866c10db37afa>
    <TaxCatchAllLabel xmlns="0c36092b-8ec2-40bd-b469-d1fe4f1e7785" xsi:nil="true"/>
    <Last_x0020_Reviewed xmlns="d7ad00f7-eb1f-49e9-a898-20fd00e2134b">2024-12-02T05:00:00+00:00</Last_x0020_Reviewed>
    <NeedsReprocessing xmlns="d7ad00f7-eb1f-49e9-a898-20fd00e2134b">false</NeedsReprocessing>
    <f2da7fc86df14e80848c715a582a09fc xmlns="c308d7af-8d34-4105-8a9f-128cf31d995c">
      <Terms xmlns="http://schemas.microsoft.com/office/infopath/2007/PartnerControls"/>
    </f2da7fc86df14e80848c715a582a09fc>
    <m3e5d886d5834254918a02334e296b76 xmlns="c308d7af-8d34-4105-8a9f-128cf31d995c">
      <Terms xmlns="http://schemas.microsoft.com/office/infopath/2007/PartnerControls"/>
    </m3e5d886d5834254918a02334e296b76>
    <i07f8e2dc724467c88034e42fb6bf3df xmlns="d7ad00f7-eb1f-49e9-a898-20fd00e2134b">
      <Terms xmlns="http://schemas.microsoft.com/office/infopath/2007/PartnerControls"/>
    </i07f8e2dc724467c88034e42fb6bf3df>
    <iaa644f6615246ffac384ba389ed9d22 xmlns="c308d7af-8d34-4105-8a9f-128cf31d995c">
      <Terms xmlns="http://schemas.microsoft.com/office/infopath/2007/PartnerControls">
        <TermInfo xmlns="http://schemas.microsoft.com/office/infopath/2007/PartnerControls">
          <TermName xmlns="http://schemas.microsoft.com/office/infopath/2007/PartnerControls">Global</TermName>
          <TermId xmlns="http://schemas.microsoft.com/office/infopath/2007/PartnerControls">69131ddd-08f9-4e82-a493-4c385ab63c3d</TermId>
        </TermInfo>
      </Terms>
    </iaa644f6615246ffac384ba389ed9d22>
  </documentManagement>
</p:properties>
</file>

<file path=customXml/itemProps1.xml><?xml version="1.0" encoding="utf-8"?>
<ds:datastoreItem xmlns:ds="http://schemas.openxmlformats.org/officeDocument/2006/customXml" ds:itemID="{7DA1A9E5-85CB-46EF-82A1-5890A49A85F0}">
  <ds:schemaRefs>
    <ds:schemaRef ds:uri="http://schemas.microsoft.com/sharepoint/v3/contenttype/forms"/>
  </ds:schemaRefs>
</ds:datastoreItem>
</file>

<file path=customXml/itemProps2.xml><?xml version="1.0" encoding="utf-8"?>
<ds:datastoreItem xmlns:ds="http://schemas.openxmlformats.org/officeDocument/2006/customXml" ds:itemID="{32759179-125B-4F16-A703-438DCAF6C3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308d7af-8d34-4105-8a9f-128cf31d995c"/>
    <ds:schemaRef ds:uri="d7ad00f7-eb1f-49e9-a898-20fd00e2134b"/>
    <ds:schemaRef ds:uri="0c36092b-8ec2-40bd-b469-d1fe4f1e77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AC0035D-0817-4F49-AC53-323825D00895}">
  <ds:schemaRefs>
    <ds:schemaRef ds:uri="Microsoft.SharePoint.Taxonomy.ContentTypeSync"/>
  </ds:schemaRefs>
</ds:datastoreItem>
</file>

<file path=customXml/itemProps4.xml><?xml version="1.0" encoding="utf-8"?>
<ds:datastoreItem xmlns:ds="http://schemas.openxmlformats.org/officeDocument/2006/customXml" ds:itemID="{8FD342AB-EC70-4A17-AEFD-9D38AC74CA56}">
  <ds:schemaRefs>
    <ds:schemaRef ds:uri="0c36092b-8ec2-40bd-b469-d1fe4f1e7785"/>
    <ds:schemaRef ds:uri="http://purl.org/dc/elements/1.1/"/>
    <ds:schemaRef ds:uri="d7ad00f7-eb1f-49e9-a898-20fd00e2134b"/>
    <ds:schemaRef ds:uri="c308d7af-8d34-4105-8a9f-128cf31d995c"/>
    <ds:schemaRef ds:uri="http://schemas.openxmlformats.org/package/2006/metadata/core-properties"/>
    <ds:schemaRef ds:uri="http://purl.org/dc/terms/"/>
    <ds:schemaRef ds:uri="http://schemas.microsoft.com/office/2006/documentManagement/types"/>
    <ds:schemaRef ds:uri="http://purl.org/dc/dcmitype/"/>
    <ds:schemaRef ds:uri="http://schemas.microsoft.com/office/infopath/2007/PartnerControl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1369</Words>
  <Application>Microsoft Office PowerPoint</Application>
  <PresentationFormat>On-screen Show (4:3)</PresentationFormat>
  <Paragraphs>194</Paragraphs>
  <Slides>6</Slides>
  <Notes>6</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6</vt:i4>
      </vt:variant>
    </vt:vector>
  </HeadingPairs>
  <TitlesOfParts>
    <vt:vector size="12" baseType="lpstr">
      <vt:lpstr>Monotype Sorts</vt:lpstr>
      <vt:lpstr>Arial</vt:lpstr>
      <vt:lpstr>Calibri</vt:lpstr>
      <vt:lpstr>Times New Roman</vt:lpstr>
      <vt:lpstr>Custom Design</vt:lpstr>
      <vt:lpstr>Worksheet</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Transfer Execution</dc:title>
  <dc:creator/>
  <cp:lastModifiedBy/>
  <cp:revision>7</cp:revision>
  <dcterms:created xsi:type="dcterms:W3CDTF">2018-02-14T14:57:12Z</dcterms:created>
  <dcterms:modified xsi:type="dcterms:W3CDTF">2026-05-09T13:00:58Z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wimlaneParticipant">
    <vt:lpwstr>95;#Program Management|8494c4b4-b55b-4d26-b280-1af9525a0432;#96;#Product Engineering|621db317-de40-4d80-aa65-b89afbc5c530;#44;#Manufacturing Engineering|2c7fde2e-2037-427d-b5f4-38db5502efb0;#55;#Production Control|83dbb5c5-4926-466e-91b0-c2e6e6fe2a54;#54;#Manufacturing|b1ea8de9-f6ce-4bd0-a6e3-6ea2cd943613;#21;#Customer Satisfaction|4e4a150a-86cc-4af1-87dc-2768392eab49;#307;#Environmental Health ＆ Safety-Corp.|b697c4a1-28b6-471e-bce9-8885cb20002c</vt:lpwstr>
  </property>
  <property fmtid="{D5CDD505-2E9C-101B-9397-08002B2CF9AE}" pid="3" name="AppliesTo">
    <vt:lpwstr/>
  </property>
  <property fmtid="{D5CDD505-2E9C-101B-9397-08002B2CF9AE}" pid="4" name="Region">
    <vt:lpwstr>2;#Global|69131ddd-08f9-4e82-a493-4c385ab63c3d</vt:lpwstr>
  </property>
  <property fmtid="{D5CDD505-2E9C-101B-9397-08002B2CF9AE}" pid="5" name="emm_SiteName">
    <vt:lpwstr/>
  </property>
  <property fmtid="{D5CDD505-2E9C-101B-9397-08002B2CF9AE}" pid="6" name="emm_Division">
    <vt:lpwstr/>
  </property>
  <property fmtid="{D5CDD505-2E9C-101B-9397-08002B2CF9AE}" pid="7" name="PBU">
    <vt:lpwstr>108;#EDS|98e3e8fc-7860-4c9e-9fef-8587d7363aa4</vt:lpwstr>
  </property>
  <property fmtid="{D5CDD505-2E9C-101B-9397-08002B2CF9AE}" pid="8" name="EOSLanguage">
    <vt:lpwstr>3;#English|0f869863-28c5-4bad-88f4-5e957fc1fedc</vt:lpwstr>
  </property>
  <property fmtid="{D5CDD505-2E9C-101B-9397-08002B2CF9AE}" pid="9" name="ContentTypeId">
    <vt:lpwstr>0x010100D1D3186A8B59604F90124F3B9C63333C008C7C7C2BCEAECD42A4292251E1C1C1D5</vt:lpwstr>
  </property>
  <property fmtid="{D5CDD505-2E9C-101B-9397-08002B2CF9AE}" pid="10" name="RegionalIdentifier">
    <vt:lpwstr>2;#Global|69131ddd-08f9-4e82-a493-4c385ab63c3d</vt:lpwstr>
  </property>
  <property fmtid="{D5CDD505-2E9C-101B-9397-08002B2CF9AE}" pid="11" name="emm_Language">
    <vt:lpwstr/>
  </property>
  <property fmtid="{D5CDD505-2E9C-101B-9397-08002B2CF9AE}" pid="12" name="FlowPipe">
    <vt:lpwstr>64;#4-4 Validate Requirements|55cbbde4-8c40-4e75-854e-ffcd046f746b</vt:lpwstr>
  </property>
  <property fmtid="{D5CDD505-2E9C-101B-9397-08002B2CF9AE}" pid="13" name="Division">
    <vt:lpwstr>5;#S＆PS|40978b63-ad8c-4cb8-9bea-75e613fea672</vt:lpwstr>
  </property>
  <property fmtid="{D5CDD505-2E9C-101B-9397-08002B2CF9AE}" pid="14" name="DocumentType">
    <vt:lpwstr>78;#Procedure|64e15cbe-4824-438d-8b65-1d27b336f011</vt:lpwstr>
  </property>
  <property fmtid="{D5CDD505-2E9C-101B-9397-08002B2CF9AE}" pid="15" name="StakeholderBank">
    <vt:lpwstr/>
  </property>
  <property fmtid="{D5CDD505-2E9C-101B-9397-08002B2CF9AE}" pid="16" name="SwimlaneDO">
    <vt:lpwstr>54;#Manufacturing|b1ea8de9-f6ce-4bd0-a6e3-6ea2cd943613</vt:lpwstr>
  </property>
  <property fmtid="{D5CDD505-2E9C-101B-9397-08002B2CF9AE}" pid="17" name="emm_Function">
    <vt:lpwstr/>
  </property>
  <property fmtid="{D5CDD505-2E9C-101B-9397-08002B2CF9AE}" pid="18" name="URL">
    <vt:lpwstr/>
  </property>
  <property fmtid="{D5CDD505-2E9C-101B-9397-08002B2CF9AE}" pid="19" name="Product_x0020_Line">
    <vt:lpwstr/>
  </property>
  <property fmtid="{D5CDD505-2E9C-101B-9397-08002B2CF9AE}" pid="20" name="Product Line">
    <vt:lpwstr/>
  </property>
  <property fmtid="{D5CDD505-2E9C-101B-9397-08002B2CF9AE}" pid="21" name="MSIP_Label_37edc1c9-378e-46d2-aabb-de5286b8cba1_Enabled">
    <vt:lpwstr>true</vt:lpwstr>
  </property>
  <property fmtid="{D5CDD505-2E9C-101B-9397-08002B2CF9AE}" pid="22" name="MSIP_Label_37edc1c9-378e-46d2-aabb-de5286b8cba1_SetDate">
    <vt:lpwstr>2026-05-09T13:00:57Z</vt:lpwstr>
  </property>
  <property fmtid="{D5CDD505-2E9C-101B-9397-08002B2CF9AE}" pid="23" name="MSIP_Label_37edc1c9-378e-46d2-aabb-de5286b8cba1_Method">
    <vt:lpwstr>Privileged</vt:lpwstr>
  </property>
  <property fmtid="{D5CDD505-2E9C-101B-9397-08002B2CF9AE}" pid="24" name="MSIP_Label_37edc1c9-378e-46d2-aabb-de5286b8cba1_Name">
    <vt:lpwstr>Public</vt:lpwstr>
  </property>
  <property fmtid="{D5CDD505-2E9C-101B-9397-08002B2CF9AE}" pid="25" name="MSIP_Label_37edc1c9-378e-46d2-aabb-de5286b8cba1_SiteId">
    <vt:lpwstr>6b1311e5-123f-49db-acdf-8847c2d00bed</vt:lpwstr>
  </property>
  <property fmtid="{D5CDD505-2E9C-101B-9397-08002B2CF9AE}" pid="26" name="MSIP_Label_37edc1c9-378e-46d2-aabb-de5286b8cba1_ActionId">
    <vt:lpwstr>931f219e-e9a1-44fe-ab95-a9da28672a86</vt:lpwstr>
  </property>
  <property fmtid="{D5CDD505-2E9C-101B-9397-08002B2CF9AE}" pid="27" name="MSIP_Label_37edc1c9-378e-46d2-aabb-de5286b8cba1_ContentBits">
    <vt:lpwstr>0</vt:lpwstr>
  </property>
  <property fmtid="{D5CDD505-2E9C-101B-9397-08002B2CF9AE}" pid="28" name="MSIP_Label_37edc1c9-378e-46d2-aabb-de5286b8cba1_Tag">
    <vt:lpwstr>10, 0, 1, 1</vt:lpwstr>
  </property>
</Properties>
</file>