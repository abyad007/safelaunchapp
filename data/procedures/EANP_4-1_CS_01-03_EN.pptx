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5"/>
  </p:sldMasterIdLst>
  <p:notesMasterIdLst>
    <p:notesMasterId r:id="rId16"/>
  </p:notesMasterIdLst>
  <p:sldIdLst>
    <p:sldId id="276" r:id="rId6"/>
    <p:sldId id="279" r:id="rId7"/>
    <p:sldId id="280" r:id="rId8"/>
    <p:sldId id="281" r:id="rId9"/>
    <p:sldId id="283" r:id="rId10"/>
    <p:sldId id="284" r:id="rId11"/>
    <p:sldId id="642" r:id="rId12"/>
    <p:sldId id="640" r:id="rId13"/>
    <p:sldId id="641" r:id="rId14"/>
    <p:sldId id="643" r:id="rId15"/>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B7D1CF"/>
    <a:srgbClr val="424343"/>
    <a:srgbClr val="21C1DE"/>
    <a:srgbClr val="CF3335"/>
    <a:srgbClr val="F84018"/>
    <a:srgbClr val="4E7C88"/>
    <a:srgbClr val="929D96"/>
    <a:srgbClr val="E1F4FF"/>
    <a:srgbClr val="21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AB0AF-A5C4-55EC-1DAC-2F828CEAD642}" v="2" dt="2026-05-09T13:11:13.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varScale="1">
        <p:scale>
          <a:sx n="70" d="100"/>
          <a:sy n="70" d="100"/>
        </p:scale>
        <p:origin x="416" y="5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1" d="100"/>
          <a:sy n="91" d="100"/>
        </p:scale>
        <p:origin x="6197"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0DEF49-07D2-4E12-A000-893389A36B85}" type="doc">
      <dgm:prSet loTypeId="urn:microsoft.com/office/officeart/2005/8/layout/cycle5" loCatId="cycle" qsTypeId="urn:microsoft.com/office/officeart/2005/8/quickstyle/simple1" qsCatId="simple" csTypeId="urn:microsoft.com/office/officeart/2005/8/colors/accent3_1" csCatId="accent3" phldr="1"/>
      <dgm:spPr/>
      <dgm:t>
        <a:bodyPr/>
        <a:lstStyle/>
        <a:p>
          <a:endParaRPr lang="en-US"/>
        </a:p>
      </dgm:t>
    </dgm:pt>
    <dgm:pt modelId="{C144DA8D-A9AF-4B60-B7FE-1C9CEB7B5023}">
      <dgm:prSet phldrT="[Text]" custT="1"/>
      <dgm:spPr>
        <a:solidFill>
          <a:schemeClr val="accent2">
            <a:lumMod val="20000"/>
            <a:lumOff val="80000"/>
          </a:schemeClr>
        </a:solidFill>
        <a:ln>
          <a:solidFill>
            <a:schemeClr val="tx1"/>
          </a:solidFill>
        </a:ln>
      </dgm:spPr>
      <dgm:t>
        <a:bodyPr/>
        <a:lstStyle/>
        <a:p>
          <a:r>
            <a:rPr lang="en-US" sz="900" b="1" dirty="0">
              <a:solidFill>
                <a:schemeClr val="tx1"/>
              </a:solidFill>
              <a:latin typeface="+mj-lt"/>
            </a:rPr>
            <a:t>2</a:t>
          </a:r>
          <a:r>
            <a:rPr lang="en-US" sz="900" dirty="0">
              <a:latin typeface="+mj-lt"/>
            </a:rPr>
            <a:t>. </a:t>
          </a:r>
          <a:r>
            <a:rPr lang="en-US" sz="800" b="1" dirty="0">
              <a:latin typeface="+mj-lt"/>
            </a:rPr>
            <a:t>Do a KIM for the program </a:t>
          </a:r>
          <a:r>
            <a:rPr lang="en-US" sz="900" dirty="0">
              <a:latin typeface="+mj-lt"/>
            </a:rPr>
            <a:t>(involve experts)</a:t>
          </a:r>
        </a:p>
      </dgm:t>
    </dgm:pt>
    <dgm:pt modelId="{B574FA5C-CB9E-4DE7-8005-0B990E6CCA01}" type="parTrans" cxnId="{D20F7FE4-2A35-4C57-881B-CE400F236070}">
      <dgm:prSet/>
      <dgm:spPr/>
      <dgm:t>
        <a:bodyPr/>
        <a:lstStyle/>
        <a:p>
          <a:endParaRPr lang="en-US" sz="1050">
            <a:latin typeface="+mj-lt"/>
          </a:endParaRPr>
        </a:p>
      </dgm:t>
    </dgm:pt>
    <dgm:pt modelId="{D2777BFF-AF40-4859-B2AC-4886C5622EB1}" type="sibTrans" cxnId="{D20F7FE4-2A35-4C57-881B-CE400F236070}">
      <dgm:prSet/>
      <dgm:spPr>
        <a:ln>
          <a:solidFill>
            <a:schemeClr val="tx1"/>
          </a:solidFill>
        </a:ln>
      </dgm:spPr>
      <dgm:t>
        <a:bodyPr/>
        <a:lstStyle/>
        <a:p>
          <a:endParaRPr lang="en-US" sz="1050">
            <a:latin typeface="+mj-lt"/>
          </a:endParaRPr>
        </a:p>
      </dgm:t>
    </dgm:pt>
    <dgm:pt modelId="{D1E59F3A-AD94-4E24-9C1E-D5A2E74D4EB0}">
      <dgm:prSet phldrT="[Text]" custT="1"/>
      <dgm:spPr>
        <a:solidFill>
          <a:schemeClr val="accent2">
            <a:lumMod val="20000"/>
            <a:lumOff val="80000"/>
          </a:schemeClr>
        </a:solidFill>
        <a:ln>
          <a:solidFill>
            <a:schemeClr val="tx1"/>
          </a:solidFill>
        </a:ln>
      </dgm:spPr>
      <dgm:t>
        <a:bodyPr/>
        <a:lstStyle/>
        <a:p>
          <a:r>
            <a:rPr lang="en-US" sz="800" dirty="0">
              <a:latin typeface="+mj-lt"/>
            </a:rPr>
            <a:t>4. </a:t>
          </a:r>
          <a:r>
            <a:rPr lang="en-US" sz="800" b="1" dirty="0">
              <a:latin typeface="+mj-lt"/>
            </a:rPr>
            <a:t>Do  QAM per product type </a:t>
          </a:r>
          <a:r>
            <a:rPr lang="en-US" sz="800" b="0" dirty="0">
              <a:latin typeface="+mj-lt"/>
            </a:rPr>
            <a:t>(include PE &amp; Q)</a:t>
          </a:r>
        </a:p>
      </dgm:t>
    </dgm:pt>
    <dgm:pt modelId="{5CEE9336-8293-498C-86F7-72686962825A}" type="parTrans" cxnId="{45928C14-7B2F-4364-AA86-0B369D4D27B0}">
      <dgm:prSet/>
      <dgm:spPr/>
      <dgm:t>
        <a:bodyPr/>
        <a:lstStyle/>
        <a:p>
          <a:endParaRPr lang="en-US" sz="1050">
            <a:latin typeface="+mj-lt"/>
          </a:endParaRPr>
        </a:p>
      </dgm:t>
    </dgm:pt>
    <dgm:pt modelId="{421AF516-F729-4357-984C-86782457FA5A}" type="sibTrans" cxnId="{45928C14-7B2F-4364-AA86-0B369D4D27B0}">
      <dgm:prSet/>
      <dgm:spPr>
        <a:ln>
          <a:solidFill>
            <a:schemeClr val="tx1"/>
          </a:solidFill>
        </a:ln>
      </dgm:spPr>
      <dgm:t>
        <a:bodyPr/>
        <a:lstStyle/>
        <a:p>
          <a:endParaRPr lang="en-US" sz="1050">
            <a:latin typeface="+mj-lt"/>
          </a:endParaRPr>
        </a:p>
      </dgm:t>
    </dgm:pt>
    <dgm:pt modelId="{BC429C6B-AF76-48BE-BF3D-8780D66967C4}">
      <dgm:prSet phldrT="[Text]" custT="1"/>
      <dgm:spPr>
        <a:solidFill>
          <a:schemeClr val="accent2">
            <a:lumMod val="20000"/>
            <a:lumOff val="80000"/>
          </a:schemeClr>
        </a:solidFill>
        <a:ln>
          <a:solidFill>
            <a:schemeClr val="tx1"/>
          </a:solidFill>
        </a:ln>
      </dgm:spPr>
      <dgm:t>
        <a:bodyPr/>
        <a:lstStyle/>
        <a:p>
          <a:r>
            <a:rPr lang="en-US" sz="800" dirty="0">
              <a:latin typeface="+mj-lt"/>
            </a:rPr>
            <a:t>5. </a:t>
          </a:r>
          <a:r>
            <a:rPr lang="en-US" sz="800" dirty="0" err="1">
              <a:latin typeface="+mj-lt"/>
            </a:rPr>
            <a:t>Quailty</a:t>
          </a:r>
          <a:r>
            <a:rPr lang="en-US" sz="800" dirty="0">
              <a:latin typeface="+mj-lt"/>
            </a:rPr>
            <a:t> team to </a:t>
          </a:r>
          <a:r>
            <a:rPr lang="en-US" sz="800" b="1" dirty="0">
              <a:latin typeface="+mj-lt"/>
            </a:rPr>
            <a:t>Review SOW vs. QAM &amp; KIM with ME experts</a:t>
          </a:r>
        </a:p>
      </dgm:t>
    </dgm:pt>
    <dgm:pt modelId="{72C6DC71-08FC-428C-8185-5C576E8CC3D8}" type="parTrans" cxnId="{3668E7CC-5F44-4FD5-9459-279FE64BF736}">
      <dgm:prSet/>
      <dgm:spPr/>
      <dgm:t>
        <a:bodyPr/>
        <a:lstStyle/>
        <a:p>
          <a:endParaRPr lang="en-US" sz="1050">
            <a:latin typeface="+mj-lt"/>
          </a:endParaRPr>
        </a:p>
      </dgm:t>
    </dgm:pt>
    <dgm:pt modelId="{81DF073E-2276-4115-9CFE-F77249378473}" type="sibTrans" cxnId="{3668E7CC-5F44-4FD5-9459-279FE64BF736}">
      <dgm:prSet/>
      <dgm:spPr>
        <a:ln>
          <a:solidFill>
            <a:schemeClr val="tx1"/>
          </a:solidFill>
        </a:ln>
      </dgm:spPr>
      <dgm:t>
        <a:bodyPr/>
        <a:lstStyle/>
        <a:p>
          <a:endParaRPr lang="en-US" sz="1050">
            <a:latin typeface="+mj-lt"/>
          </a:endParaRPr>
        </a:p>
      </dgm:t>
    </dgm:pt>
    <dgm:pt modelId="{9E725B65-B849-4649-B8E8-9680A7405479}">
      <dgm:prSet phldrT="[Text]" custT="1"/>
      <dgm:spPr>
        <a:solidFill>
          <a:schemeClr val="accent2">
            <a:lumMod val="20000"/>
            <a:lumOff val="80000"/>
          </a:schemeClr>
        </a:solidFill>
        <a:ln>
          <a:solidFill>
            <a:schemeClr val="tx1"/>
          </a:solidFill>
        </a:ln>
      </dgm:spPr>
      <dgm:t>
        <a:bodyPr/>
        <a:lstStyle/>
        <a:p>
          <a:r>
            <a:rPr lang="en-US" sz="1050" b="1" dirty="0">
              <a:solidFill>
                <a:schemeClr val="tx1"/>
              </a:solidFill>
              <a:latin typeface="+mj-lt"/>
            </a:rPr>
            <a:t>6. </a:t>
          </a:r>
          <a:r>
            <a:rPr lang="en-US" sz="900" b="0" dirty="0">
              <a:solidFill>
                <a:schemeClr val="tx1"/>
              </a:solidFill>
              <a:latin typeface="+mj-lt"/>
            </a:rPr>
            <a:t>Formalize a SOW per Product Type </a:t>
          </a:r>
          <a:r>
            <a:rPr lang="en-US" sz="900" b="0" i="1" u="sng" dirty="0">
              <a:solidFill>
                <a:schemeClr val="tx1"/>
              </a:solidFill>
              <a:latin typeface="+mj-lt"/>
            </a:rPr>
            <a:t>prior to PO issued </a:t>
          </a:r>
          <a:r>
            <a:rPr lang="en-US" sz="900" b="0" i="1" dirty="0">
              <a:solidFill>
                <a:schemeClr val="tx1"/>
              </a:solidFill>
              <a:latin typeface="+mj-lt"/>
            </a:rPr>
            <a:t>for equipment</a:t>
          </a:r>
        </a:p>
      </dgm:t>
    </dgm:pt>
    <dgm:pt modelId="{55AAAEAC-8DE7-4038-8A56-A94210B1C186}" type="parTrans" cxnId="{3AEAFC3C-DF0A-44C2-B45E-D74E0715075A}">
      <dgm:prSet/>
      <dgm:spPr/>
      <dgm:t>
        <a:bodyPr/>
        <a:lstStyle/>
        <a:p>
          <a:endParaRPr lang="en-US" sz="1050">
            <a:latin typeface="+mj-lt"/>
          </a:endParaRPr>
        </a:p>
      </dgm:t>
    </dgm:pt>
    <dgm:pt modelId="{AB11B756-F178-48B6-9EB6-2775AEE05FBC}" type="sibTrans" cxnId="{3AEAFC3C-DF0A-44C2-B45E-D74E0715075A}">
      <dgm:prSet/>
      <dgm:spPr>
        <a:ln>
          <a:solidFill>
            <a:schemeClr val="tx1"/>
          </a:solidFill>
        </a:ln>
      </dgm:spPr>
      <dgm:t>
        <a:bodyPr/>
        <a:lstStyle/>
        <a:p>
          <a:endParaRPr lang="en-US" sz="1050">
            <a:latin typeface="+mj-lt"/>
          </a:endParaRPr>
        </a:p>
      </dgm:t>
    </dgm:pt>
    <dgm:pt modelId="{A8CB581C-AE87-4D6B-B0B9-CCD797CB9092}">
      <dgm:prSet phldrT="[Text]" custT="1"/>
      <dgm:spPr>
        <a:solidFill>
          <a:schemeClr val="accent2">
            <a:lumMod val="20000"/>
            <a:lumOff val="80000"/>
          </a:schemeClr>
        </a:solidFill>
        <a:ln>
          <a:solidFill>
            <a:schemeClr val="tx1"/>
          </a:solidFill>
        </a:ln>
      </dgm:spPr>
      <dgm:t>
        <a:bodyPr/>
        <a:lstStyle/>
        <a:p>
          <a:r>
            <a:rPr lang="en-US" sz="800" b="1" dirty="0">
              <a:solidFill>
                <a:schemeClr val="tx1"/>
              </a:solidFill>
              <a:latin typeface="+mj-lt"/>
            </a:rPr>
            <a:t>1</a:t>
          </a:r>
          <a:r>
            <a:rPr lang="en-US" sz="800" dirty="0">
              <a:latin typeface="+mj-lt"/>
            </a:rPr>
            <a:t>. Define </a:t>
          </a:r>
          <a:r>
            <a:rPr lang="en-US" sz="800" b="1" dirty="0">
              <a:latin typeface="+mj-lt"/>
            </a:rPr>
            <a:t>Program Priorities</a:t>
          </a:r>
          <a:endParaRPr lang="en-US" sz="800" dirty="0">
            <a:latin typeface="+mj-lt"/>
          </a:endParaRPr>
        </a:p>
      </dgm:t>
    </dgm:pt>
    <dgm:pt modelId="{1C8EEF2A-BBF1-4E83-8944-32C85717121E}" type="parTrans" cxnId="{A41620BE-008B-4B8F-B097-C6F64FE9AB6A}">
      <dgm:prSet/>
      <dgm:spPr/>
      <dgm:t>
        <a:bodyPr/>
        <a:lstStyle/>
        <a:p>
          <a:endParaRPr lang="en-US" sz="1050">
            <a:latin typeface="+mj-lt"/>
          </a:endParaRPr>
        </a:p>
      </dgm:t>
    </dgm:pt>
    <dgm:pt modelId="{79D78C97-5151-4C32-8B5D-992531BCEDEC}" type="sibTrans" cxnId="{A41620BE-008B-4B8F-B097-C6F64FE9AB6A}">
      <dgm:prSet/>
      <dgm:spPr>
        <a:ln>
          <a:solidFill>
            <a:schemeClr val="tx1"/>
          </a:solidFill>
        </a:ln>
      </dgm:spPr>
      <dgm:t>
        <a:bodyPr/>
        <a:lstStyle/>
        <a:p>
          <a:endParaRPr lang="en-US" sz="1050">
            <a:latin typeface="+mj-lt"/>
          </a:endParaRPr>
        </a:p>
      </dgm:t>
    </dgm:pt>
    <dgm:pt modelId="{79A300F6-E660-4283-ACFD-D26DF3E1950B}">
      <dgm:prSet custT="1"/>
      <dgm:spPr>
        <a:solidFill>
          <a:schemeClr val="accent2">
            <a:lumMod val="20000"/>
            <a:lumOff val="80000"/>
          </a:schemeClr>
        </a:solidFill>
        <a:ln>
          <a:solidFill>
            <a:schemeClr val="tx1"/>
          </a:solidFill>
        </a:ln>
      </dgm:spPr>
      <dgm:t>
        <a:bodyPr/>
        <a:lstStyle/>
        <a:p>
          <a:r>
            <a:rPr lang="en-US" sz="800" b="1" dirty="0">
              <a:solidFill>
                <a:srgbClr val="7030A0"/>
              </a:solidFill>
              <a:latin typeface="+mj-lt"/>
            </a:rPr>
            <a:t>3. </a:t>
          </a:r>
          <a:r>
            <a:rPr lang="en-US" sz="600" b="1" dirty="0">
              <a:latin typeface="+mj-lt"/>
            </a:rPr>
            <a:t>Review Qty of Dim for  KPC, QCI, FF, PSD (Final products only)</a:t>
          </a:r>
          <a:endParaRPr lang="en-US" sz="800" b="1" dirty="0">
            <a:latin typeface="+mj-lt"/>
          </a:endParaRPr>
        </a:p>
      </dgm:t>
    </dgm:pt>
    <dgm:pt modelId="{5BA49C8B-5E15-488F-9C4D-807F0145A58D}" type="parTrans" cxnId="{19AEF68E-76C8-4D13-A25D-A8B355050DFA}">
      <dgm:prSet/>
      <dgm:spPr/>
      <dgm:t>
        <a:bodyPr/>
        <a:lstStyle/>
        <a:p>
          <a:endParaRPr lang="en-US" sz="1050">
            <a:latin typeface="+mj-lt"/>
          </a:endParaRPr>
        </a:p>
      </dgm:t>
    </dgm:pt>
    <dgm:pt modelId="{6EDF4615-0C82-4C9F-AD4D-91C32C5A4CEA}" type="sibTrans" cxnId="{19AEF68E-76C8-4D13-A25D-A8B355050DFA}">
      <dgm:prSet/>
      <dgm:spPr>
        <a:ln>
          <a:solidFill>
            <a:schemeClr val="tx1"/>
          </a:solidFill>
        </a:ln>
      </dgm:spPr>
      <dgm:t>
        <a:bodyPr/>
        <a:lstStyle/>
        <a:p>
          <a:endParaRPr lang="en-US" sz="1050">
            <a:latin typeface="+mj-lt"/>
          </a:endParaRPr>
        </a:p>
      </dgm:t>
    </dgm:pt>
    <dgm:pt modelId="{89CFBDF5-8B2F-4B6C-858A-ADCC666ADE01}">
      <dgm:prSet custT="1"/>
      <dgm:spPr>
        <a:solidFill>
          <a:schemeClr val="accent2">
            <a:lumMod val="20000"/>
            <a:lumOff val="80000"/>
          </a:schemeClr>
        </a:solidFill>
        <a:ln>
          <a:solidFill>
            <a:schemeClr val="tx1"/>
          </a:solidFill>
        </a:ln>
      </dgm:spPr>
      <dgm:t>
        <a:bodyPr/>
        <a:lstStyle/>
        <a:p>
          <a:r>
            <a:rPr lang="en-US" sz="600" dirty="0">
              <a:latin typeface="+mj-lt"/>
            </a:rPr>
            <a:t>Assess Component Functions (PE)</a:t>
          </a:r>
        </a:p>
      </dgm:t>
    </dgm:pt>
    <dgm:pt modelId="{C2C324B4-8864-436A-90C3-C59139A23075}" type="parTrans" cxnId="{EE4E002C-1F17-443C-B36E-1BDE18B96839}">
      <dgm:prSet/>
      <dgm:spPr/>
      <dgm:t>
        <a:bodyPr/>
        <a:lstStyle/>
        <a:p>
          <a:endParaRPr lang="en-US" sz="1050">
            <a:latin typeface="+mj-lt"/>
          </a:endParaRPr>
        </a:p>
      </dgm:t>
    </dgm:pt>
    <dgm:pt modelId="{22343B7C-A56D-456F-9977-4CB00C6B1C64}" type="sibTrans" cxnId="{EE4E002C-1F17-443C-B36E-1BDE18B96839}">
      <dgm:prSet/>
      <dgm:spPr/>
      <dgm:t>
        <a:bodyPr/>
        <a:lstStyle/>
        <a:p>
          <a:endParaRPr lang="en-US" sz="1050">
            <a:latin typeface="+mj-lt"/>
          </a:endParaRPr>
        </a:p>
      </dgm:t>
    </dgm:pt>
    <dgm:pt modelId="{2D1E5236-B00F-4230-B31A-11F75FD1BB62}">
      <dgm:prSet custT="1"/>
      <dgm:spPr>
        <a:solidFill>
          <a:schemeClr val="accent2">
            <a:lumMod val="20000"/>
            <a:lumOff val="80000"/>
          </a:schemeClr>
        </a:solidFill>
        <a:ln>
          <a:solidFill>
            <a:schemeClr val="tx1"/>
          </a:solidFill>
        </a:ln>
      </dgm:spPr>
      <dgm:t>
        <a:bodyPr/>
        <a:lstStyle/>
        <a:p>
          <a:r>
            <a:rPr lang="en-US" sz="800" b="1" dirty="0">
              <a:latin typeface="+mj-lt"/>
            </a:rPr>
            <a:t>7. MQ1/MQ2 Audit vs QAM</a:t>
          </a:r>
        </a:p>
      </dgm:t>
    </dgm:pt>
    <dgm:pt modelId="{40698859-F7DE-4D25-9C1D-4E9E5CBD8F9D}" type="parTrans" cxnId="{D5F1A5C4-B2D1-472F-A017-ACAF1AA319E3}">
      <dgm:prSet/>
      <dgm:spPr/>
      <dgm:t>
        <a:bodyPr/>
        <a:lstStyle/>
        <a:p>
          <a:endParaRPr lang="en-US" sz="1050">
            <a:latin typeface="+mj-lt"/>
          </a:endParaRPr>
        </a:p>
      </dgm:t>
    </dgm:pt>
    <dgm:pt modelId="{FC12C723-7E59-41BC-9CD4-5677F293F1D6}" type="sibTrans" cxnId="{D5F1A5C4-B2D1-472F-A017-ACAF1AA319E3}">
      <dgm:prSet/>
      <dgm:spPr>
        <a:ln>
          <a:solidFill>
            <a:schemeClr val="tx1"/>
          </a:solidFill>
        </a:ln>
      </dgm:spPr>
      <dgm:t>
        <a:bodyPr/>
        <a:lstStyle/>
        <a:p>
          <a:endParaRPr lang="en-US" sz="1050">
            <a:latin typeface="+mj-lt"/>
          </a:endParaRPr>
        </a:p>
      </dgm:t>
    </dgm:pt>
    <dgm:pt modelId="{67F88B63-7B2B-4AAB-B648-C734D30B4802}">
      <dgm:prSet custT="1"/>
      <dgm:spPr>
        <a:solidFill>
          <a:schemeClr val="accent2">
            <a:lumMod val="20000"/>
            <a:lumOff val="80000"/>
          </a:schemeClr>
        </a:solidFill>
        <a:ln>
          <a:solidFill>
            <a:schemeClr val="tx1"/>
          </a:solidFill>
        </a:ln>
      </dgm:spPr>
      <dgm:t>
        <a:bodyPr/>
        <a:lstStyle/>
        <a:p>
          <a:r>
            <a:rPr lang="en-US" sz="600" dirty="0">
              <a:latin typeface="+mj-lt"/>
            </a:rPr>
            <a:t>Ensure alignment of critical Component functions with KPC, QCI, F/F list</a:t>
          </a:r>
        </a:p>
      </dgm:t>
    </dgm:pt>
    <dgm:pt modelId="{567EC86E-2C47-41E8-A7B8-0E647B1FC066}" type="parTrans" cxnId="{1A6E874D-451C-4A72-B57D-BB8325BD76B3}">
      <dgm:prSet/>
      <dgm:spPr/>
      <dgm:t>
        <a:bodyPr/>
        <a:lstStyle/>
        <a:p>
          <a:endParaRPr lang="en-US"/>
        </a:p>
      </dgm:t>
    </dgm:pt>
    <dgm:pt modelId="{1CF10808-75A1-4B26-B494-AEEB6EBE4B94}" type="sibTrans" cxnId="{1A6E874D-451C-4A72-B57D-BB8325BD76B3}">
      <dgm:prSet/>
      <dgm:spPr/>
      <dgm:t>
        <a:bodyPr/>
        <a:lstStyle/>
        <a:p>
          <a:endParaRPr lang="en-US"/>
        </a:p>
      </dgm:t>
    </dgm:pt>
    <dgm:pt modelId="{56404731-4AD4-40B6-9749-8EC19F2E5AD0}" type="pres">
      <dgm:prSet presAssocID="{080DEF49-07D2-4E12-A000-893389A36B85}" presName="cycle" presStyleCnt="0">
        <dgm:presLayoutVars>
          <dgm:dir/>
          <dgm:resizeHandles val="exact"/>
        </dgm:presLayoutVars>
      </dgm:prSet>
      <dgm:spPr/>
    </dgm:pt>
    <dgm:pt modelId="{B723237A-A32E-4E40-852D-4E092023F5C7}" type="pres">
      <dgm:prSet presAssocID="{C144DA8D-A9AF-4B60-B7FE-1C9CEB7B5023}" presName="node" presStyleLbl="node1" presStyleIdx="0" presStyleCnt="7">
        <dgm:presLayoutVars>
          <dgm:bulletEnabled val="1"/>
        </dgm:presLayoutVars>
      </dgm:prSet>
      <dgm:spPr/>
    </dgm:pt>
    <dgm:pt modelId="{C58A9BBA-F9C6-4858-9E26-871D76FD9B90}" type="pres">
      <dgm:prSet presAssocID="{C144DA8D-A9AF-4B60-B7FE-1C9CEB7B5023}" presName="spNode" presStyleCnt="0"/>
      <dgm:spPr/>
    </dgm:pt>
    <dgm:pt modelId="{0DF65D6E-42E6-4A9F-B5ED-91B4CAAE4951}" type="pres">
      <dgm:prSet presAssocID="{D2777BFF-AF40-4859-B2AC-4886C5622EB1}" presName="sibTrans" presStyleLbl="sibTrans1D1" presStyleIdx="0" presStyleCnt="7"/>
      <dgm:spPr/>
    </dgm:pt>
    <dgm:pt modelId="{8137FA1D-6104-4499-B7B3-3A4AC03570BC}" type="pres">
      <dgm:prSet presAssocID="{79A300F6-E660-4283-ACFD-D26DF3E1950B}" presName="node" presStyleLbl="node1" presStyleIdx="1" presStyleCnt="7" custScaleX="138752" custScaleY="111597" custRadScaleRad="100698" custRadScaleInc="-1756">
        <dgm:presLayoutVars>
          <dgm:bulletEnabled val="1"/>
        </dgm:presLayoutVars>
      </dgm:prSet>
      <dgm:spPr/>
    </dgm:pt>
    <dgm:pt modelId="{0E3452AB-5E01-4660-94E2-4A398F9FFF5C}" type="pres">
      <dgm:prSet presAssocID="{79A300F6-E660-4283-ACFD-D26DF3E1950B}" presName="spNode" presStyleCnt="0"/>
      <dgm:spPr/>
    </dgm:pt>
    <dgm:pt modelId="{DC461A93-7882-4CCD-A615-DCB658A284D7}" type="pres">
      <dgm:prSet presAssocID="{6EDF4615-0C82-4C9F-AD4D-91C32C5A4CEA}" presName="sibTrans" presStyleLbl="sibTrans1D1" presStyleIdx="1" presStyleCnt="7"/>
      <dgm:spPr/>
    </dgm:pt>
    <dgm:pt modelId="{9A4B0214-55DC-4707-87ED-7CF7955FB075}" type="pres">
      <dgm:prSet presAssocID="{D1E59F3A-AD94-4E24-9C1E-D5A2E74D4EB0}" presName="node" presStyleLbl="node1" presStyleIdx="2" presStyleCnt="7">
        <dgm:presLayoutVars>
          <dgm:bulletEnabled val="1"/>
        </dgm:presLayoutVars>
      </dgm:prSet>
      <dgm:spPr/>
    </dgm:pt>
    <dgm:pt modelId="{BC01051E-51DB-4BBE-A26C-2AFD0D19D412}" type="pres">
      <dgm:prSet presAssocID="{D1E59F3A-AD94-4E24-9C1E-D5A2E74D4EB0}" presName="spNode" presStyleCnt="0"/>
      <dgm:spPr/>
    </dgm:pt>
    <dgm:pt modelId="{4F7DF650-F711-4F52-91A9-6BE6F1DBA4A2}" type="pres">
      <dgm:prSet presAssocID="{421AF516-F729-4357-984C-86782457FA5A}" presName="sibTrans" presStyleLbl="sibTrans1D1" presStyleIdx="2" presStyleCnt="7"/>
      <dgm:spPr/>
    </dgm:pt>
    <dgm:pt modelId="{78C83AD8-ED1E-4124-A534-FA5DA5754B28}" type="pres">
      <dgm:prSet presAssocID="{BC429C6B-AF76-48BE-BF3D-8780D66967C4}" presName="node" presStyleLbl="node1" presStyleIdx="3" presStyleCnt="7">
        <dgm:presLayoutVars>
          <dgm:bulletEnabled val="1"/>
        </dgm:presLayoutVars>
      </dgm:prSet>
      <dgm:spPr/>
    </dgm:pt>
    <dgm:pt modelId="{3899E818-7D73-4538-AD06-5B24D9298CF6}" type="pres">
      <dgm:prSet presAssocID="{BC429C6B-AF76-48BE-BF3D-8780D66967C4}" presName="spNode" presStyleCnt="0"/>
      <dgm:spPr/>
    </dgm:pt>
    <dgm:pt modelId="{ABC4BF16-FFFC-4A93-985E-45E224671BF5}" type="pres">
      <dgm:prSet presAssocID="{81DF073E-2276-4115-9CFE-F77249378473}" presName="sibTrans" presStyleLbl="sibTrans1D1" presStyleIdx="3" presStyleCnt="7"/>
      <dgm:spPr/>
    </dgm:pt>
    <dgm:pt modelId="{568D72C0-9C01-4EED-8C52-C0B259DFEBB8}" type="pres">
      <dgm:prSet presAssocID="{9E725B65-B849-4649-B8E8-9680A7405479}" presName="node" presStyleLbl="node1" presStyleIdx="4" presStyleCnt="7" custScaleX="137207" custScaleY="131900" custRadScaleRad="98994" custRadScaleInc="249">
        <dgm:presLayoutVars>
          <dgm:bulletEnabled val="1"/>
        </dgm:presLayoutVars>
      </dgm:prSet>
      <dgm:spPr/>
    </dgm:pt>
    <dgm:pt modelId="{56AF0EC3-9619-4C1F-8C7D-D5172E96DB30}" type="pres">
      <dgm:prSet presAssocID="{9E725B65-B849-4649-B8E8-9680A7405479}" presName="spNode" presStyleCnt="0"/>
      <dgm:spPr/>
    </dgm:pt>
    <dgm:pt modelId="{D093B850-5D9A-4E6A-BEBE-E59230D9F4C9}" type="pres">
      <dgm:prSet presAssocID="{AB11B756-F178-48B6-9EB6-2775AEE05FBC}" presName="sibTrans" presStyleLbl="sibTrans1D1" presStyleIdx="4" presStyleCnt="7"/>
      <dgm:spPr/>
    </dgm:pt>
    <dgm:pt modelId="{FDC43DD0-B7F2-4910-B74C-1D97A2E4A851}" type="pres">
      <dgm:prSet presAssocID="{2D1E5236-B00F-4230-B31A-11F75FD1BB62}" presName="node" presStyleLbl="node1" presStyleIdx="5" presStyleCnt="7">
        <dgm:presLayoutVars>
          <dgm:bulletEnabled val="1"/>
        </dgm:presLayoutVars>
      </dgm:prSet>
      <dgm:spPr/>
    </dgm:pt>
    <dgm:pt modelId="{504650D3-B4DE-48A0-8F9C-37DD4CB97C10}" type="pres">
      <dgm:prSet presAssocID="{2D1E5236-B00F-4230-B31A-11F75FD1BB62}" presName="spNode" presStyleCnt="0"/>
      <dgm:spPr/>
    </dgm:pt>
    <dgm:pt modelId="{BFBD43F9-6938-4ADB-B42C-BA0AC2647F7A}" type="pres">
      <dgm:prSet presAssocID="{FC12C723-7E59-41BC-9CD4-5677F293F1D6}" presName="sibTrans" presStyleLbl="sibTrans1D1" presStyleIdx="5" presStyleCnt="7"/>
      <dgm:spPr/>
    </dgm:pt>
    <dgm:pt modelId="{96036579-A26C-47B7-90E0-5E4B901521F6}" type="pres">
      <dgm:prSet presAssocID="{A8CB581C-AE87-4D6B-B0B9-CCD797CB9092}" presName="node" presStyleLbl="node1" presStyleIdx="6" presStyleCnt="7">
        <dgm:presLayoutVars>
          <dgm:bulletEnabled val="1"/>
        </dgm:presLayoutVars>
      </dgm:prSet>
      <dgm:spPr/>
    </dgm:pt>
    <dgm:pt modelId="{65D073B0-3818-47CA-8302-782C23B9DB4C}" type="pres">
      <dgm:prSet presAssocID="{A8CB581C-AE87-4D6B-B0B9-CCD797CB9092}" presName="spNode" presStyleCnt="0"/>
      <dgm:spPr/>
    </dgm:pt>
    <dgm:pt modelId="{F00288BF-6644-4187-9C2E-AFB509047F30}" type="pres">
      <dgm:prSet presAssocID="{79D78C97-5151-4C32-8B5D-992531BCEDEC}" presName="sibTrans" presStyleLbl="sibTrans1D1" presStyleIdx="6" presStyleCnt="7"/>
      <dgm:spPr/>
    </dgm:pt>
  </dgm:ptLst>
  <dgm:cxnLst>
    <dgm:cxn modelId="{DEFB830B-628D-4241-8509-3E6F4FA49194}" type="presOf" srcId="{D1E59F3A-AD94-4E24-9C1E-D5A2E74D4EB0}" destId="{9A4B0214-55DC-4707-87ED-7CF7955FB075}" srcOrd="0" destOrd="0" presId="urn:microsoft.com/office/officeart/2005/8/layout/cycle5"/>
    <dgm:cxn modelId="{45928C14-7B2F-4364-AA86-0B369D4D27B0}" srcId="{080DEF49-07D2-4E12-A000-893389A36B85}" destId="{D1E59F3A-AD94-4E24-9C1E-D5A2E74D4EB0}" srcOrd="2" destOrd="0" parTransId="{5CEE9336-8293-498C-86F7-72686962825A}" sibTransId="{421AF516-F729-4357-984C-86782457FA5A}"/>
    <dgm:cxn modelId="{4120A216-9A5E-469D-BB8A-6B79514A2CF0}" type="presOf" srcId="{421AF516-F729-4357-984C-86782457FA5A}" destId="{4F7DF650-F711-4F52-91A9-6BE6F1DBA4A2}" srcOrd="0" destOrd="0" presId="urn:microsoft.com/office/officeart/2005/8/layout/cycle5"/>
    <dgm:cxn modelId="{8835451B-F677-4561-BED0-EDA31825496F}" type="presOf" srcId="{89CFBDF5-8B2F-4B6C-858A-ADCC666ADE01}" destId="{8137FA1D-6104-4499-B7B3-3A4AC03570BC}" srcOrd="0" destOrd="1" presId="urn:microsoft.com/office/officeart/2005/8/layout/cycle5"/>
    <dgm:cxn modelId="{A8AB371F-963D-4C22-A974-672893BDAE92}" type="presOf" srcId="{67F88B63-7B2B-4AAB-B648-C734D30B4802}" destId="{8137FA1D-6104-4499-B7B3-3A4AC03570BC}" srcOrd="0" destOrd="2" presId="urn:microsoft.com/office/officeart/2005/8/layout/cycle5"/>
    <dgm:cxn modelId="{EE4E002C-1F17-443C-B36E-1BDE18B96839}" srcId="{79A300F6-E660-4283-ACFD-D26DF3E1950B}" destId="{89CFBDF5-8B2F-4B6C-858A-ADCC666ADE01}" srcOrd="0" destOrd="0" parTransId="{C2C324B4-8864-436A-90C3-C59139A23075}" sibTransId="{22343B7C-A56D-456F-9977-4CB00C6B1C64}"/>
    <dgm:cxn modelId="{3AEAFC3C-DF0A-44C2-B45E-D74E0715075A}" srcId="{080DEF49-07D2-4E12-A000-893389A36B85}" destId="{9E725B65-B849-4649-B8E8-9680A7405479}" srcOrd="4" destOrd="0" parTransId="{55AAAEAC-8DE7-4038-8A56-A94210B1C186}" sibTransId="{AB11B756-F178-48B6-9EB6-2775AEE05FBC}"/>
    <dgm:cxn modelId="{0FAAE75B-63EB-4C1C-9D61-C0376B189C79}" type="presOf" srcId="{BC429C6B-AF76-48BE-BF3D-8780D66967C4}" destId="{78C83AD8-ED1E-4124-A534-FA5DA5754B28}" srcOrd="0" destOrd="0" presId="urn:microsoft.com/office/officeart/2005/8/layout/cycle5"/>
    <dgm:cxn modelId="{1A6E874D-451C-4A72-B57D-BB8325BD76B3}" srcId="{79A300F6-E660-4283-ACFD-D26DF3E1950B}" destId="{67F88B63-7B2B-4AAB-B648-C734D30B4802}" srcOrd="1" destOrd="0" parTransId="{567EC86E-2C47-41E8-A7B8-0E647B1FC066}" sibTransId="{1CF10808-75A1-4B26-B494-AEEB6EBE4B94}"/>
    <dgm:cxn modelId="{0877F485-56A7-43C6-8670-D0541ABD1564}" type="presOf" srcId="{A8CB581C-AE87-4D6B-B0B9-CCD797CB9092}" destId="{96036579-A26C-47B7-90E0-5E4B901521F6}" srcOrd="0" destOrd="0" presId="urn:microsoft.com/office/officeart/2005/8/layout/cycle5"/>
    <dgm:cxn modelId="{22D1348D-EA94-43E3-ABF3-68E518074455}" type="presOf" srcId="{D2777BFF-AF40-4859-B2AC-4886C5622EB1}" destId="{0DF65D6E-42E6-4A9F-B5ED-91B4CAAE4951}" srcOrd="0" destOrd="0" presId="urn:microsoft.com/office/officeart/2005/8/layout/cycle5"/>
    <dgm:cxn modelId="{19AEF68E-76C8-4D13-A25D-A8B355050DFA}" srcId="{080DEF49-07D2-4E12-A000-893389A36B85}" destId="{79A300F6-E660-4283-ACFD-D26DF3E1950B}" srcOrd="1" destOrd="0" parTransId="{5BA49C8B-5E15-488F-9C4D-807F0145A58D}" sibTransId="{6EDF4615-0C82-4C9F-AD4D-91C32C5A4CEA}"/>
    <dgm:cxn modelId="{A8E4DB90-30FC-4BA6-9CEB-A87F2C542D68}" type="presOf" srcId="{FC12C723-7E59-41BC-9CD4-5677F293F1D6}" destId="{BFBD43F9-6938-4ADB-B42C-BA0AC2647F7A}" srcOrd="0" destOrd="0" presId="urn:microsoft.com/office/officeart/2005/8/layout/cycle5"/>
    <dgm:cxn modelId="{7357B591-A576-4A46-AC60-63E0BBBF7FF7}" type="presOf" srcId="{080DEF49-07D2-4E12-A000-893389A36B85}" destId="{56404731-4AD4-40B6-9749-8EC19F2E5AD0}" srcOrd="0" destOrd="0" presId="urn:microsoft.com/office/officeart/2005/8/layout/cycle5"/>
    <dgm:cxn modelId="{B6BD479A-D4C2-4D8A-8050-3F62BA6FA4FA}" type="presOf" srcId="{9E725B65-B849-4649-B8E8-9680A7405479}" destId="{568D72C0-9C01-4EED-8C52-C0B259DFEBB8}" srcOrd="0" destOrd="0" presId="urn:microsoft.com/office/officeart/2005/8/layout/cycle5"/>
    <dgm:cxn modelId="{91CC139C-27CF-4538-AC38-4309DECE90AB}" type="presOf" srcId="{79A300F6-E660-4283-ACFD-D26DF3E1950B}" destId="{8137FA1D-6104-4499-B7B3-3A4AC03570BC}" srcOrd="0" destOrd="0" presId="urn:microsoft.com/office/officeart/2005/8/layout/cycle5"/>
    <dgm:cxn modelId="{E2F0DEAF-25BD-4CDB-A5E0-E43C5697F4D9}" type="presOf" srcId="{79D78C97-5151-4C32-8B5D-992531BCEDEC}" destId="{F00288BF-6644-4187-9C2E-AFB509047F30}" srcOrd="0" destOrd="0" presId="urn:microsoft.com/office/officeart/2005/8/layout/cycle5"/>
    <dgm:cxn modelId="{574AB2B1-DD23-4A29-8963-A1B7188FC929}" type="presOf" srcId="{81DF073E-2276-4115-9CFE-F77249378473}" destId="{ABC4BF16-FFFC-4A93-985E-45E224671BF5}" srcOrd="0" destOrd="0" presId="urn:microsoft.com/office/officeart/2005/8/layout/cycle5"/>
    <dgm:cxn modelId="{A41620BE-008B-4B8F-B097-C6F64FE9AB6A}" srcId="{080DEF49-07D2-4E12-A000-893389A36B85}" destId="{A8CB581C-AE87-4D6B-B0B9-CCD797CB9092}" srcOrd="6" destOrd="0" parTransId="{1C8EEF2A-BBF1-4E83-8944-32C85717121E}" sibTransId="{79D78C97-5151-4C32-8B5D-992531BCEDEC}"/>
    <dgm:cxn modelId="{38D391BE-EB86-4968-BA6F-388A187A76CD}" type="presOf" srcId="{2D1E5236-B00F-4230-B31A-11F75FD1BB62}" destId="{FDC43DD0-B7F2-4910-B74C-1D97A2E4A851}" srcOrd="0" destOrd="0" presId="urn:microsoft.com/office/officeart/2005/8/layout/cycle5"/>
    <dgm:cxn modelId="{D5F1A5C4-B2D1-472F-A017-ACAF1AA319E3}" srcId="{080DEF49-07D2-4E12-A000-893389A36B85}" destId="{2D1E5236-B00F-4230-B31A-11F75FD1BB62}" srcOrd="5" destOrd="0" parTransId="{40698859-F7DE-4D25-9C1D-4E9E5CBD8F9D}" sibTransId="{FC12C723-7E59-41BC-9CD4-5677F293F1D6}"/>
    <dgm:cxn modelId="{3668E7CC-5F44-4FD5-9459-279FE64BF736}" srcId="{080DEF49-07D2-4E12-A000-893389A36B85}" destId="{BC429C6B-AF76-48BE-BF3D-8780D66967C4}" srcOrd="3" destOrd="0" parTransId="{72C6DC71-08FC-428C-8185-5C576E8CC3D8}" sibTransId="{81DF073E-2276-4115-9CFE-F77249378473}"/>
    <dgm:cxn modelId="{767345CE-CFF0-43D9-92EE-4173BCEC7D3E}" type="presOf" srcId="{AB11B756-F178-48B6-9EB6-2775AEE05FBC}" destId="{D093B850-5D9A-4E6A-BEBE-E59230D9F4C9}" srcOrd="0" destOrd="0" presId="urn:microsoft.com/office/officeart/2005/8/layout/cycle5"/>
    <dgm:cxn modelId="{D20F7FE4-2A35-4C57-881B-CE400F236070}" srcId="{080DEF49-07D2-4E12-A000-893389A36B85}" destId="{C144DA8D-A9AF-4B60-B7FE-1C9CEB7B5023}" srcOrd="0" destOrd="0" parTransId="{B574FA5C-CB9E-4DE7-8005-0B990E6CCA01}" sibTransId="{D2777BFF-AF40-4859-B2AC-4886C5622EB1}"/>
    <dgm:cxn modelId="{03ECE8FA-33C6-4E70-84E5-0A19B0E344BD}" type="presOf" srcId="{C144DA8D-A9AF-4B60-B7FE-1C9CEB7B5023}" destId="{B723237A-A32E-4E40-852D-4E092023F5C7}" srcOrd="0" destOrd="0" presId="urn:microsoft.com/office/officeart/2005/8/layout/cycle5"/>
    <dgm:cxn modelId="{92DF26FC-3AD4-4CC7-BCCA-0A3C62389E1A}" type="presOf" srcId="{6EDF4615-0C82-4C9F-AD4D-91C32C5A4CEA}" destId="{DC461A93-7882-4CCD-A615-DCB658A284D7}" srcOrd="0" destOrd="0" presId="urn:microsoft.com/office/officeart/2005/8/layout/cycle5"/>
    <dgm:cxn modelId="{00E0F245-B6EE-4CF5-AE05-6BD605FDC680}" type="presParOf" srcId="{56404731-4AD4-40B6-9749-8EC19F2E5AD0}" destId="{B723237A-A32E-4E40-852D-4E092023F5C7}" srcOrd="0" destOrd="0" presId="urn:microsoft.com/office/officeart/2005/8/layout/cycle5"/>
    <dgm:cxn modelId="{43803609-1B67-4F7B-A8F4-8E279F391B23}" type="presParOf" srcId="{56404731-4AD4-40B6-9749-8EC19F2E5AD0}" destId="{C58A9BBA-F9C6-4858-9E26-871D76FD9B90}" srcOrd="1" destOrd="0" presId="urn:microsoft.com/office/officeart/2005/8/layout/cycle5"/>
    <dgm:cxn modelId="{1DFE2000-3113-45C7-80D0-FFBC8F67FC6B}" type="presParOf" srcId="{56404731-4AD4-40B6-9749-8EC19F2E5AD0}" destId="{0DF65D6E-42E6-4A9F-B5ED-91B4CAAE4951}" srcOrd="2" destOrd="0" presId="urn:microsoft.com/office/officeart/2005/8/layout/cycle5"/>
    <dgm:cxn modelId="{8DE9D1FD-1A6E-48E1-8487-11FE9F580F59}" type="presParOf" srcId="{56404731-4AD4-40B6-9749-8EC19F2E5AD0}" destId="{8137FA1D-6104-4499-B7B3-3A4AC03570BC}" srcOrd="3" destOrd="0" presId="urn:microsoft.com/office/officeart/2005/8/layout/cycle5"/>
    <dgm:cxn modelId="{0E59700A-AD5E-41FE-A2DA-85788F0F582F}" type="presParOf" srcId="{56404731-4AD4-40B6-9749-8EC19F2E5AD0}" destId="{0E3452AB-5E01-4660-94E2-4A398F9FFF5C}" srcOrd="4" destOrd="0" presId="urn:microsoft.com/office/officeart/2005/8/layout/cycle5"/>
    <dgm:cxn modelId="{DA7D30CA-F763-4CBA-8F6D-EAB49444BBCB}" type="presParOf" srcId="{56404731-4AD4-40B6-9749-8EC19F2E5AD0}" destId="{DC461A93-7882-4CCD-A615-DCB658A284D7}" srcOrd="5" destOrd="0" presId="urn:microsoft.com/office/officeart/2005/8/layout/cycle5"/>
    <dgm:cxn modelId="{FE8F1D46-944C-44BB-ACDE-5149473FB6AD}" type="presParOf" srcId="{56404731-4AD4-40B6-9749-8EC19F2E5AD0}" destId="{9A4B0214-55DC-4707-87ED-7CF7955FB075}" srcOrd="6" destOrd="0" presId="urn:microsoft.com/office/officeart/2005/8/layout/cycle5"/>
    <dgm:cxn modelId="{61AF4F3B-AB14-4CB5-99E9-C104853810E2}" type="presParOf" srcId="{56404731-4AD4-40B6-9749-8EC19F2E5AD0}" destId="{BC01051E-51DB-4BBE-A26C-2AFD0D19D412}" srcOrd="7" destOrd="0" presId="urn:microsoft.com/office/officeart/2005/8/layout/cycle5"/>
    <dgm:cxn modelId="{40F5C051-8EBB-4D62-AA08-7881E2850088}" type="presParOf" srcId="{56404731-4AD4-40B6-9749-8EC19F2E5AD0}" destId="{4F7DF650-F711-4F52-91A9-6BE6F1DBA4A2}" srcOrd="8" destOrd="0" presId="urn:microsoft.com/office/officeart/2005/8/layout/cycle5"/>
    <dgm:cxn modelId="{600F50A9-F453-43AF-AE2B-59BFB228A66F}" type="presParOf" srcId="{56404731-4AD4-40B6-9749-8EC19F2E5AD0}" destId="{78C83AD8-ED1E-4124-A534-FA5DA5754B28}" srcOrd="9" destOrd="0" presId="urn:microsoft.com/office/officeart/2005/8/layout/cycle5"/>
    <dgm:cxn modelId="{D4DA9341-7A6D-46DB-8441-265AE14CA28B}" type="presParOf" srcId="{56404731-4AD4-40B6-9749-8EC19F2E5AD0}" destId="{3899E818-7D73-4538-AD06-5B24D9298CF6}" srcOrd="10" destOrd="0" presId="urn:microsoft.com/office/officeart/2005/8/layout/cycle5"/>
    <dgm:cxn modelId="{53DA1BCB-854E-40C8-91B3-31A7BA04DB7F}" type="presParOf" srcId="{56404731-4AD4-40B6-9749-8EC19F2E5AD0}" destId="{ABC4BF16-FFFC-4A93-985E-45E224671BF5}" srcOrd="11" destOrd="0" presId="urn:microsoft.com/office/officeart/2005/8/layout/cycle5"/>
    <dgm:cxn modelId="{BAF66105-29A6-4DBC-9972-30D65FE63199}" type="presParOf" srcId="{56404731-4AD4-40B6-9749-8EC19F2E5AD0}" destId="{568D72C0-9C01-4EED-8C52-C0B259DFEBB8}" srcOrd="12" destOrd="0" presId="urn:microsoft.com/office/officeart/2005/8/layout/cycle5"/>
    <dgm:cxn modelId="{18506A44-1F77-4582-A500-D478818EA89C}" type="presParOf" srcId="{56404731-4AD4-40B6-9749-8EC19F2E5AD0}" destId="{56AF0EC3-9619-4C1F-8C7D-D5172E96DB30}" srcOrd="13" destOrd="0" presId="urn:microsoft.com/office/officeart/2005/8/layout/cycle5"/>
    <dgm:cxn modelId="{671421D7-5BE3-4A49-8D82-B8199147C7F8}" type="presParOf" srcId="{56404731-4AD4-40B6-9749-8EC19F2E5AD0}" destId="{D093B850-5D9A-4E6A-BEBE-E59230D9F4C9}" srcOrd="14" destOrd="0" presId="urn:microsoft.com/office/officeart/2005/8/layout/cycle5"/>
    <dgm:cxn modelId="{F19166C3-A819-4B03-B341-A1D242DC8549}" type="presParOf" srcId="{56404731-4AD4-40B6-9749-8EC19F2E5AD0}" destId="{FDC43DD0-B7F2-4910-B74C-1D97A2E4A851}" srcOrd="15" destOrd="0" presId="urn:microsoft.com/office/officeart/2005/8/layout/cycle5"/>
    <dgm:cxn modelId="{B1C17089-6856-48E3-8088-088C1AD5D9ED}" type="presParOf" srcId="{56404731-4AD4-40B6-9749-8EC19F2E5AD0}" destId="{504650D3-B4DE-48A0-8F9C-37DD4CB97C10}" srcOrd="16" destOrd="0" presId="urn:microsoft.com/office/officeart/2005/8/layout/cycle5"/>
    <dgm:cxn modelId="{8C6BD948-7454-4188-A1E1-DB8D0ED7DCDB}" type="presParOf" srcId="{56404731-4AD4-40B6-9749-8EC19F2E5AD0}" destId="{BFBD43F9-6938-4ADB-B42C-BA0AC2647F7A}" srcOrd="17" destOrd="0" presId="urn:microsoft.com/office/officeart/2005/8/layout/cycle5"/>
    <dgm:cxn modelId="{BB787C2B-5BF4-4A89-8C55-1C28C30C67B1}" type="presParOf" srcId="{56404731-4AD4-40B6-9749-8EC19F2E5AD0}" destId="{96036579-A26C-47B7-90E0-5E4B901521F6}" srcOrd="18" destOrd="0" presId="urn:microsoft.com/office/officeart/2005/8/layout/cycle5"/>
    <dgm:cxn modelId="{6B2E95AB-1492-4A26-9513-64DCCD0AEDA9}" type="presParOf" srcId="{56404731-4AD4-40B6-9749-8EC19F2E5AD0}" destId="{65D073B0-3818-47CA-8302-782C23B9DB4C}" srcOrd="19" destOrd="0" presId="urn:microsoft.com/office/officeart/2005/8/layout/cycle5"/>
    <dgm:cxn modelId="{17A04AF7-9C6F-459F-A0DF-617411B8E3B1}" type="presParOf" srcId="{56404731-4AD4-40B6-9749-8EC19F2E5AD0}" destId="{F00288BF-6644-4187-9C2E-AFB509047F30}" srcOrd="20"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93F27C-3A05-4437-A946-D1B7F62CC400}" type="doc">
      <dgm:prSet loTypeId="urn:microsoft.com/office/officeart/2005/8/layout/cycle2" loCatId="cycle" qsTypeId="urn:microsoft.com/office/officeart/2005/8/quickstyle/simple5" qsCatId="simple" csTypeId="urn:microsoft.com/office/officeart/2005/8/colors/accent3_5" csCatId="accent3" phldr="1"/>
      <dgm:spPr/>
      <dgm:t>
        <a:bodyPr/>
        <a:lstStyle/>
        <a:p>
          <a:endParaRPr lang="en-US"/>
        </a:p>
      </dgm:t>
    </dgm:pt>
    <dgm:pt modelId="{80B209E6-EB88-40FB-BB59-C3DE268185A9}">
      <dgm:prSet phldrT="[Text]" custT="1"/>
      <dgm:spPr>
        <a:solidFill>
          <a:srgbClr val="00B0F0"/>
        </a:solidFill>
      </dgm:spPr>
      <dgm:t>
        <a:bodyPr/>
        <a:lstStyle/>
        <a:p>
          <a:r>
            <a:rPr lang="en-US" sz="800" b="0" dirty="0">
              <a:latin typeface="Aptos" panose="020B0004020202020204" pitchFamily="34" charset="0"/>
            </a:rPr>
            <a:t>BIQ Engineer (APQP)</a:t>
          </a:r>
        </a:p>
      </dgm:t>
    </dgm:pt>
    <dgm:pt modelId="{E461AC32-00D7-4F45-9022-F7AEC64FEB40}" type="parTrans" cxnId="{266A7BFA-6DBC-4452-81B4-49EA2865E086}">
      <dgm:prSet/>
      <dgm:spPr/>
      <dgm:t>
        <a:bodyPr/>
        <a:lstStyle/>
        <a:p>
          <a:endParaRPr lang="en-US" sz="1800" b="0">
            <a:solidFill>
              <a:schemeClr val="tx1"/>
            </a:solidFill>
            <a:latin typeface="Aptos" panose="020B0004020202020204" pitchFamily="34" charset="0"/>
          </a:endParaRPr>
        </a:p>
      </dgm:t>
    </dgm:pt>
    <dgm:pt modelId="{950B6C5C-724E-4998-94F2-F5A5AFD3639B}" type="sibTrans" cxnId="{266A7BFA-6DBC-4452-81B4-49EA2865E086}">
      <dgm:prSet custT="1"/>
      <dgm:spPr>
        <a:solidFill>
          <a:srgbClr val="00B0F0"/>
        </a:solidFill>
      </dgm:spPr>
      <dgm:t>
        <a:bodyPr/>
        <a:lstStyle/>
        <a:p>
          <a:endParaRPr lang="en-US" sz="600" b="0" dirty="0">
            <a:solidFill>
              <a:schemeClr val="tx1"/>
            </a:solidFill>
            <a:latin typeface="Aptos" panose="020B0004020202020204" pitchFamily="34" charset="0"/>
          </a:endParaRPr>
        </a:p>
      </dgm:t>
    </dgm:pt>
    <dgm:pt modelId="{A14850F9-A9E9-458B-A229-FC4BFF06C634}">
      <dgm:prSet phldrT="[Text]" custT="1"/>
      <dgm:spPr>
        <a:solidFill>
          <a:srgbClr val="00B0F0"/>
        </a:solidFill>
      </dgm:spPr>
      <dgm:t>
        <a:bodyPr/>
        <a:lstStyle/>
        <a:p>
          <a:r>
            <a:rPr lang="en-US" sz="800" b="0" dirty="0">
              <a:latin typeface="Aptos" panose="020B0004020202020204" pitchFamily="34" charset="0"/>
            </a:rPr>
            <a:t>Product Engineering</a:t>
          </a:r>
        </a:p>
      </dgm:t>
    </dgm:pt>
    <dgm:pt modelId="{68F9AAA6-CC39-4300-95DB-EC43918FDAA0}" type="parTrans" cxnId="{B8DE3F71-156E-4C0B-9459-37D7359E4528}">
      <dgm:prSet/>
      <dgm:spPr/>
      <dgm:t>
        <a:bodyPr/>
        <a:lstStyle/>
        <a:p>
          <a:endParaRPr lang="en-US" sz="1800" b="0">
            <a:solidFill>
              <a:schemeClr val="tx1"/>
            </a:solidFill>
            <a:latin typeface="Aptos" panose="020B0004020202020204" pitchFamily="34" charset="0"/>
          </a:endParaRPr>
        </a:p>
      </dgm:t>
    </dgm:pt>
    <dgm:pt modelId="{A5B67D1D-87BF-4831-AFF7-13D8C5F45FEA}" type="sibTrans" cxnId="{B8DE3F71-156E-4C0B-9459-37D7359E4528}">
      <dgm:prSet custT="1"/>
      <dgm:spPr>
        <a:solidFill>
          <a:srgbClr val="00B0F0"/>
        </a:solidFill>
      </dgm:spPr>
      <dgm:t>
        <a:bodyPr/>
        <a:lstStyle/>
        <a:p>
          <a:endParaRPr lang="en-US" sz="600" b="0" dirty="0">
            <a:solidFill>
              <a:schemeClr val="tx1"/>
            </a:solidFill>
            <a:latin typeface="Aptos" panose="020B0004020202020204" pitchFamily="34" charset="0"/>
          </a:endParaRPr>
        </a:p>
      </dgm:t>
    </dgm:pt>
    <dgm:pt modelId="{B38F4E47-488E-4D3B-8FC2-0DF0674C6DA7}">
      <dgm:prSet phldrT="[Text]" custT="1"/>
      <dgm:spPr>
        <a:solidFill>
          <a:srgbClr val="00B0F0"/>
        </a:solidFill>
      </dgm:spPr>
      <dgm:t>
        <a:bodyPr/>
        <a:lstStyle/>
        <a:p>
          <a:r>
            <a:rPr lang="en-US" sz="800" b="0" dirty="0">
              <a:latin typeface="Aptos" panose="020B0004020202020204" pitchFamily="34" charset="0"/>
            </a:rPr>
            <a:t>Mfg Engineering F4</a:t>
          </a:r>
        </a:p>
      </dgm:t>
    </dgm:pt>
    <dgm:pt modelId="{57DE931F-492E-4748-BD90-5ABDB92EE162}" type="parTrans" cxnId="{3427D4C9-6DAB-44BD-AFE8-FC30DF62BEA8}">
      <dgm:prSet/>
      <dgm:spPr/>
      <dgm:t>
        <a:bodyPr/>
        <a:lstStyle/>
        <a:p>
          <a:endParaRPr lang="en-US" sz="1800" b="0">
            <a:solidFill>
              <a:schemeClr val="tx1"/>
            </a:solidFill>
            <a:latin typeface="Aptos" panose="020B0004020202020204" pitchFamily="34" charset="0"/>
          </a:endParaRPr>
        </a:p>
      </dgm:t>
    </dgm:pt>
    <dgm:pt modelId="{49B1E328-3946-49F0-B93B-D0EDC2C6199B}" type="sibTrans" cxnId="{3427D4C9-6DAB-44BD-AFE8-FC30DF62BEA8}">
      <dgm:prSet custT="1"/>
      <dgm:spPr>
        <a:solidFill>
          <a:srgbClr val="00B0F0"/>
        </a:solidFill>
      </dgm:spPr>
      <dgm:t>
        <a:bodyPr/>
        <a:lstStyle/>
        <a:p>
          <a:endParaRPr lang="en-US" sz="600" b="0" dirty="0">
            <a:solidFill>
              <a:schemeClr val="tx1"/>
            </a:solidFill>
            <a:latin typeface="Aptos" panose="020B0004020202020204" pitchFamily="34" charset="0"/>
          </a:endParaRPr>
        </a:p>
      </dgm:t>
    </dgm:pt>
    <dgm:pt modelId="{F000F388-FA7A-41AD-B3E3-1D5997785B95}" type="pres">
      <dgm:prSet presAssocID="{8693F27C-3A05-4437-A946-D1B7F62CC400}" presName="cycle" presStyleCnt="0">
        <dgm:presLayoutVars>
          <dgm:dir/>
          <dgm:resizeHandles val="exact"/>
        </dgm:presLayoutVars>
      </dgm:prSet>
      <dgm:spPr/>
    </dgm:pt>
    <dgm:pt modelId="{D516EB4D-F43A-4F5D-86F4-089582869899}" type="pres">
      <dgm:prSet presAssocID="{A14850F9-A9E9-458B-A229-FC4BFF06C634}" presName="node" presStyleLbl="node1" presStyleIdx="0" presStyleCnt="3">
        <dgm:presLayoutVars>
          <dgm:bulletEnabled val="1"/>
        </dgm:presLayoutVars>
      </dgm:prSet>
      <dgm:spPr/>
    </dgm:pt>
    <dgm:pt modelId="{72DECEDA-5524-4F34-9485-C906494D230E}" type="pres">
      <dgm:prSet presAssocID="{A5B67D1D-87BF-4831-AFF7-13D8C5F45FEA}" presName="sibTrans" presStyleLbl="sibTrans2D1" presStyleIdx="0" presStyleCnt="3"/>
      <dgm:spPr/>
    </dgm:pt>
    <dgm:pt modelId="{2835A94C-7510-4FC7-8F09-FFC1780C3E9F}" type="pres">
      <dgm:prSet presAssocID="{A5B67D1D-87BF-4831-AFF7-13D8C5F45FEA}" presName="connectorText" presStyleLbl="sibTrans2D1" presStyleIdx="0" presStyleCnt="3"/>
      <dgm:spPr/>
    </dgm:pt>
    <dgm:pt modelId="{862D6F38-F436-46FE-A3F6-A8FA3A8BB215}" type="pres">
      <dgm:prSet presAssocID="{80B209E6-EB88-40FB-BB59-C3DE268185A9}" presName="node" presStyleLbl="node1" presStyleIdx="1" presStyleCnt="3" custRadScaleRad="88212" custRadScaleInc="3073">
        <dgm:presLayoutVars>
          <dgm:bulletEnabled val="1"/>
        </dgm:presLayoutVars>
      </dgm:prSet>
      <dgm:spPr/>
    </dgm:pt>
    <dgm:pt modelId="{2CA15510-9DBC-4F0A-BECA-1C3C87D69794}" type="pres">
      <dgm:prSet presAssocID="{950B6C5C-724E-4998-94F2-F5A5AFD3639B}" presName="sibTrans" presStyleLbl="sibTrans2D1" presStyleIdx="1" presStyleCnt="3"/>
      <dgm:spPr/>
    </dgm:pt>
    <dgm:pt modelId="{44D3F40A-2C94-4697-BD54-4433878B082D}" type="pres">
      <dgm:prSet presAssocID="{950B6C5C-724E-4998-94F2-F5A5AFD3639B}" presName="connectorText" presStyleLbl="sibTrans2D1" presStyleIdx="1" presStyleCnt="3"/>
      <dgm:spPr/>
    </dgm:pt>
    <dgm:pt modelId="{621301EC-E66B-4731-892C-D0035B91BE13}" type="pres">
      <dgm:prSet presAssocID="{B38F4E47-488E-4D3B-8FC2-0DF0674C6DA7}" presName="node" presStyleLbl="node1" presStyleIdx="2" presStyleCnt="3">
        <dgm:presLayoutVars>
          <dgm:bulletEnabled val="1"/>
        </dgm:presLayoutVars>
      </dgm:prSet>
      <dgm:spPr/>
    </dgm:pt>
    <dgm:pt modelId="{9A9C51B2-0783-4B59-A2BE-8EB815CA59DF}" type="pres">
      <dgm:prSet presAssocID="{49B1E328-3946-49F0-B93B-D0EDC2C6199B}" presName="sibTrans" presStyleLbl="sibTrans2D1" presStyleIdx="2" presStyleCnt="3"/>
      <dgm:spPr/>
    </dgm:pt>
    <dgm:pt modelId="{677DDF2C-6377-4F61-B7C6-02865F465980}" type="pres">
      <dgm:prSet presAssocID="{49B1E328-3946-49F0-B93B-D0EDC2C6199B}" presName="connectorText" presStyleLbl="sibTrans2D1" presStyleIdx="2" presStyleCnt="3"/>
      <dgm:spPr/>
    </dgm:pt>
  </dgm:ptLst>
  <dgm:cxnLst>
    <dgm:cxn modelId="{80029C19-1C86-4E58-A141-21306DEE42C8}" type="presOf" srcId="{A5B67D1D-87BF-4831-AFF7-13D8C5F45FEA}" destId="{2835A94C-7510-4FC7-8F09-FFC1780C3E9F}" srcOrd="1" destOrd="0" presId="urn:microsoft.com/office/officeart/2005/8/layout/cycle2"/>
    <dgm:cxn modelId="{7B2B192D-20CB-461E-BBC3-CEF2444E5343}" type="presOf" srcId="{A14850F9-A9E9-458B-A229-FC4BFF06C634}" destId="{D516EB4D-F43A-4F5D-86F4-089582869899}" srcOrd="0" destOrd="0" presId="urn:microsoft.com/office/officeart/2005/8/layout/cycle2"/>
    <dgm:cxn modelId="{F78D7F42-8233-4621-9489-FC64BF7E597E}" type="presOf" srcId="{950B6C5C-724E-4998-94F2-F5A5AFD3639B}" destId="{2CA15510-9DBC-4F0A-BECA-1C3C87D69794}" srcOrd="0" destOrd="0" presId="urn:microsoft.com/office/officeart/2005/8/layout/cycle2"/>
    <dgm:cxn modelId="{B8DE3F71-156E-4C0B-9459-37D7359E4528}" srcId="{8693F27C-3A05-4437-A946-D1B7F62CC400}" destId="{A14850F9-A9E9-458B-A229-FC4BFF06C634}" srcOrd="0" destOrd="0" parTransId="{68F9AAA6-CC39-4300-95DB-EC43918FDAA0}" sibTransId="{A5B67D1D-87BF-4831-AFF7-13D8C5F45FEA}"/>
    <dgm:cxn modelId="{37D2D751-06E7-40D5-976A-AAC146BC8384}" type="presOf" srcId="{A5B67D1D-87BF-4831-AFF7-13D8C5F45FEA}" destId="{72DECEDA-5524-4F34-9485-C906494D230E}" srcOrd="0" destOrd="0" presId="urn:microsoft.com/office/officeart/2005/8/layout/cycle2"/>
    <dgm:cxn modelId="{796A7A54-9CF0-4DF8-966F-31E14D69A1D1}" type="presOf" srcId="{49B1E328-3946-49F0-B93B-D0EDC2C6199B}" destId="{677DDF2C-6377-4F61-B7C6-02865F465980}" srcOrd="1" destOrd="0" presId="urn:microsoft.com/office/officeart/2005/8/layout/cycle2"/>
    <dgm:cxn modelId="{1F72C257-AF1B-4D1A-8D50-197013218C23}" type="presOf" srcId="{80B209E6-EB88-40FB-BB59-C3DE268185A9}" destId="{862D6F38-F436-46FE-A3F6-A8FA3A8BB215}" srcOrd="0" destOrd="0" presId="urn:microsoft.com/office/officeart/2005/8/layout/cycle2"/>
    <dgm:cxn modelId="{2105BF78-3FD3-4915-9A4E-75CA1520BE5F}" type="presOf" srcId="{B38F4E47-488E-4D3B-8FC2-0DF0674C6DA7}" destId="{621301EC-E66B-4731-892C-D0035B91BE13}" srcOrd="0" destOrd="0" presId="urn:microsoft.com/office/officeart/2005/8/layout/cycle2"/>
    <dgm:cxn modelId="{EE89E97E-34CE-49A9-A21D-E93521735B9D}" type="presOf" srcId="{8693F27C-3A05-4437-A946-D1B7F62CC400}" destId="{F000F388-FA7A-41AD-B3E3-1D5997785B95}" srcOrd="0" destOrd="0" presId="urn:microsoft.com/office/officeart/2005/8/layout/cycle2"/>
    <dgm:cxn modelId="{78B357AF-BD2E-42A0-B783-DAE88CD3A14D}" type="presOf" srcId="{49B1E328-3946-49F0-B93B-D0EDC2C6199B}" destId="{9A9C51B2-0783-4B59-A2BE-8EB815CA59DF}" srcOrd="0" destOrd="0" presId="urn:microsoft.com/office/officeart/2005/8/layout/cycle2"/>
    <dgm:cxn modelId="{3427D4C9-6DAB-44BD-AFE8-FC30DF62BEA8}" srcId="{8693F27C-3A05-4437-A946-D1B7F62CC400}" destId="{B38F4E47-488E-4D3B-8FC2-0DF0674C6DA7}" srcOrd="2" destOrd="0" parTransId="{57DE931F-492E-4748-BD90-5ABDB92EE162}" sibTransId="{49B1E328-3946-49F0-B93B-D0EDC2C6199B}"/>
    <dgm:cxn modelId="{B91705DA-21DA-4451-82EE-F8B592F2F9D9}" type="presOf" srcId="{950B6C5C-724E-4998-94F2-F5A5AFD3639B}" destId="{44D3F40A-2C94-4697-BD54-4433878B082D}" srcOrd="1" destOrd="0" presId="urn:microsoft.com/office/officeart/2005/8/layout/cycle2"/>
    <dgm:cxn modelId="{266A7BFA-6DBC-4452-81B4-49EA2865E086}" srcId="{8693F27C-3A05-4437-A946-D1B7F62CC400}" destId="{80B209E6-EB88-40FB-BB59-C3DE268185A9}" srcOrd="1" destOrd="0" parTransId="{E461AC32-00D7-4F45-9022-F7AEC64FEB40}" sibTransId="{950B6C5C-724E-4998-94F2-F5A5AFD3639B}"/>
    <dgm:cxn modelId="{997E62CD-B7DC-4658-BEF0-DC08823EC007}" type="presParOf" srcId="{F000F388-FA7A-41AD-B3E3-1D5997785B95}" destId="{D516EB4D-F43A-4F5D-86F4-089582869899}" srcOrd="0" destOrd="0" presId="urn:microsoft.com/office/officeart/2005/8/layout/cycle2"/>
    <dgm:cxn modelId="{E69624A4-2D29-478C-86E1-5743CED6D184}" type="presParOf" srcId="{F000F388-FA7A-41AD-B3E3-1D5997785B95}" destId="{72DECEDA-5524-4F34-9485-C906494D230E}" srcOrd="1" destOrd="0" presId="urn:microsoft.com/office/officeart/2005/8/layout/cycle2"/>
    <dgm:cxn modelId="{C4288DFC-DA96-4502-A804-AA8CB746CD31}" type="presParOf" srcId="{72DECEDA-5524-4F34-9485-C906494D230E}" destId="{2835A94C-7510-4FC7-8F09-FFC1780C3E9F}" srcOrd="0" destOrd="0" presId="urn:microsoft.com/office/officeart/2005/8/layout/cycle2"/>
    <dgm:cxn modelId="{7CD5CF73-33D7-481C-B652-7EB85B896353}" type="presParOf" srcId="{F000F388-FA7A-41AD-B3E3-1D5997785B95}" destId="{862D6F38-F436-46FE-A3F6-A8FA3A8BB215}" srcOrd="2" destOrd="0" presId="urn:microsoft.com/office/officeart/2005/8/layout/cycle2"/>
    <dgm:cxn modelId="{6B7AEB2B-C031-4BFB-9CDC-BC6D02884658}" type="presParOf" srcId="{F000F388-FA7A-41AD-B3E3-1D5997785B95}" destId="{2CA15510-9DBC-4F0A-BECA-1C3C87D69794}" srcOrd="3" destOrd="0" presId="urn:microsoft.com/office/officeart/2005/8/layout/cycle2"/>
    <dgm:cxn modelId="{7EDC8703-9591-4EFE-97A8-77D9291666BB}" type="presParOf" srcId="{2CA15510-9DBC-4F0A-BECA-1C3C87D69794}" destId="{44D3F40A-2C94-4697-BD54-4433878B082D}" srcOrd="0" destOrd="0" presId="urn:microsoft.com/office/officeart/2005/8/layout/cycle2"/>
    <dgm:cxn modelId="{48FD603A-C1AA-43F0-94F0-D1D3562BE9A4}" type="presParOf" srcId="{F000F388-FA7A-41AD-B3E3-1D5997785B95}" destId="{621301EC-E66B-4731-892C-D0035B91BE13}" srcOrd="4" destOrd="0" presId="urn:microsoft.com/office/officeart/2005/8/layout/cycle2"/>
    <dgm:cxn modelId="{6BED5421-4B96-4020-9428-E8E089B60326}" type="presParOf" srcId="{F000F388-FA7A-41AD-B3E3-1D5997785B95}" destId="{9A9C51B2-0783-4B59-A2BE-8EB815CA59DF}" srcOrd="5" destOrd="0" presId="urn:microsoft.com/office/officeart/2005/8/layout/cycle2"/>
    <dgm:cxn modelId="{204586E0-B26E-4BD2-8A92-5CCE1E1C7CD4}" type="presParOf" srcId="{9A9C51B2-0783-4B59-A2BE-8EB815CA59DF}" destId="{677DDF2C-6377-4F61-B7C6-02865F465980}"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3237A-A32E-4E40-852D-4E092023F5C7}">
      <dsp:nvSpPr>
        <dsp:cNvPr id="0" name=""/>
        <dsp:cNvSpPr/>
      </dsp:nvSpPr>
      <dsp:spPr>
        <a:xfrm>
          <a:off x="2585144" y="-45812"/>
          <a:ext cx="925710" cy="601712"/>
        </a:xfrm>
        <a:prstGeom prst="roundRect">
          <a:avLst/>
        </a:prstGeom>
        <a:solidFill>
          <a:schemeClr val="accent2">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chemeClr val="tx1"/>
              </a:solidFill>
              <a:latin typeface="+mj-lt"/>
            </a:rPr>
            <a:t>2</a:t>
          </a:r>
          <a:r>
            <a:rPr lang="en-US" sz="900" kern="1200" dirty="0">
              <a:latin typeface="+mj-lt"/>
            </a:rPr>
            <a:t>. </a:t>
          </a:r>
          <a:r>
            <a:rPr lang="en-US" sz="800" b="1" kern="1200" dirty="0">
              <a:latin typeface="+mj-lt"/>
            </a:rPr>
            <a:t>Do a KIM for the program </a:t>
          </a:r>
          <a:r>
            <a:rPr lang="en-US" sz="900" kern="1200" dirty="0">
              <a:latin typeface="+mj-lt"/>
            </a:rPr>
            <a:t>(involve experts)</a:t>
          </a:r>
        </a:p>
      </dsp:txBody>
      <dsp:txXfrm>
        <a:off x="2614517" y="-16439"/>
        <a:ext cx="866964" cy="542966"/>
      </dsp:txXfrm>
    </dsp:sp>
    <dsp:sp modelId="{0DF65D6E-42E6-4A9F-B5ED-91B4CAAE4951}">
      <dsp:nvSpPr>
        <dsp:cNvPr id="0" name=""/>
        <dsp:cNvSpPr/>
      </dsp:nvSpPr>
      <dsp:spPr>
        <a:xfrm>
          <a:off x="1365616" y="264517"/>
          <a:ext cx="3435368" cy="3435368"/>
        </a:xfrm>
        <a:custGeom>
          <a:avLst/>
          <a:gdLst/>
          <a:ahLst/>
          <a:cxnLst/>
          <a:rect l="0" t="0" r="0" b="0"/>
          <a:pathLst>
            <a:path>
              <a:moveTo>
                <a:pt x="2255090" y="86233"/>
              </a:moveTo>
              <a:arcTo wR="1717684" hR="1717684" stAng="17293926" swAng="692766"/>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8137FA1D-6104-4499-B7B3-3A4AC03570BC}">
      <dsp:nvSpPr>
        <dsp:cNvPr id="0" name=""/>
        <dsp:cNvSpPr/>
      </dsp:nvSpPr>
      <dsp:spPr>
        <a:xfrm>
          <a:off x="3752407" y="551457"/>
          <a:ext cx="1284442" cy="671492"/>
        </a:xfrm>
        <a:prstGeom prst="roundRect">
          <a:avLst/>
        </a:prstGeom>
        <a:solidFill>
          <a:schemeClr val="accent2">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b="1" kern="1200" dirty="0">
              <a:solidFill>
                <a:srgbClr val="7030A0"/>
              </a:solidFill>
              <a:latin typeface="+mj-lt"/>
            </a:rPr>
            <a:t>3. </a:t>
          </a:r>
          <a:r>
            <a:rPr lang="en-US" sz="600" b="1" kern="1200" dirty="0">
              <a:latin typeface="+mj-lt"/>
            </a:rPr>
            <a:t>Review Qty of Dim for  KPC, QCI, FF, PSD (Final products only)</a:t>
          </a:r>
          <a:endParaRPr lang="en-US" sz="800" b="1" kern="1200" dirty="0">
            <a:latin typeface="+mj-lt"/>
          </a:endParaRPr>
        </a:p>
        <a:p>
          <a:pPr marL="57150" lvl="1" indent="-57150" algn="l" defTabSz="266700">
            <a:lnSpc>
              <a:spcPct val="90000"/>
            </a:lnSpc>
            <a:spcBef>
              <a:spcPct val="0"/>
            </a:spcBef>
            <a:spcAft>
              <a:spcPct val="15000"/>
            </a:spcAft>
            <a:buChar char="•"/>
          </a:pPr>
          <a:r>
            <a:rPr lang="en-US" sz="600" kern="1200" dirty="0">
              <a:latin typeface="+mj-lt"/>
            </a:rPr>
            <a:t>Assess Component Functions (PE)</a:t>
          </a:r>
        </a:p>
        <a:p>
          <a:pPr marL="57150" lvl="1" indent="-57150" algn="l" defTabSz="266700">
            <a:lnSpc>
              <a:spcPct val="90000"/>
            </a:lnSpc>
            <a:spcBef>
              <a:spcPct val="0"/>
            </a:spcBef>
            <a:spcAft>
              <a:spcPct val="15000"/>
            </a:spcAft>
            <a:buChar char="•"/>
          </a:pPr>
          <a:r>
            <a:rPr lang="en-US" sz="600" kern="1200" dirty="0">
              <a:latin typeface="+mj-lt"/>
            </a:rPr>
            <a:t>Ensure alignment of critical Component functions with KPC, QCI, F/F list</a:t>
          </a:r>
        </a:p>
      </dsp:txBody>
      <dsp:txXfrm>
        <a:off x="3785187" y="584237"/>
        <a:ext cx="1218882" cy="605932"/>
      </dsp:txXfrm>
    </dsp:sp>
    <dsp:sp modelId="{DC461A93-7882-4CCD-A615-DCB658A284D7}">
      <dsp:nvSpPr>
        <dsp:cNvPr id="0" name=""/>
        <dsp:cNvSpPr/>
      </dsp:nvSpPr>
      <dsp:spPr>
        <a:xfrm>
          <a:off x="1331691" y="229919"/>
          <a:ext cx="3435368" cy="3435368"/>
        </a:xfrm>
        <a:custGeom>
          <a:avLst/>
          <a:gdLst/>
          <a:ahLst/>
          <a:cxnLst/>
          <a:rect l="0" t="0" r="0" b="0"/>
          <a:pathLst>
            <a:path>
              <a:moveTo>
                <a:pt x="3338733" y="1149672"/>
              </a:moveTo>
              <a:arcTo wR="1717684" hR="1717684" stAng="20441381" swAng="1033308"/>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9A4B0214-55DC-4707-87ED-7CF7955FB075}">
      <dsp:nvSpPr>
        <dsp:cNvPr id="0" name=""/>
        <dsp:cNvSpPr/>
      </dsp:nvSpPr>
      <dsp:spPr>
        <a:xfrm>
          <a:off x="4259762" y="2054092"/>
          <a:ext cx="925710" cy="601712"/>
        </a:xfrm>
        <a:prstGeom prst="roundRect">
          <a:avLst/>
        </a:prstGeom>
        <a:solidFill>
          <a:schemeClr val="accent2">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mj-lt"/>
            </a:rPr>
            <a:t>4. </a:t>
          </a:r>
          <a:r>
            <a:rPr lang="en-US" sz="800" b="1" kern="1200" dirty="0">
              <a:latin typeface="+mj-lt"/>
            </a:rPr>
            <a:t>Do  QAM per product type </a:t>
          </a:r>
          <a:r>
            <a:rPr lang="en-US" sz="800" b="0" kern="1200" dirty="0">
              <a:latin typeface="+mj-lt"/>
            </a:rPr>
            <a:t>(include PE &amp; Q)</a:t>
          </a:r>
        </a:p>
      </dsp:txBody>
      <dsp:txXfrm>
        <a:off x="4289135" y="2083465"/>
        <a:ext cx="866964" cy="542966"/>
      </dsp:txXfrm>
    </dsp:sp>
    <dsp:sp modelId="{4F7DF650-F711-4F52-91A9-6BE6F1DBA4A2}">
      <dsp:nvSpPr>
        <dsp:cNvPr id="0" name=""/>
        <dsp:cNvSpPr/>
      </dsp:nvSpPr>
      <dsp:spPr>
        <a:xfrm>
          <a:off x="1330315" y="255043"/>
          <a:ext cx="3435368" cy="3435368"/>
        </a:xfrm>
        <a:custGeom>
          <a:avLst/>
          <a:gdLst/>
          <a:ahLst/>
          <a:cxnLst/>
          <a:rect l="0" t="0" r="0" b="0"/>
          <a:pathLst>
            <a:path>
              <a:moveTo>
                <a:pt x="3233994" y="2524679"/>
              </a:moveTo>
              <a:arcTo wR="1717684" hR="1717684" stAng="1681341" swAng="835495"/>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78C83AD8-ED1E-4124-A534-FA5DA5754B28}">
      <dsp:nvSpPr>
        <dsp:cNvPr id="0" name=""/>
        <dsp:cNvSpPr/>
      </dsp:nvSpPr>
      <dsp:spPr>
        <a:xfrm>
          <a:off x="3330419" y="3219451"/>
          <a:ext cx="925710" cy="601712"/>
        </a:xfrm>
        <a:prstGeom prst="roundRect">
          <a:avLst/>
        </a:prstGeom>
        <a:solidFill>
          <a:schemeClr val="accent2">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mj-lt"/>
            </a:rPr>
            <a:t>5. </a:t>
          </a:r>
          <a:r>
            <a:rPr lang="en-US" sz="800" kern="1200" dirty="0" err="1">
              <a:latin typeface="+mj-lt"/>
            </a:rPr>
            <a:t>Quailty</a:t>
          </a:r>
          <a:r>
            <a:rPr lang="en-US" sz="800" kern="1200" dirty="0">
              <a:latin typeface="+mj-lt"/>
            </a:rPr>
            <a:t> team to </a:t>
          </a:r>
          <a:r>
            <a:rPr lang="en-US" sz="800" b="1" kern="1200" dirty="0">
              <a:latin typeface="+mj-lt"/>
            </a:rPr>
            <a:t>Review SOW vs. QAM &amp; KIM with ME experts</a:t>
          </a:r>
        </a:p>
      </dsp:txBody>
      <dsp:txXfrm>
        <a:off x="3359792" y="3248824"/>
        <a:ext cx="866964" cy="542966"/>
      </dsp:txXfrm>
    </dsp:sp>
    <dsp:sp modelId="{ABC4BF16-FFFC-4A93-985E-45E224671BF5}">
      <dsp:nvSpPr>
        <dsp:cNvPr id="0" name=""/>
        <dsp:cNvSpPr/>
      </dsp:nvSpPr>
      <dsp:spPr>
        <a:xfrm>
          <a:off x="1406687" y="244070"/>
          <a:ext cx="3435368" cy="3435368"/>
        </a:xfrm>
        <a:custGeom>
          <a:avLst/>
          <a:gdLst/>
          <a:ahLst/>
          <a:cxnLst/>
          <a:rect l="0" t="0" r="0" b="0"/>
          <a:pathLst>
            <a:path>
              <a:moveTo>
                <a:pt x="1846851" y="3430504"/>
              </a:moveTo>
              <a:arcTo wR="1717684" hR="1717684" stAng="5141242" swAng="465495"/>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568D72C0-9C01-4EED-8C52-C0B259DFEBB8}">
      <dsp:nvSpPr>
        <dsp:cNvPr id="0" name=""/>
        <dsp:cNvSpPr/>
      </dsp:nvSpPr>
      <dsp:spPr>
        <a:xfrm>
          <a:off x="1674010" y="3107360"/>
          <a:ext cx="1270140" cy="793658"/>
        </a:xfrm>
        <a:prstGeom prst="roundRect">
          <a:avLst/>
        </a:prstGeom>
        <a:solidFill>
          <a:schemeClr val="accent2">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66725">
            <a:lnSpc>
              <a:spcPct val="90000"/>
            </a:lnSpc>
            <a:spcBef>
              <a:spcPct val="0"/>
            </a:spcBef>
            <a:spcAft>
              <a:spcPct val="35000"/>
            </a:spcAft>
            <a:buNone/>
          </a:pPr>
          <a:r>
            <a:rPr lang="en-US" sz="1050" b="1" kern="1200" dirty="0">
              <a:solidFill>
                <a:schemeClr val="tx1"/>
              </a:solidFill>
              <a:latin typeface="+mj-lt"/>
            </a:rPr>
            <a:t>6. </a:t>
          </a:r>
          <a:r>
            <a:rPr lang="en-US" sz="900" b="0" kern="1200" dirty="0">
              <a:solidFill>
                <a:schemeClr val="tx1"/>
              </a:solidFill>
              <a:latin typeface="+mj-lt"/>
            </a:rPr>
            <a:t>Formalize a SOW per Product Type </a:t>
          </a:r>
          <a:r>
            <a:rPr lang="en-US" sz="900" b="0" i="1" u="sng" kern="1200" dirty="0">
              <a:solidFill>
                <a:schemeClr val="tx1"/>
              </a:solidFill>
              <a:latin typeface="+mj-lt"/>
            </a:rPr>
            <a:t>prior to PO issued </a:t>
          </a:r>
          <a:r>
            <a:rPr lang="en-US" sz="900" b="0" i="1" kern="1200" dirty="0">
              <a:solidFill>
                <a:schemeClr val="tx1"/>
              </a:solidFill>
              <a:latin typeface="+mj-lt"/>
            </a:rPr>
            <a:t>for equipment</a:t>
          </a:r>
        </a:p>
      </dsp:txBody>
      <dsp:txXfrm>
        <a:off x="1712753" y="3146103"/>
        <a:ext cx="1192654" cy="716172"/>
      </dsp:txXfrm>
    </dsp:sp>
    <dsp:sp modelId="{D093B850-5D9A-4E6A-BEBE-E59230D9F4C9}">
      <dsp:nvSpPr>
        <dsp:cNvPr id="0" name=""/>
        <dsp:cNvSpPr/>
      </dsp:nvSpPr>
      <dsp:spPr>
        <a:xfrm>
          <a:off x="1307728" y="205126"/>
          <a:ext cx="3435368" cy="3435368"/>
        </a:xfrm>
        <a:custGeom>
          <a:avLst/>
          <a:gdLst/>
          <a:ahLst/>
          <a:cxnLst/>
          <a:rect l="0" t="0" r="0" b="0"/>
          <a:pathLst>
            <a:path>
              <a:moveTo>
                <a:pt x="400855" y="2820590"/>
              </a:moveTo>
              <a:arcTo wR="1717684" hR="1717684" stAng="8403134" swAng="662101"/>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FDC43DD0-B7F2-4910-B74C-1D97A2E4A851}">
      <dsp:nvSpPr>
        <dsp:cNvPr id="0" name=""/>
        <dsp:cNvSpPr/>
      </dsp:nvSpPr>
      <dsp:spPr>
        <a:xfrm>
          <a:off x="910526" y="2054092"/>
          <a:ext cx="925710" cy="601712"/>
        </a:xfrm>
        <a:prstGeom prst="roundRect">
          <a:avLst/>
        </a:prstGeom>
        <a:solidFill>
          <a:schemeClr val="accent2">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kern="1200" dirty="0">
              <a:latin typeface="+mj-lt"/>
            </a:rPr>
            <a:t>7. MQ1/MQ2 Audit vs QAM</a:t>
          </a:r>
        </a:p>
      </dsp:txBody>
      <dsp:txXfrm>
        <a:off x="939899" y="2083465"/>
        <a:ext cx="866964" cy="542966"/>
      </dsp:txXfrm>
    </dsp:sp>
    <dsp:sp modelId="{BFBD43F9-6938-4ADB-B42C-BA0AC2647F7A}">
      <dsp:nvSpPr>
        <dsp:cNvPr id="0" name=""/>
        <dsp:cNvSpPr/>
      </dsp:nvSpPr>
      <dsp:spPr>
        <a:xfrm>
          <a:off x="1330315" y="255043"/>
          <a:ext cx="3435368" cy="3435368"/>
        </a:xfrm>
        <a:custGeom>
          <a:avLst/>
          <a:gdLst/>
          <a:ahLst/>
          <a:cxnLst/>
          <a:rect l="0" t="0" r="0" b="0"/>
          <a:pathLst>
            <a:path>
              <a:moveTo>
                <a:pt x="2499" y="1625051"/>
              </a:moveTo>
              <a:arcTo wR="1717684" hR="1717684" stAng="10985484" swAng="1064355"/>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 modelId="{96036579-A26C-47B7-90E0-5E4B901521F6}">
      <dsp:nvSpPr>
        <dsp:cNvPr id="0" name=""/>
        <dsp:cNvSpPr/>
      </dsp:nvSpPr>
      <dsp:spPr>
        <a:xfrm>
          <a:off x="1242204" y="600913"/>
          <a:ext cx="925710" cy="601712"/>
        </a:xfrm>
        <a:prstGeom prst="roundRect">
          <a:avLst/>
        </a:prstGeom>
        <a:solidFill>
          <a:schemeClr val="accent2">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kern="1200" dirty="0">
              <a:solidFill>
                <a:schemeClr val="tx1"/>
              </a:solidFill>
              <a:latin typeface="+mj-lt"/>
            </a:rPr>
            <a:t>1</a:t>
          </a:r>
          <a:r>
            <a:rPr lang="en-US" sz="800" kern="1200" dirty="0">
              <a:latin typeface="+mj-lt"/>
            </a:rPr>
            <a:t>. Define </a:t>
          </a:r>
          <a:r>
            <a:rPr lang="en-US" sz="800" b="1" kern="1200" dirty="0">
              <a:latin typeface="+mj-lt"/>
            </a:rPr>
            <a:t>Program Priorities</a:t>
          </a:r>
          <a:endParaRPr lang="en-US" sz="800" kern="1200" dirty="0">
            <a:latin typeface="+mj-lt"/>
          </a:endParaRPr>
        </a:p>
      </dsp:txBody>
      <dsp:txXfrm>
        <a:off x="1271577" y="630286"/>
        <a:ext cx="866964" cy="542966"/>
      </dsp:txXfrm>
    </dsp:sp>
    <dsp:sp modelId="{F00288BF-6644-4187-9C2E-AFB509047F30}">
      <dsp:nvSpPr>
        <dsp:cNvPr id="0" name=""/>
        <dsp:cNvSpPr/>
      </dsp:nvSpPr>
      <dsp:spPr>
        <a:xfrm>
          <a:off x="1330315" y="255043"/>
          <a:ext cx="3435368" cy="3435368"/>
        </a:xfrm>
        <a:custGeom>
          <a:avLst/>
          <a:gdLst/>
          <a:ahLst/>
          <a:cxnLst/>
          <a:rect l="0" t="0" r="0" b="0"/>
          <a:pathLst>
            <a:path>
              <a:moveTo>
                <a:pt x="788442" y="273056"/>
              </a:moveTo>
              <a:arcTo wR="1717684" hR="1717684" stAng="14234957" swAng="772177"/>
            </a:path>
          </a:pathLst>
        </a:custGeom>
        <a:noFill/>
        <a:ln w="9525" cap="flat" cmpd="sng" algn="ctr">
          <a:solidFill>
            <a:schemeClr val="tx1"/>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16EB4D-F43A-4F5D-86F4-089582869899}">
      <dsp:nvSpPr>
        <dsp:cNvPr id="0" name=""/>
        <dsp:cNvSpPr/>
      </dsp:nvSpPr>
      <dsp:spPr>
        <a:xfrm>
          <a:off x="441644" y="7866"/>
          <a:ext cx="587423" cy="587423"/>
        </a:xfrm>
        <a:prstGeom prst="ellipse">
          <a:avLst/>
        </a:prstGeom>
        <a:solidFill>
          <a:srgbClr val="00B0F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0" kern="1200" dirty="0">
              <a:latin typeface="Aptos" panose="020B0004020202020204" pitchFamily="34" charset="0"/>
            </a:rPr>
            <a:t>Product Engineering</a:t>
          </a:r>
        </a:p>
      </dsp:txBody>
      <dsp:txXfrm>
        <a:off x="527670" y="93892"/>
        <a:ext cx="415371" cy="415371"/>
      </dsp:txXfrm>
    </dsp:sp>
    <dsp:sp modelId="{72DECEDA-5524-4F34-9485-C906494D230E}">
      <dsp:nvSpPr>
        <dsp:cNvPr id="0" name=""/>
        <dsp:cNvSpPr/>
      </dsp:nvSpPr>
      <dsp:spPr>
        <a:xfrm rot="3774999">
          <a:off x="857975" y="572472"/>
          <a:ext cx="133190" cy="198255"/>
        </a:xfrm>
        <a:prstGeom prst="rightArrow">
          <a:avLst>
            <a:gd name="adj1" fmla="val 60000"/>
            <a:gd name="adj2" fmla="val 50000"/>
          </a:avLst>
        </a:prstGeom>
        <a:solidFill>
          <a:srgbClr val="00B0F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dirty="0">
            <a:solidFill>
              <a:schemeClr val="tx1"/>
            </a:solidFill>
            <a:latin typeface="Aptos" panose="020B0004020202020204" pitchFamily="34" charset="0"/>
          </a:endParaRPr>
        </a:p>
      </dsp:txBody>
      <dsp:txXfrm>
        <a:off x="868858" y="594335"/>
        <a:ext cx="93233" cy="118953"/>
      </dsp:txXfrm>
    </dsp:sp>
    <dsp:sp modelId="{862D6F38-F436-46FE-A3F6-A8FA3A8BB215}">
      <dsp:nvSpPr>
        <dsp:cNvPr id="0" name=""/>
        <dsp:cNvSpPr/>
      </dsp:nvSpPr>
      <dsp:spPr>
        <a:xfrm>
          <a:off x="823505" y="754622"/>
          <a:ext cx="587423" cy="587423"/>
        </a:xfrm>
        <a:prstGeom prst="ellipse">
          <a:avLst/>
        </a:prstGeom>
        <a:solidFill>
          <a:srgbClr val="00B0F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0" kern="1200" dirty="0">
              <a:latin typeface="Aptos" panose="020B0004020202020204" pitchFamily="34" charset="0"/>
            </a:rPr>
            <a:t>BIQ Engineer (APQP)</a:t>
          </a:r>
        </a:p>
      </dsp:txBody>
      <dsp:txXfrm>
        <a:off x="909531" y="840648"/>
        <a:ext cx="415371" cy="415371"/>
      </dsp:txXfrm>
    </dsp:sp>
    <dsp:sp modelId="{2CA15510-9DBC-4F0A-BECA-1C3C87D69794}">
      <dsp:nvSpPr>
        <dsp:cNvPr id="0" name=""/>
        <dsp:cNvSpPr/>
      </dsp:nvSpPr>
      <dsp:spPr>
        <a:xfrm rot="10726402">
          <a:off x="646642" y="957943"/>
          <a:ext cx="125049" cy="198255"/>
        </a:xfrm>
        <a:prstGeom prst="rightArrow">
          <a:avLst>
            <a:gd name="adj1" fmla="val 60000"/>
            <a:gd name="adj2" fmla="val 50000"/>
          </a:avLst>
        </a:prstGeom>
        <a:solidFill>
          <a:srgbClr val="00B0F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dirty="0">
            <a:solidFill>
              <a:schemeClr val="tx1"/>
            </a:solidFill>
            <a:latin typeface="Aptos" panose="020B0004020202020204" pitchFamily="34" charset="0"/>
          </a:endParaRPr>
        </a:p>
      </dsp:txBody>
      <dsp:txXfrm rot="10800000">
        <a:off x="684153" y="997192"/>
        <a:ext cx="87534" cy="118953"/>
      </dsp:txXfrm>
    </dsp:sp>
    <dsp:sp modelId="{621301EC-E66B-4731-892C-D0035B91BE13}">
      <dsp:nvSpPr>
        <dsp:cNvPr id="0" name=""/>
        <dsp:cNvSpPr/>
      </dsp:nvSpPr>
      <dsp:spPr>
        <a:xfrm>
          <a:off x="328" y="772248"/>
          <a:ext cx="587423" cy="587423"/>
        </a:xfrm>
        <a:prstGeom prst="ellipse">
          <a:avLst/>
        </a:prstGeom>
        <a:solidFill>
          <a:srgbClr val="00B0F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0" kern="1200" dirty="0">
              <a:latin typeface="Aptos" panose="020B0004020202020204" pitchFamily="34" charset="0"/>
            </a:rPr>
            <a:t>Mfg Engineering F4</a:t>
          </a:r>
        </a:p>
      </dsp:txBody>
      <dsp:txXfrm>
        <a:off x="86354" y="858274"/>
        <a:ext cx="415371" cy="415371"/>
      </dsp:txXfrm>
    </dsp:sp>
    <dsp:sp modelId="{9A9C51B2-0783-4B59-A2BE-8EB815CA59DF}">
      <dsp:nvSpPr>
        <dsp:cNvPr id="0" name=""/>
        <dsp:cNvSpPr/>
      </dsp:nvSpPr>
      <dsp:spPr>
        <a:xfrm rot="18000000">
          <a:off x="434254" y="588476"/>
          <a:ext cx="156460" cy="198255"/>
        </a:xfrm>
        <a:prstGeom prst="rightArrow">
          <a:avLst>
            <a:gd name="adj1" fmla="val 60000"/>
            <a:gd name="adj2" fmla="val 50000"/>
          </a:avLst>
        </a:prstGeom>
        <a:solidFill>
          <a:srgbClr val="00B0F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dirty="0">
            <a:solidFill>
              <a:schemeClr val="tx1"/>
            </a:solidFill>
            <a:latin typeface="Aptos" panose="020B0004020202020204" pitchFamily="34" charset="0"/>
          </a:endParaRPr>
        </a:p>
      </dsp:txBody>
      <dsp:txXfrm>
        <a:off x="445989" y="648452"/>
        <a:ext cx="109522" cy="118953"/>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284" tIns="46642" rIns="93284" bIns="46642" rtlCol="0"/>
          <a:lstStyle>
            <a:lvl1pPr algn="l">
              <a:defRPr sz="1200"/>
            </a:lvl1pPr>
          </a:lstStyle>
          <a:p>
            <a:endParaRPr lang="en-US"/>
          </a:p>
        </p:txBody>
      </p:sp>
      <p:sp>
        <p:nvSpPr>
          <p:cNvPr id="3" name="Date Placeholder 2"/>
          <p:cNvSpPr>
            <a:spLocks noGrp="1"/>
          </p:cNvSpPr>
          <p:nvPr>
            <p:ph type="dt" idx="1"/>
          </p:nvPr>
        </p:nvSpPr>
        <p:spPr>
          <a:xfrm>
            <a:off x="3978133" y="0"/>
            <a:ext cx="3043343" cy="465455"/>
          </a:xfrm>
          <a:prstGeom prst="rect">
            <a:avLst/>
          </a:prstGeom>
        </p:spPr>
        <p:txBody>
          <a:bodyPr vert="horz" lIns="93284" tIns="46642" rIns="93284" bIns="46642" rtlCol="0"/>
          <a:lstStyle>
            <a:lvl1pPr algn="r">
              <a:defRPr sz="1200"/>
            </a:lvl1pPr>
          </a:lstStyle>
          <a:p>
            <a:fld id="{433AFDF9-1178-45CE-93F9-24332EFAFFB0}" type="datetimeFigureOut">
              <a:rPr lang="en-US" smtClean="0"/>
              <a:t>5/9/2026</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284" tIns="46642" rIns="93284" bIns="46642" rtlCol="0" anchor="ctr"/>
          <a:lstStyle/>
          <a:p>
            <a:endParaRPr lang="en-US"/>
          </a:p>
        </p:txBody>
      </p:sp>
      <p:sp>
        <p:nvSpPr>
          <p:cNvPr id="5" name="Notes Placeholder 4"/>
          <p:cNvSpPr>
            <a:spLocks noGrp="1"/>
          </p:cNvSpPr>
          <p:nvPr>
            <p:ph type="body" sz="quarter" idx="3"/>
          </p:nvPr>
        </p:nvSpPr>
        <p:spPr>
          <a:xfrm>
            <a:off x="702310" y="4421824"/>
            <a:ext cx="5618480" cy="4189095"/>
          </a:xfrm>
          <a:prstGeom prst="rect">
            <a:avLst/>
          </a:prstGeom>
        </p:spPr>
        <p:txBody>
          <a:bodyPr vert="horz" lIns="93284" tIns="46642" rIns="93284" bIns="4664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5455"/>
          </a:xfrm>
          <a:prstGeom prst="rect">
            <a:avLst/>
          </a:prstGeom>
        </p:spPr>
        <p:txBody>
          <a:bodyPr vert="horz" lIns="93284" tIns="46642" rIns="93284" bIns="46642" rtlCol="0" anchor="b"/>
          <a:lstStyle>
            <a:lvl1pPr algn="l">
              <a:defRPr sz="1200"/>
            </a:lvl1pPr>
          </a:lstStyle>
          <a:p>
            <a:endParaRPr lang="en-US"/>
          </a:p>
        </p:txBody>
      </p:sp>
      <p:sp>
        <p:nvSpPr>
          <p:cNvPr id="7" name="Slide Number Placeholder 6"/>
          <p:cNvSpPr>
            <a:spLocks noGrp="1"/>
          </p:cNvSpPr>
          <p:nvPr>
            <p:ph type="sldNum" sz="quarter" idx="5"/>
          </p:nvPr>
        </p:nvSpPr>
        <p:spPr>
          <a:xfrm>
            <a:off x="3978133" y="8842030"/>
            <a:ext cx="3043343" cy="465455"/>
          </a:xfrm>
          <a:prstGeom prst="rect">
            <a:avLst/>
          </a:prstGeom>
        </p:spPr>
        <p:txBody>
          <a:bodyPr vert="horz" lIns="93284" tIns="46642" rIns="93284" bIns="46642" rtlCol="0" anchor="b"/>
          <a:lstStyle>
            <a:lvl1pPr algn="r">
              <a:defRPr sz="1200"/>
            </a:lvl1pPr>
          </a:lstStyle>
          <a:p>
            <a:fld id="{0CD08468-A1B5-40A7-BE7D-AB7545BEDBB4}" type="slidenum">
              <a:rPr lang="en-US" smtClean="0"/>
              <a:t>‹#›</a:t>
            </a:fld>
            <a:endParaRPr lang="en-US"/>
          </a:p>
        </p:txBody>
      </p:sp>
    </p:spTree>
    <p:extLst>
      <p:ext uri="{BB962C8B-B14F-4D97-AF65-F5344CB8AC3E}">
        <p14:creationId xmlns:p14="http://schemas.microsoft.com/office/powerpoint/2010/main" val="776106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0CD08468-A1B5-40A7-BE7D-AB7545BEDBB4}"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537333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D08468-A1B5-40A7-BE7D-AB7545BEDBB4}" type="slidenum">
              <a:rPr lang="en-US" smtClean="0"/>
              <a:t>4</a:t>
            </a:fld>
            <a:endParaRPr lang="en-US"/>
          </a:p>
        </p:txBody>
      </p:sp>
    </p:spTree>
    <p:extLst>
      <p:ext uri="{BB962C8B-B14F-4D97-AF65-F5344CB8AC3E}">
        <p14:creationId xmlns:p14="http://schemas.microsoft.com/office/powerpoint/2010/main" val="3665794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CD08468-A1B5-40A7-BE7D-AB7545BEDBB4}" type="slidenum">
              <a:rPr lang="en-US" smtClean="0"/>
              <a:t>5</a:t>
            </a:fld>
            <a:endParaRPr lang="en-US"/>
          </a:p>
        </p:txBody>
      </p:sp>
    </p:spTree>
    <p:extLst>
      <p:ext uri="{BB962C8B-B14F-4D97-AF65-F5344CB8AC3E}">
        <p14:creationId xmlns:p14="http://schemas.microsoft.com/office/powerpoint/2010/main" val="3213121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EEA71-E073-621C-2BA2-2ED9EFE5B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5F079-8283-B98F-29D0-7F9FE17C29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2369D-0D9D-614D-8275-D2D86552B8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367617-4DC6-E309-4436-A181BDB48142}"/>
              </a:ext>
            </a:extLst>
          </p:cNvPr>
          <p:cNvSpPr>
            <a:spLocks noGrp="1"/>
          </p:cNvSpPr>
          <p:nvPr>
            <p:ph type="sldNum" sz="quarter" idx="10"/>
          </p:nvPr>
        </p:nvSpPr>
        <p:spPr/>
        <p:txBody>
          <a:bodyPr/>
          <a:lstStyle/>
          <a:p>
            <a:fld id="{0CD08468-A1B5-40A7-BE7D-AB7545BEDBB4}" type="slidenum">
              <a:rPr lang="en-US" smtClean="0"/>
              <a:t>6</a:t>
            </a:fld>
            <a:endParaRPr lang="en-US"/>
          </a:p>
        </p:txBody>
      </p:sp>
    </p:spTree>
    <p:extLst>
      <p:ext uri="{BB962C8B-B14F-4D97-AF65-F5344CB8AC3E}">
        <p14:creationId xmlns:p14="http://schemas.microsoft.com/office/powerpoint/2010/main" val="28517267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urtle Diagram ">
    <p:spTree>
      <p:nvGrpSpPr>
        <p:cNvPr id="1" name=""/>
        <p:cNvGrpSpPr/>
        <p:nvPr/>
      </p:nvGrpSpPr>
      <p:grpSpPr>
        <a:xfrm>
          <a:off x="0" y="0"/>
          <a:ext cx="0" cy="0"/>
          <a:chOff x="0" y="0"/>
          <a:chExt cx="0" cy="0"/>
        </a:xfrm>
      </p:grpSpPr>
      <p:sp>
        <p:nvSpPr>
          <p:cNvPr id="3"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4" name="Picture 3"/>
          <p:cNvPicPr/>
          <p:nvPr userDrawn="1"/>
        </p:nvPicPr>
        <p:blipFill>
          <a:blip r:embed="rId2"/>
          <a:stretch>
            <a:fillRect/>
          </a:stretch>
        </p:blipFill>
        <p:spPr>
          <a:xfrm>
            <a:off x="8039100" y="6630035"/>
            <a:ext cx="1028700" cy="227965"/>
          </a:xfrm>
          <a:prstGeom prst="rect">
            <a:avLst/>
          </a:prstGeom>
        </p:spPr>
      </p:pic>
    </p:spTree>
    <p:extLst>
      <p:ext uri="{BB962C8B-B14F-4D97-AF65-F5344CB8AC3E}">
        <p14:creationId xmlns:p14="http://schemas.microsoft.com/office/powerpoint/2010/main" val="983514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tailed Process Flow Chart">
    <p:spTree>
      <p:nvGrpSpPr>
        <p:cNvPr id="1" name=""/>
        <p:cNvGrpSpPr/>
        <p:nvPr/>
      </p:nvGrpSpPr>
      <p:grpSpPr>
        <a:xfrm>
          <a:off x="0" y="0"/>
          <a:ext cx="0" cy="0"/>
          <a:chOff x="0" y="0"/>
          <a:chExt cx="0" cy="0"/>
        </a:xfrm>
      </p:grpSpPr>
      <p:sp>
        <p:nvSpPr>
          <p:cNvPr id="22" name="Text Box 713"/>
          <p:cNvSpPr txBox="1">
            <a:spLocks noChangeArrowheads="1"/>
          </p:cNvSpPr>
          <p:nvPr userDrawn="1"/>
        </p:nvSpPr>
        <p:spPr bwMode="auto">
          <a:xfrm>
            <a:off x="173000" y="533400"/>
            <a:ext cx="5465800" cy="3013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5104" tIns="42551" rIns="85104" bIns="42551">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algn="l">
              <a:spcBef>
                <a:spcPct val="50000"/>
              </a:spcBef>
            </a:pPr>
            <a:r>
              <a:rPr lang="en-US" sz="1400" b="1">
                <a:solidFill>
                  <a:srgbClr val="000000"/>
                </a:solidFill>
              </a:rPr>
              <a:t>DETAILED PROCESS FLOW CHART </a:t>
            </a: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2156433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cess Flow- Symbol Chart">
    <p:spTree>
      <p:nvGrpSpPr>
        <p:cNvPr id="1" name=""/>
        <p:cNvGrpSpPr/>
        <p:nvPr/>
      </p:nvGrpSpPr>
      <p:grpSpPr>
        <a:xfrm>
          <a:off x="0" y="0"/>
          <a:ext cx="0" cy="0"/>
          <a:chOff x="0" y="0"/>
          <a:chExt cx="0" cy="0"/>
        </a:xfrm>
      </p:grpSpPr>
      <p:sp>
        <p:nvSpPr>
          <p:cNvPr id="5"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3" name="Picture 2"/>
          <p:cNvPicPr/>
          <p:nvPr userDrawn="1"/>
        </p:nvPicPr>
        <p:blipFill>
          <a:blip r:embed="rId2"/>
          <a:stretch>
            <a:fillRect/>
          </a:stretch>
        </p:blipFill>
        <p:spPr>
          <a:xfrm>
            <a:off x="8060140" y="6630035"/>
            <a:ext cx="1028700" cy="227965"/>
          </a:xfrm>
          <a:prstGeom prst="rect">
            <a:avLst/>
          </a:prstGeom>
        </p:spPr>
      </p:pic>
    </p:spTree>
    <p:extLst>
      <p:ext uri="{BB962C8B-B14F-4D97-AF65-F5344CB8AC3E}">
        <p14:creationId xmlns:p14="http://schemas.microsoft.com/office/powerpoint/2010/main" val="1587954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wim Lane Color Template (optional)">
    <p:spTree>
      <p:nvGrpSpPr>
        <p:cNvPr id="1" name=""/>
        <p:cNvGrpSpPr/>
        <p:nvPr/>
      </p:nvGrpSpPr>
      <p:grpSpPr>
        <a:xfrm>
          <a:off x="0" y="0"/>
          <a:ext cx="0" cy="0"/>
          <a:chOff x="0" y="0"/>
          <a:chExt cx="0" cy="0"/>
        </a:xfrm>
      </p:grpSpPr>
      <p:sp>
        <p:nvSpPr>
          <p:cNvPr id="7" name="Text Box 117"/>
          <p:cNvSpPr txBox="1">
            <a:spLocks noChangeArrowheads="1"/>
          </p:cNvSpPr>
          <p:nvPr userDrawn="1"/>
        </p:nvSpPr>
        <p:spPr bwMode="auto">
          <a:xfrm>
            <a:off x="304800" y="609600"/>
            <a:ext cx="8534400"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marL="0" marR="0" indent="0" algn="l" defTabSz="914400" rtl="0" eaLnBrk="0" fontAlgn="auto" latinLnBrk="0" hangingPunct="0">
              <a:lnSpc>
                <a:spcPct val="100000"/>
              </a:lnSpc>
              <a:spcBef>
                <a:spcPct val="50000"/>
              </a:spcBef>
              <a:spcAft>
                <a:spcPts val="0"/>
              </a:spcAft>
              <a:buClrTx/>
              <a:buSzTx/>
              <a:buFontTx/>
              <a:buNone/>
              <a:tabLst/>
              <a:defRPr/>
            </a:pPr>
            <a:r>
              <a:rPr lang="en-US" sz="1400" b="1">
                <a:solidFill>
                  <a:schemeClr val="tx1"/>
                </a:solidFill>
              </a:rPr>
              <a:t>SWIM LANE COLOR TEMPLATE: </a:t>
            </a:r>
            <a:r>
              <a:rPr lang="en-US" sz="1100" b="0">
                <a:solidFill>
                  <a:schemeClr val="tx1">
                    <a:lumMod val="65000"/>
                    <a:lumOff val="35000"/>
                  </a:schemeClr>
                </a:solidFill>
              </a:rPr>
              <a:t>(Optional - </a:t>
            </a:r>
            <a:r>
              <a:rPr lang="en-US" sz="1100" baseline="0">
                <a:solidFill>
                  <a:schemeClr val="tx1">
                    <a:lumMod val="65000"/>
                    <a:lumOff val="35000"/>
                  </a:schemeClr>
                </a:solidFill>
              </a:rPr>
              <a:t>Delete this slide after use. Do not include this slide in a published document.</a:t>
            </a:r>
            <a:r>
              <a:rPr lang="en-US" sz="1100" b="0" kern="0" baseline="0">
                <a:solidFill>
                  <a:schemeClr val="tx1">
                    <a:lumMod val="65000"/>
                    <a:lumOff val="35000"/>
                  </a:schemeClr>
                </a:solidFill>
                <a:cs typeface="+mn-cs"/>
              </a:rPr>
              <a:t>)</a:t>
            </a:r>
            <a:endParaRPr lang="en-US" sz="1100" baseline="0">
              <a:solidFill>
                <a:schemeClr val="tx1">
                  <a:lumMod val="65000"/>
                  <a:lumOff val="35000"/>
                </a:schemeClr>
              </a:solidFill>
            </a:endParaRP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1383710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verall Process Notes (optional)">
    <p:spTree>
      <p:nvGrpSpPr>
        <p:cNvPr id="1" name=""/>
        <p:cNvGrpSpPr/>
        <p:nvPr/>
      </p:nvGrpSpPr>
      <p:grpSpPr>
        <a:xfrm>
          <a:off x="0" y="0"/>
          <a:ext cx="0" cy="0"/>
          <a:chOff x="0" y="0"/>
          <a:chExt cx="0" cy="0"/>
        </a:xfrm>
      </p:grpSpPr>
      <p:sp>
        <p:nvSpPr>
          <p:cNvPr id="4" name="Rectangle 2"/>
          <p:cNvSpPr txBox="1">
            <a:spLocks noChangeArrowheads="1"/>
          </p:cNvSpPr>
          <p:nvPr userDrawn="1"/>
        </p:nvSpPr>
        <p:spPr bwMode="auto">
          <a:xfrm>
            <a:off x="228600" y="533400"/>
            <a:ext cx="55975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152" tIns="42576" rIns="85152" bIns="42576"/>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400" b="1">
                <a:latin typeface="Arial" pitchFamily="34" charset="0"/>
              </a:rPr>
              <a:t>PROCESS NOTES</a:t>
            </a:r>
            <a:endParaRPr lang="en-US" altLang="en-US" sz="1400">
              <a:latin typeface="Arial" pitchFamily="34" charset="0"/>
            </a:endParaRPr>
          </a:p>
        </p:txBody>
      </p:sp>
      <p:sp>
        <p:nvSpPr>
          <p:cNvPr id="5"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7" name="Picture 6"/>
          <p:cNvPicPr/>
          <p:nvPr userDrawn="1"/>
        </p:nvPicPr>
        <p:blipFill>
          <a:blip r:embed="rId2"/>
          <a:stretch>
            <a:fillRect/>
          </a:stretch>
        </p:blipFill>
        <p:spPr>
          <a:xfrm>
            <a:off x="8115300" y="6630035"/>
            <a:ext cx="1028700" cy="227965"/>
          </a:xfrm>
          <a:prstGeom prst="rect">
            <a:avLst/>
          </a:prstGeom>
        </p:spPr>
      </p:pic>
    </p:spTree>
    <p:extLst>
      <p:ext uri="{BB962C8B-B14F-4D97-AF65-F5344CB8AC3E}">
        <p14:creationId xmlns:p14="http://schemas.microsoft.com/office/powerpoint/2010/main" val="3606260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cess Flow Details (optional)">
    <p:spTree>
      <p:nvGrpSpPr>
        <p:cNvPr id="1" name=""/>
        <p:cNvGrpSpPr/>
        <p:nvPr/>
      </p:nvGrpSpPr>
      <p:grpSpPr>
        <a:xfrm>
          <a:off x="0" y="0"/>
          <a:ext cx="0" cy="0"/>
          <a:chOff x="0" y="0"/>
          <a:chExt cx="0" cy="0"/>
        </a:xfrm>
      </p:grpSpPr>
      <p:sp>
        <p:nvSpPr>
          <p:cNvPr id="8" name="Rectangle 2"/>
          <p:cNvSpPr txBox="1">
            <a:spLocks noChangeArrowheads="1"/>
          </p:cNvSpPr>
          <p:nvPr userDrawn="1"/>
        </p:nvSpPr>
        <p:spPr bwMode="auto">
          <a:xfrm>
            <a:off x="228600" y="457200"/>
            <a:ext cx="41497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152" tIns="42576" rIns="85152" bIns="42576"/>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400" b="1">
                <a:latin typeface="Arial" pitchFamily="34" charset="0"/>
              </a:rPr>
              <a:t>PROCESS FLOW DETAILS</a:t>
            </a:r>
            <a:endParaRPr lang="en-US" altLang="en-US" sz="1400">
              <a:latin typeface="Arial" pitchFamily="34" charset="0"/>
            </a:endParaRP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6" name="Picture 5"/>
          <p:cNvPicPr/>
          <p:nvPr userDrawn="1"/>
        </p:nvPicPr>
        <p:blipFill>
          <a:blip r:embed="rId2"/>
          <a:stretch>
            <a:fillRect/>
          </a:stretch>
        </p:blipFill>
        <p:spPr>
          <a:xfrm>
            <a:off x="8060140" y="6630035"/>
            <a:ext cx="1028700" cy="227965"/>
          </a:xfrm>
          <a:prstGeom prst="rect">
            <a:avLst/>
          </a:prstGeom>
        </p:spPr>
      </p:pic>
    </p:spTree>
    <p:extLst>
      <p:ext uri="{BB962C8B-B14F-4D97-AF65-F5344CB8AC3E}">
        <p14:creationId xmlns:p14="http://schemas.microsoft.com/office/powerpoint/2010/main" val="178331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Roles and Responsibilities (optional)">
    <p:spTree>
      <p:nvGrpSpPr>
        <p:cNvPr id="1" name=""/>
        <p:cNvGrpSpPr/>
        <p:nvPr/>
      </p:nvGrpSpPr>
      <p:grpSpPr>
        <a:xfrm>
          <a:off x="0" y="0"/>
          <a:ext cx="0" cy="0"/>
          <a:chOff x="0" y="0"/>
          <a:chExt cx="0" cy="0"/>
        </a:xfrm>
      </p:grpSpPr>
      <p:sp>
        <p:nvSpPr>
          <p:cNvPr id="9" name="Text Box 141"/>
          <p:cNvSpPr txBox="1">
            <a:spLocks noChangeArrowheads="1"/>
          </p:cNvSpPr>
          <p:nvPr userDrawn="1"/>
        </p:nvSpPr>
        <p:spPr bwMode="auto">
          <a:xfrm>
            <a:off x="304800" y="533400"/>
            <a:ext cx="6010275" cy="215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fontAlgn="base">
              <a:spcBef>
                <a:spcPct val="20000"/>
              </a:spcBef>
              <a:spcAft>
                <a:spcPct val="0"/>
              </a:spcAft>
              <a:buFont typeface="Arial" pitchFamily="34" charset="0"/>
              <a:buChar char="»"/>
              <a:defRPr sz="2000">
                <a:solidFill>
                  <a:schemeClr val="tx1"/>
                </a:solidFill>
                <a:latin typeface="Calibri" pitchFamily="34" charset="0"/>
              </a:defRPr>
            </a:lvl6pPr>
            <a:lvl7pPr marL="2971800" indent="-228600" fontAlgn="base">
              <a:spcBef>
                <a:spcPct val="20000"/>
              </a:spcBef>
              <a:spcAft>
                <a:spcPct val="0"/>
              </a:spcAft>
              <a:buFont typeface="Arial" pitchFamily="34" charset="0"/>
              <a:buChar char="»"/>
              <a:defRPr sz="2000">
                <a:solidFill>
                  <a:schemeClr val="tx1"/>
                </a:solidFill>
                <a:latin typeface="Calibri" pitchFamily="34" charset="0"/>
              </a:defRPr>
            </a:lvl7pPr>
            <a:lvl8pPr marL="3429000" indent="-228600" fontAlgn="base">
              <a:spcBef>
                <a:spcPct val="20000"/>
              </a:spcBef>
              <a:spcAft>
                <a:spcPct val="0"/>
              </a:spcAft>
              <a:buFont typeface="Arial" pitchFamily="34" charset="0"/>
              <a:buChar char="»"/>
              <a:defRPr sz="2000">
                <a:solidFill>
                  <a:schemeClr val="tx1"/>
                </a:solidFill>
                <a:latin typeface="Calibri" pitchFamily="34" charset="0"/>
              </a:defRPr>
            </a:lvl8pPr>
            <a:lvl9pPr marL="3886200" indent="-228600" fontAlgn="base">
              <a:spcBef>
                <a:spcPct val="20000"/>
              </a:spcBef>
              <a:spcAft>
                <a:spcPct val="0"/>
              </a:spcAft>
              <a:buFont typeface="Arial" pitchFamily="34" charset="0"/>
              <a:buChar char="»"/>
              <a:defRPr sz="2000">
                <a:solidFill>
                  <a:schemeClr val="tx1"/>
                </a:solidFill>
                <a:latin typeface="Calibri" pitchFamily="34" charset="0"/>
              </a:defRPr>
            </a:lvl9pPr>
          </a:lstStyle>
          <a:p>
            <a:pPr>
              <a:spcBef>
                <a:spcPct val="50000"/>
              </a:spcBef>
              <a:buFontTx/>
              <a:buNone/>
            </a:pPr>
            <a:r>
              <a:rPr lang="en-US" altLang="en-US" sz="1400" b="1">
                <a:solidFill>
                  <a:srgbClr val="000000"/>
                </a:solidFill>
                <a:latin typeface="Arial" pitchFamily="34" charset="0"/>
              </a:rPr>
              <a:t>GENERAL</a:t>
            </a:r>
            <a:r>
              <a:rPr lang="en-US" altLang="en-US" sz="1400" b="1" baseline="0">
                <a:solidFill>
                  <a:srgbClr val="000000"/>
                </a:solidFill>
                <a:latin typeface="Arial" pitchFamily="34" charset="0"/>
              </a:rPr>
              <a:t> </a:t>
            </a:r>
            <a:r>
              <a:rPr lang="en-US" altLang="en-US" sz="1400" b="1">
                <a:solidFill>
                  <a:srgbClr val="000000"/>
                </a:solidFill>
                <a:latin typeface="Arial" pitchFamily="34" charset="0"/>
              </a:rPr>
              <a:t>ROLES &amp; RESPONSIBILITIES </a:t>
            </a:r>
            <a:r>
              <a:rPr lang="en-US" altLang="en-US" sz="1400" b="0">
                <a:solidFill>
                  <a:srgbClr val="000000"/>
                </a:solidFill>
                <a:latin typeface="Arial" pitchFamily="34" charset="0"/>
              </a:rPr>
              <a:t> </a:t>
            </a:r>
            <a:endParaRPr lang="en-US" altLang="en-US" sz="1400" b="0">
              <a:solidFill>
                <a:srgbClr val="006600"/>
              </a:solidFill>
              <a:latin typeface="Arial" pitchFamily="34" charset="0"/>
            </a:endParaRP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6" name="Picture 5"/>
          <p:cNvPicPr/>
          <p:nvPr userDrawn="1"/>
        </p:nvPicPr>
        <p:blipFill>
          <a:blip r:embed="rId2"/>
          <a:stretch>
            <a:fillRect/>
          </a:stretch>
        </p:blipFill>
        <p:spPr>
          <a:xfrm>
            <a:off x="8052179" y="6630035"/>
            <a:ext cx="1028700" cy="227965"/>
          </a:xfrm>
          <a:prstGeom prst="rect">
            <a:avLst/>
          </a:prstGeom>
        </p:spPr>
      </p:pic>
    </p:spTree>
    <p:extLst>
      <p:ext uri="{BB962C8B-B14F-4D97-AF65-F5344CB8AC3E}">
        <p14:creationId xmlns:p14="http://schemas.microsoft.com/office/powerpoint/2010/main" val="3506168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dditional Resources and References">
    <p:spTree>
      <p:nvGrpSpPr>
        <p:cNvPr id="1" name=""/>
        <p:cNvGrpSpPr/>
        <p:nvPr/>
      </p:nvGrpSpPr>
      <p:grpSpPr>
        <a:xfrm>
          <a:off x="0" y="0"/>
          <a:ext cx="0" cy="0"/>
          <a:chOff x="0" y="0"/>
          <a:chExt cx="0" cy="0"/>
        </a:xfrm>
      </p:grpSpPr>
      <p:sp>
        <p:nvSpPr>
          <p:cNvPr id="8" name="Rectangle 2"/>
          <p:cNvSpPr>
            <a:spLocks noChangeArrowheads="1"/>
          </p:cNvSpPr>
          <p:nvPr userDrawn="1"/>
        </p:nvSpPr>
        <p:spPr bwMode="auto">
          <a:xfrm>
            <a:off x="228600" y="533400"/>
            <a:ext cx="5486400" cy="27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81063">
              <a:defRPr>
                <a:solidFill>
                  <a:schemeClr val="tx1"/>
                </a:solidFill>
                <a:latin typeface="Calibri" pitchFamily="34" charset="0"/>
              </a:defRPr>
            </a:lvl1pPr>
            <a:lvl2pPr marL="742950" indent="-285750" defTabSz="881063">
              <a:defRPr>
                <a:solidFill>
                  <a:schemeClr val="tx1"/>
                </a:solidFill>
                <a:latin typeface="Calibri" pitchFamily="34" charset="0"/>
              </a:defRPr>
            </a:lvl2pPr>
            <a:lvl3pPr marL="1143000" indent="-228600" defTabSz="881063">
              <a:defRPr>
                <a:solidFill>
                  <a:schemeClr val="tx1"/>
                </a:solidFill>
                <a:latin typeface="Calibri" pitchFamily="34" charset="0"/>
              </a:defRPr>
            </a:lvl3pPr>
            <a:lvl4pPr marL="1600200" indent="-228600" defTabSz="881063">
              <a:defRPr>
                <a:solidFill>
                  <a:schemeClr val="tx1"/>
                </a:solidFill>
                <a:latin typeface="Calibri" pitchFamily="34" charset="0"/>
              </a:defRPr>
            </a:lvl4pPr>
            <a:lvl5pPr marL="2057400" indent="-228600" defTabSz="881063">
              <a:defRPr>
                <a:solidFill>
                  <a:schemeClr val="tx1"/>
                </a:solidFill>
                <a:latin typeface="Calibri" pitchFamily="34" charset="0"/>
              </a:defRPr>
            </a:lvl5pPr>
            <a:lvl6pPr marL="2514600" indent="-228600" defTabSz="881063" fontAlgn="base">
              <a:spcBef>
                <a:spcPct val="0"/>
              </a:spcBef>
              <a:spcAft>
                <a:spcPct val="0"/>
              </a:spcAft>
              <a:defRPr>
                <a:solidFill>
                  <a:schemeClr val="tx1"/>
                </a:solidFill>
                <a:latin typeface="Calibri" pitchFamily="34" charset="0"/>
              </a:defRPr>
            </a:lvl6pPr>
            <a:lvl7pPr marL="2971800" indent="-228600" defTabSz="881063" fontAlgn="base">
              <a:spcBef>
                <a:spcPct val="0"/>
              </a:spcBef>
              <a:spcAft>
                <a:spcPct val="0"/>
              </a:spcAft>
              <a:defRPr>
                <a:solidFill>
                  <a:schemeClr val="tx1"/>
                </a:solidFill>
                <a:latin typeface="Calibri" pitchFamily="34" charset="0"/>
              </a:defRPr>
            </a:lvl7pPr>
            <a:lvl8pPr marL="3429000" indent="-228600" defTabSz="881063" fontAlgn="base">
              <a:spcBef>
                <a:spcPct val="0"/>
              </a:spcBef>
              <a:spcAft>
                <a:spcPct val="0"/>
              </a:spcAft>
              <a:defRPr>
                <a:solidFill>
                  <a:schemeClr val="tx1"/>
                </a:solidFill>
                <a:latin typeface="Calibri" pitchFamily="34" charset="0"/>
              </a:defRPr>
            </a:lvl8pPr>
            <a:lvl9pPr marL="3886200" indent="-228600" defTabSz="881063" fontAlgn="base">
              <a:spcBef>
                <a:spcPct val="0"/>
              </a:spcBef>
              <a:spcAft>
                <a:spcPct val="0"/>
              </a:spcAft>
              <a:defRPr>
                <a:solidFill>
                  <a:schemeClr val="tx1"/>
                </a:solidFill>
                <a:latin typeface="Calibri" pitchFamily="34" charset="0"/>
              </a:defRPr>
            </a:lvl9pPr>
          </a:lstStyle>
          <a:p>
            <a:pPr marL="0" marR="0" indent="0" algn="l" defTabSz="881063" rtl="0" eaLnBrk="1" fontAlgn="auto" latinLnBrk="0" hangingPunct="1">
              <a:lnSpc>
                <a:spcPct val="85000"/>
              </a:lnSpc>
              <a:spcBef>
                <a:spcPts val="0"/>
              </a:spcBef>
              <a:spcAft>
                <a:spcPts val="0"/>
              </a:spcAft>
              <a:buClrTx/>
              <a:buSzTx/>
              <a:buFontTx/>
              <a:buNone/>
              <a:tabLst/>
              <a:defRPr/>
            </a:pPr>
            <a:r>
              <a:rPr lang="en-US" altLang="en-US" sz="1400" b="1">
                <a:solidFill>
                  <a:srgbClr val="000000"/>
                </a:solidFill>
                <a:latin typeface="Arial" pitchFamily="34" charset="0"/>
              </a:rPr>
              <a:t>ADDITIONAL RESOURCES AND REFERENCES</a:t>
            </a:r>
            <a:r>
              <a:rPr lang="en-US" sz="1400"/>
              <a:t> </a:t>
            </a: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2714751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Additional Resources and References">
    <p:spTree>
      <p:nvGrpSpPr>
        <p:cNvPr id="1" name=""/>
        <p:cNvGrpSpPr/>
        <p:nvPr/>
      </p:nvGrpSpPr>
      <p:grpSpPr>
        <a:xfrm>
          <a:off x="0" y="0"/>
          <a:ext cx="0" cy="0"/>
          <a:chOff x="0" y="0"/>
          <a:chExt cx="0" cy="0"/>
        </a:xfrm>
      </p:grpSpPr>
      <p:sp>
        <p:nvSpPr>
          <p:cNvPr id="8" name="Rectangle 2"/>
          <p:cNvSpPr>
            <a:spLocks noChangeArrowheads="1"/>
          </p:cNvSpPr>
          <p:nvPr userDrawn="1"/>
        </p:nvSpPr>
        <p:spPr bwMode="auto">
          <a:xfrm>
            <a:off x="228600" y="533400"/>
            <a:ext cx="5486400" cy="27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81063">
              <a:defRPr>
                <a:solidFill>
                  <a:schemeClr val="tx1"/>
                </a:solidFill>
                <a:latin typeface="Calibri" pitchFamily="34" charset="0"/>
              </a:defRPr>
            </a:lvl1pPr>
            <a:lvl2pPr marL="742950" indent="-285750" defTabSz="881063">
              <a:defRPr>
                <a:solidFill>
                  <a:schemeClr val="tx1"/>
                </a:solidFill>
                <a:latin typeface="Calibri" pitchFamily="34" charset="0"/>
              </a:defRPr>
            </a:lvl2pPr>
            <a:lvl3pPr marL="1143000" indent="-228600" defTabSz="881063">
              <a:defRPr>
                <a:solidFill>
                  <a:schemeClr val="tx1"/>
                </a:solidFill>
                <a:latin typeface="Calibri" pitchFamily="34" charset="0"/>
              </a:defRPr>
            </a:lvl3pPr>
            <a:lvl4pPr marL="1600200" indent="-228600" defTabSz="881063">
              <a:defRPr>
                <a:solidFill>
                  <a:schemeClr val="tx1"/>
                </a:solidFill>
                <a:latin typeface="Calibri" pitchFamily="34" charset="0"/>
              </a:defRPr>
            </a:lvl4pPr>
            <a:lvl5pPr marL="2057400" indent="-228600" defTabSz="881063">
              <a:defRPr>
                <a:solidFill>
                  <a:schemeClr val="tx1"/>
                </a:solidFill>
                <a:latin typeface="Calibri" pitchFamily="34" charset="0"/>
              </a:defRPr>
            </a:lvl5pPr>
            <a:lvl6pPr marL="2514600" indent="-228600" defTabSz="881063" fontAlgn="base">
              <a:spcBef>
                <a:spcPct val="0"/>
              </a:spcBef>
              <a:spcAft>
                <a:spcPct val="0"/>
              </a:spcAft>
              <a:defRPr>
                <a:solidFill>
                  <a:schemeClr val="tx1"/>
                </a:solidFill>
                <a:latin typeface="Calibri" pitchFamily="34" charset="0"/>
              </a:defRPr>
            </a:lvl6pPr>
            <a:lvl7pPr marL="2971800" indent="-228600" defTabSz="881063" fontAlgn="base">
              <a:spcBef>
                <a:spcPct val="0"/>
              </a:spcBef>
              <a:spcAft>
                <a:spcPct val="0"/>
              </a:spcAft>
              <a:defRPr>
                <a:solidFill>
                  <a:schemeClr val="tx1"/>
                </a:solidFill>
                <a:latin typeface="Calibri" pitchFamily="34" charset="0"/>
              </a:defRPr>
            </a:lvl7pPr>
            <a:lvl8pPr marL="3429000" indent="-228600" defTabSz="881063" fontAlgn="base">
              <a:spcBef>
                <a:spcPct val="0"/>
              </a:spcBef>
              <a:spcAft>
                <a:spcPct val="0"/>
              </a:spcAft>
              <a:defRPr>
                <a:solidFill>
                  <a:schemeClr val="tx1"/>
                </a:solidFill>
                <a:latin typeface="Calibri" pitchFamily="34" charset="0"/>
              </a:defRPr>
            </a:lvl8pPr>
            <a:lvl9pPr marL="3886200" indent="-228600" defTabSz="881063" fontAlgn="base">
              <a:spcBef>
                <a:spcPct val="0"/>
              </a:spcBef>
              <a:spcAft>
                <a:spcPct val="0"/>
              </a:spcAft>
              <a:defRPr>
                <a:solidFill>
                  <a:schemeClr val="tx1"/>
                </a:solidFill>
                <a:latin typeface="Calibri" pitchFamily="34" charset="0"/>
              </a:defRPr>
            </a:lvl9pPr>
          </a:lstStyle>
          <a:p>
            <a:pPr marL="0" marR="0" indent="0" algn="l" defTabSz="881063" rtl="0" eaLnBrk="1" fontAlgn="auto" latinLnBrk="0" hangingPunct="1">
              <a:lnSpc>
                <a:spcPct val="85000"/>
              </a:lnSpc>
              <a:spcBef>
                <a:spcPts val="0"/>
              </a:spcBef>
              <a:spcAft>
                <a:spcPts val="0"/>
              </a:spcAft>
              <a:buClrTx/>
              <a:buSzTx/>
              <a:buFontTx/>
              <a:buNone/>
              <a:tabLst/>
              <a:defRPr/>
            </a:pPr>
            <a:r>
              <a:rPr lang="en-US" sz="1400" b="1">
                <a:solidFill>
                  <a:srgbClr val="000000"/>
                </a:solidFill>
                <a:latin typeface="Arial" pitchFamily="34" charset="0"/>
              </a:rPr>
              <a:t>DEFINITIONS</a:t>
            </a:r>
            <a:endParaRPr lang="en-US" sz="1400"/>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1674274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Additional Resources and References">
    <p:spTree>
      <p:nvGrpSpPr>
        <p:cNvPr id="1" name=""/>
        <p:cNvGrpSpPr/>
        <p:nvPr/>
      </p:nvGrpSpPr>
      <p:grpSpPr>
        <a:xfrm>
          <a:off x="0" y="0"/>
          <a:ext cx="0" cy="0"/>
          <a:chOff x="0" y="0"/>
          <a:chExt cx="0" cy="0"/>
        </a:xfrm>
      </p:grpSpPr>
      <p:sp>
        <p:nvSpPr>
          <p:cNvPr id="8" name="Rectangle 2"/>
          <p:cNvSpPr>
            <a:spLocks noChangeArrowheads="1"/>
          </p:cNvSpPr>
          <p:nvPr userDrawn="1"/>
        </p:nvSpPr>
        <p:spPr bwMode="auto">
          <a:xfrm>
            <a:off x="228600" y="533400"/>
            <a:ext cx="5486400" cy="27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81063">
              <a:defRPr>
                <a:solidFill>
                  <a:schemeClr val="tx1"/>
                </a:solidFill>
                <a:latin typeface="Calibri" pitchFamily="34" charset="0"/>
              </a:defRPr>
            </a:lvl1pPr>
            <a:lvl2pPr marL="742950" indent="-285750" defTabSz="881063">
              <a:defRPr>
                <a:solidFill>
                  <a:schemeClr val="tx1"/>
                </a:solidFill>
                <a:latin typeface="Calibri" pitchFamily="34" charset="0"/>
              </a:defRPr>
            </a:lvl2pPr>
            <a:lvl3pPr marL="1143000" indent="-228600" defTabSz="881063">
              <a:defRPr>
                <a:solidFill>
                  <a:schemeClr val="tx1"/>
                </a:solidFill>
                <a:latin typeface="Calibri" pitchFamily="34" charset="0"/>
              </a:defRPr>
            </a:lvl3pPr>
            <a:lvl4pPr marL="1600200" indent="-228600" defTabSz="881063">
              <a:defRPr>
                <a:solidFill>
                  <a:schemeClr val="tx1"/>
                </a:solidFill>
                <a:latin typeface="Calibri" pitchFamily="34" charset="0"/>
              </a:defRPr>
            </a:lvl4pPr>
            <a:lvl5pPr marL="2057400" indent="-228600" defTabSz="881063">
              <a:defRPr>
                <a:solidFill>
                  <a:schemeClr val="tx1"/>
                </a:solidFill>
                <a:latin typeface="Calibri" pitchFamily="34" charset="0"/>
              </a:defRPr>
            </a:lvl5pPr>
            <a:lvl6pPr marL="2514600" indent="-228600" defTabSz="881063" fontAlgn="base">
              <a:spcBef>
                <a:spcPct val="0"/>
              </a:spcBef>
              <a:spcAft>
                <a:spcPct val="0"/>
              </a:spcAft>
              <a:defRPr>
                <a:solidFill>
                  <a:schemeClr val="tx1"/>
                </a:solidFill>
                <a:latin typeface="Calibri" pitchFamily="34" charset="0"/>
              </a:defRPr>
            </a:lvl6pPr>
            <a:lvl7pPr marL="2971800" indent="-228600" defTabSz="881063" fontAlgn="base">
              <a:spcBef>
                <a:spcPct val="0"/>
              </a:spcBef>
              <a:spcAft>
                <a:spcPct val="0"/>
              </a:spcAft>
              <a:defRPr>
                <a:solidFill>
                  <a:schemeClr val="tx1"/>
                </a:solidFill>
                <a:latin typeface="Calibri" pitchFamily="34" charset="0"/>
              </a:defRPr>
            </a:lvl7pPr>
            <a:lvl8pPr marL="3429000" indent="-228600" defTabSz="881063" fontAlgn="base">
              <a:spcBef>
                <a:spcPct val="0"/>
              </a:spcBef>
              <a:spcAft>
                <a:spcPct val="0"/>
              </a:spcAft>
              <a:defRPr>
                <a:solidFill>
                  <a:schemeClr val="tx1"/>
                </a:solidFill>
                <a:latin typeface="Calibri" pitchFamily="34" charset="0"/>
              </a:defRPr>
            </a:lvl8pPr>
            <a:lvl9pPr marL="3886200" indent="-228600" defTabSz="881063" fontAlgn="base">
              <a:spcBef>
                <a:spcPct val="0"/>
              </a:spcBef>
              <a:spcAft>
                <a:spcPct val="0"/>
              </a:spcAft>
              <a:defRPr>
                <a:solidFill>
                  <a:schemeClr val="tx1"/>
                </a:solidFill>
                <a:latin typeface="Calibri" pitchFamily="34" charset="0"/>
              </a:defRPr>
            </a:lvl9pPr>
          </a:lstStyle>
          <a:p>
            <a:pPr marL="0" marR="0" indent="0" algn="l" defTabSz="881063" rtl="0" eaLnBrk="1" fontAlgn="auto" latinLnBrk="0" hangingPunct="1">
              <a:lnSpc>
                <a:spcPct val="85000"/>
              </a:lnSpc>
              <a:spcBef>
                <a:spcPts val="0"/>
              </a:spcBef>
              <a:spcAft>
                <a:spcPts val="0"/>
              </a:spcAft>
              <a:buClrTx/>
              <a:buSzTx/>
              <a:buFontTx/>
              <a:buNone/>
              <a:tabLst/>
              <a:defRPr/>
            </a:pPr>
            <a:r>
              <a:rPr lang="en-US" altLang="en-US" sz="1400" b="1">
                <a:solidFill>
                  <a:srgbClr val="000000"/>
                </a:solidFill>
                <a:latin typeface="Arial" pitchFamily="34" charset="0"/>
              </a:rPr>
              <a:t>ADDITIONAL RESOURCES AND REFERENCES</a:t>
            </a:r>
            <a:r>
              <a:rPr lang="en-US" sz="1400"/>
              <a:t> </a:t>
            </a:r>
          </a:p>
        </p:txBody>
      </p:sp>
      <p:sp>
        <p:nvSpPr>
          <p:cNvPr id="4" name="Slide Number Placeholder 5"/>
          <p:cNvSpPr txBox="1">
            <a:spLocks/>
          </p:cNvSpPr>
          <p:nvPr userDrawn="1"/>
        </p:nvSpPr>
        <p:spPr>
          <a:xfrm>
            <a:off x="8077200" y="762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a:t> </a:t>
            </a:r>
          </a:p>
        </p:txBody>
      </p:sp>
      <p:pic>
        <p:nvPicPr>
          <p:cNvPr id="6" name="Picture 5"/>
          <p:cNvPicPr/>
          <p:nvPr userDrawn="1"/>
        </p:nvPicPr>
        <p:blipFill>
          <a:blip r:embed="rId2"/>
          <a:stretch>
            <a:fillRect/>
          </a:stretch>
        </p:blipFill>
        <p:spPr>
          <a:xfrm>
            <a:off x="8077200" y="6630035"/>
            <a:ext cx="1028700" cy="227965"/>
          </a:xfrm>
          <a:prstGeom prst="rect">
            <a:avLst/>
          </a:prstGeom>
        </p:spPr>
      </p:pic>
    </p:spTree>
    <p:extLst>
      <p:ext uri="{BB962C8B-B14F-4D97-AF65-F5344CB8AC3E}">
        <p14:creationId xmlns:p14="http://schemas.microsoft.com/office/powerpoint/2010/main" val="2535088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ody text wide">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457200" y="1905000"/>
            <a:ext cx="8226935" cy="39624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7"/>
          </p:nvPr>
        </p:nvSpPr>
        <p:spPr/>
        <p:txBody>
          <a:bodyPr/>
          <a:lstStyle/>
          <a:p>
            <a:r>
              <a:rPr lang="en-US" dirty="0"/>
              <a:t>Presentation Title | Date | Aptiv Confidential</a:t>
            </a:r>
          </a:p>
        </p:txBody>
      </p:sp>
      <p:sp>
        <p:nvSpPr>
          <p:cNvPr id="6" name="Slide Number Placeholder 5"/>
          <p:cNvSpPr>
            <a:spLocks noGrp="1"/>
          </p:cNvSpPr>
          <p:nvPr>
            <p:ph type="sldNum" sz="quarter" idx="18"/>
          </p:nvPr>
        </p:nvSpPr>
        <p:spPr/>
        <p:txBody>
          <a:bodyPr/>
          <a:lstStyle/>
          <a:p>
            <a:fld id="{B6D1532F-61F1-B941-ACDF-6BC65E0B4055}" type="slidenum">
              <a:rPr lang="en-US" smtClean="0"/>
              <a:pPr/>
              <a:t>‹#›</a:t>
            </a:fld>
            <a:endParaRPr lang="en-US" dirty="0"/>
          </a:p>
        </p:txBody>
      </p:sp>
    </p:spTree>
    <p:extLst>
      <p:ext uri="{BB962C8B-B14F-4D97-AF65-F5344CB8AC3E}">
        <p14:creationId xmlns:p14="http://schemas.microsoft.com/office/powerpoint/2010/main" val="221434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810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p:cNvSpPr>
            <a:spLocks noGrp="1"/>
          </p:cNvSpPr>
          <p:nvPr>
            <p:ph type="sldNum" sz="quarter" idx="4"/>
          </p:nvPr>
        </p:nvSpPr>
        <p:spPr>
          <a:xfrm>
            <a:off x="8077200" y="76200"/>
            <a:ext cx="381000" cy="230579"/>
          </a:xfrm>
          <a:prstGeom prst="rect">
            <a:avLst/>
          </a:prstGeom>
        </p:spPr>
        <p:txBody>
          <a:bodyPr/>
          <a:lstStyle>
            <a:lvl1pPr>
              <a:defRPr sz="800">
                <a:latin typeface="Arial" panose="020B0604020202020204" pitchFamily="34" charset="0"/>
                <a:cs typeface="Arial" panose="020B0604020202020204" pitchFamily="34" charset="0"/>
              </a:defRPr>
            </a:lvl1pPr>
          </a:lstStyle>
          <a:p>
            <a:fld id="{A82B5BDE-5F32-4E1B-94F7-40F5AE9BF38D}" type="slidenum">
              <a:rPr lang="en-US" smtClean="0"/>
              <a:pPr/>
              <a:t>‹#›</a:t>
            </a:fld>
            <a:r>
              <a:rPr lang="en-US"/>
              <a:t> </a:t>
            </a:r>
          </a:p>
        </p:txBody>
      </p:sp>
      <p:graphicFrame>
        <p:nvGraphicFramePr>
          <p:cNvPr id="6" name="Group 61"/>
          <p:cNvGraphicFramePr>
            <a:graphicFrameLocks noGrp="1"/>
          </p:cNvGraphicFramePr>
          <p:nvPr userDrawn="1">
            <p:extLst>
              <p:ext uri="{D42A27DB-BD31-4B8C-83A1-F6EECF244321}">
                <p14:modId xmlns:p14="http://schemas.microsoft.com/office/powerpoint/2010/main" val="2529999441"/>
              </p:ext>
            </p:extLst>
          </p:nvPr>
        </p:nvGraphicFramePr>
        <p:xfrm>
          <a:off x="211139" y="80843"/>
          <a:ext cx="8755062" cy="206158"/>
        </p:xfrm>
        <a:graphic>
          <a:graphicData uri="http://schemas.openxmlformats.org/drawingml/2006/table">
            <a:tbl>
              <a:tblPr>
                <a:effectLst/>
              </a:tblPr>
              <a:tblGrid>
                <a:gridCol w="2167093">
                  <a:extLst>
                    <a:ext uri="{9D8B030D-6E8A-4147-A177-3AD203B41FA5}">
                      <a16:colId xmlns:a16="http://schemas.microsoft.com/office/drawing/2014/main" val="20000"/>
                    </a:ext>
                  </a:extLst>
                </a:gridCol>
                <a:gridCol w="3727403">
                  <a:extLst>
                    <a:ext uri="{9D8B030D-6E8A-4147-A177-3AD203B41FA5}">
                      <a16:colId xmlns:a16="http://schemas.microsoft.com/office/drawing/2014/main" val="20001"/>
                    </a:ext>
                  </a:extLst>
                </a:gridCol>
                <a:gridCol w="1532184">
                  <a:extLst>
                    <a:ext uri="{9D8B030D-6E8A-4147-A177-3AD203B41FA5}">
                      <a16:colId xmlns:a16="http://schemas.microsoft.com/office/drawing/2014/main" val="20002"/>
                    </a:ext>
                  </a:extLst>
                </a:gridCol>
                <a:gridCol w="1328382">
                  <a:extLst>
                    <a:ext uri="{9D8B030D-6E8A-4147-A177-3AD203B41FA5}">
                      <a16:colId xmlns:a16="http://schemas.microsoft.com/office/drawing/2014/main" val="20003"/>
                    </a:ext>
                  </a:extLst>
                </a:gridCol>
              </a:tblGrid>
              <a:tr h="131064">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altLang="en-US" sz="800" b="0" i="0" u="none" strike="noStrike" cap="none" normalizeH="0" baseline="0" dirty="0">
                          <a:ln>
                            <a:noFill/>
                          </a:ln>
                          <a:solidFill>
                            <a:schemeClr val="tx1"/>
                          </a:solidFill>
                          <a:effectLst/>
                          <a:latin typeface="Arial" panose="020B0604020202020204" pitchFamily="34" charset="0"/>
                        </a:rPr>
                        <a:t>EANP_4-1_CS_01-03_</a:t>
                      </a:r>
                      <a:r>
                        <a:rPr kumimoji="0" lang="en-US" altLang="en-US" sz="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EN </a:t>
                      </a:r>
                      <a:endParaRPr kumimoji="0" lang="en-US" sz="800" b="1" i="0" u="none" strike="noStrike" cap="none" normalizeH="0" baseline="0" dirty="0">
                        <a:ln>
                          <a:noFill/>
                        </a:ln>
                        <a:solidFill>
                          <a:schemeClr val="tx1"/>
                        </a:solidFill>
                        <a:effectLst/>
                        <a:latin typeface="Arial" charset="0"/>
                      </a:endParaRPr>
                    </a:p>
                  </a:txBody>
                  <a:tcPr marL="85859" marR="85859" marT="42119" marB="4211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800" dirty="0">
                          <a:latin typeface="Arial" panose="020B0604020202020204" pitchFamily="34" charset="0"/>
                          <a:cs typeface="Arial" panose="020B0604020202020204" pitchFamily="34" charset="0"/>
                        </a:rPr>
                        <a:t>APQP and New Program Launches</a:t>
                      </a:r>
                      <a:endParaRPr kumimoji="0" lang="en-US" sz="800" b="1" i="0" u="none" strike="noStrike" cap="none" normalizeH="0" baseline="0" dirty="0">
                        <a:ln>
                          <a:noFill/>
                        </a:ln>
                        <a:solidFill>
                          <a:schemeClr val="tx1"/>
                        </a:solidFill>
                        <a:effectLst/>
                        <a:latin typeface="Arial" charset="0"/>
                      </a:endParaRPr>
                    </a:p>
                  </a:txBody>
                  <a:tcPr marL="85859" marR="85859" marT="42119" marB="421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800" b="1" i="0" u="none" strike="noStrike" cap="none" normalizeH="0" baseline="0" dirty="0">
                          <a:ln>
                            <a:noFill/>
                          </a:ln>
                          <a:solidFill>
                            <a:schemeClr val="tx1"/>
                          </a:solidFill>
                          <a:effectLst/>
                          <a:latin typeface="Arial" charset="0"/>
                        </a:rPr>
                        <a:t>Effective:  </a:t>
                      </a:r>
                      <a:r>
                        <a:rPr kumimoji="0" lang="en-US" sz="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21</a:t>
                      </a:r>
                      <a:r>
                        <a:rPr lang="en-US" sz="800" dirty="0">
                          <a:latin typeface="Arial" panose="020B0604020202020204" pitchFamily="34" charset="0"/>
                          <a:cs typeface="Arial" panose="020B0604020202020204" pitchFamily="34" charset="0"/>
                        </a:rPr>
                        <a:t>/Nov/2025</a:t>
                      </a:r>
                      <a:endParaRPr kumimoji="0" lang="en-US" sz="800" b="1" i="0" u="none" strike="noStrike" cap="none" normalizeH="0" baseline="0" dirty="0">
                        <a:ln>
                          <a:noFill/>
                        </a:ln>
                        <a:solidFill>
                          <a:srgbClr val="FF0000"/>
                        </a:solidFill>
                        <a:effectLst/>
                        <a:latin typeface="Arial" charset="0"/>
                      </a:endParaRPr>
                    </a:p>
                  </a:txBody>
                  <a:tcPr marL="85859" marR="85859" marT="42119" marB="421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100000"/>
                        </a:lnSpc>
                        <a:spcBef>
                          <a:spcPct val="50000"/>
                        </a:spcBef>
                        <a:spcAft>
                          <a:spcPct val="0"/>
                        </a:spcAft>
                        <a:buClrTx/>
                        <a:buSzTx/>
                        <a:buFontTx/>
                        <a:buNone/>
                        <a:tabLst/>
                      </a:pPr>
                      <a:r>
                        <a:rPr kumimoji="0" lang="en-US" sz="800" b="1" i="1" u="none" strike="noStrike" cap="none" normalizeH="0" baseline="0" dirty="0">
                          <a:ln>
                            <a:noFill/>
                          </a:ln>
                          <a:solidFill>
                            <a:schemeClr val="tx1"/>
                          </a:solidFill>
                          <a:effectLst/>
                          <a:latin typeface="Arial" charset="0"/>
                        </a:rPr>
                        <a:t>Page:               of   </a:t>
                      </a:r>
                    </a:p>
                  </a:txBody>
                  <a:tcPr marL="85859" marR="85859" marT="42119" marB="4211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bl>
          </a:graphicData>
        </a:graphic>
      </p:graphicFrame>
      <p:sp>
        <p:nvSpPr>
          <p:cNvPr id="4" name="TextBox 3"/>
          <p:cNvSpPr txBox="1"/>
          <p:nvPr userDrawn="1"/>
        </p:nvSpPr>
        <p:spPr>
          <a:xfrm>
            <a:off x="8645603" y="76200"/>
            <a:ext cx="300082"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10</a:t>
            </a:r>
          </a:p>
        </p:txBody>
      </p:sp>
      <p:sp>
        <p:nvSpPr>
          <p:cNvPr id="5" name="Rectangle 4"/>
          <p:cNvSpPr/>
          <p:nvPr userDrawn="1"/>
        </p:nvSpPr>
        <p:spPr>
          <a:xfrm>
            <a:off x="1752600" y="6519446"/>
            <a:ext cx="5029200"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cap="none" spc="0" normalizeH="0" baseline="0">
                <a:ln>
                  <a:noFill/>
                </a:ln>
                <a:solidFill>
                  <a:schemeClr val="tx1">
                    <a:lumMod val="50000"/>
                    <a:lumOff val="50000"/>
                  </a:schemeClr>
                </a:solidFill>
                <a:effectLst/>
                <a:latin typeface="Times New Roman" pitchFamily="18" charset="0"/>
                <a:cs typeface="Times New Roman" panose="02020603050405020304" pitchFamily="18" charset="0"/>
              </a:rPr>
              <a:t>Internal Use – Not for disclosure outside of Aptiv</a:t>
            </a:r>
            <a:endParaRPr lang="en-US" sz="800" spc="0">
              <a:solidFill>
                <a:schemeClr val="tx1">
                  <a:lumMod val="50000"/>
                  <a:lumOff val="50000"/>
                </a:schemeClr>
              </a:solidFill>
              <a:effectLst/>
              <a:latin typeface="Times New Roman" panose="02020603050405020304" pitchFamily="18" charset="0"/>
              <a:cs typeface="Times New Roman" panose="02020603050405020304" pitchFamily="18" charset="0"/>
            </a:endParaRPr>
          </a:p>
          <a:p>
            <a:pPr algn="ctr"/>
            <a:r>
              <a:rPr kumimoji="0" lang="en-US" altLang="zh-CN" sz="800" b="0" i="1" u="none" strike="noStrike" cap="none" spc="0" normalizeH="0" baseline="0">
                <a:ln>
                  <a:noFill/>
                </a:ln>
                <a:solidFill>
                  <a:schemeClr val="tx1">
                    <a:lumMod val="50000"/>
                    <a:lumOff val="50000"/>
                  </a:schemeClr>
                </a:solidFill>
                <a:effectLst/>
                <a:latin typeface="Times New Roman" pitchFamily="18" charset="0"/>
                <a:cs typeface="Times New Roman" panose="02020603050405020304" pitchFamily="18" charset="0"/>
              </a:rPr>
              <a:t>Document is uncontrolled when printed</a:t>
            </a:r>
            <a:r>
              <a:rPr lang="en-US" altLang="zh-CN" sz="800" spc="0">
                <a:solidFill>
                  <a:schemeClr val="tx1">
                    <a:lumMod val="50000"/>
                    <a:lumOff val="50000"/>
                  </a:schemeClr>
                </a:solidFill>
                <a:effectLst/>
                <a:latin typeface="Times New Roman" pitchFamily="18" charset="0"/>
                <a:cs typeface="Times New Roman" panose="02020603050405020304" pitchFamily="18" charset="0"/>
              </a:rPr>
              <a:t> </a:t>
            </a:r>
            <a:r>
              <a:rPr kumimoji="0" lang="en-US" altLang="zh-CN" sz="800" b="0" i="1" u="none" strike="noStrike" cap="none" spc="0" normalizeH="0" baseline="0">
                <a:ln>
                  <a:noFill/>
                </a:ln>
                <a:solidFill>
                  <a:schemeClr val="tx1">
                    <a:lumMod val="50000"/>
                    <a:lumOff val="50000"/>
                  </a:schemeClr>
                </a:solidFill>
                <a:effectLst/>
                <a:latin typeface="Times New Roman" pitchFamily="18" charset="0"/>
                <a:cs typeface="Times New Roman" panose="02020603050405020304" pitchFamily="18" charset="0"/>
              </a:rPr>
              <a:t>unless properly identified as controlled</a:t>
            </a:r>
          </a:p>
        </p:txBody>
      </p:sp>
      <p:sp>
        <p:nvSpPr>
          <p:cNvPr id="11" name="Rectangle 10">
            <a:extLst>
              <a:ext uri="{FF2B5EF4-FFF2-40B4-BE49-F238E27FC236}">
                <a16:creationId xmlns:a16="http://schemas.microsoft.com/office/drawing/2014/main" id="{83339D39-4B75-4097-98C5-ACA3C7D0FD45}"/>
              </a:ext>
            </a:extLst>
          </p:cNvPr>
          <p:cNvSpPr/>
          <p:nvPr userDrawn="1"/>
        </p:nvSpPr>
        <p:spPr>
          <a:xfrm>
            <a:off x="438197" y="6519446"/>
            <a:ext cx="1905000"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a:ln>
                  <a:noFill/>
                </a:ln>
                <a:solidFill>
                  <a:schemeClr val="tx1">
                    <a:lumMod val="50000"/>
                    <a:lumOff val="50000"/>
                  </a:schemeClr>
                </a:solidFill>
                <a:effectLst/>
                <a:latin typeface="Times New Roman" pitchFamily="18" charset="0"/>
                <a:ea typeface="+mn-ea"/>
                <a:cs typeface="Times New Roman" panose="02020603050405020304" pitchFamily="18" charset="0"/>
              </a:rPr>
              <a:t>HOGP_0-3_CS_02-F01_EN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a:ln>
                  <a:noFill/>
                </a:ln>
                <a:solidFill>
                  <a:schemeClr val="tx1">
                    <a:lumMod val="50000"/>
                    <a:lumOff val="50000"/>
                  </a:schemeClr>
                </a:solidFill>
                <a:effectLst/>
                <a:latin typeface="Times New Roman" pitchFamily="18" charset="0"/>
                <a:ea typeface="+mn-ea"/>
                <a:cs typeface="Times New Roman" panose="02020603050405020304" pitchFamily="18" charset="0"/>
              </a:rPr>
              <a:t>Eff, date: 19-Jun-2023</a:t>
            </a:r>
            <a:endParaRPr kumimoji="0" lang="en-US" altLang="zh-CN" sz="800" b="0" i="1" u="none" strike="noStrike" cap="none" spc="0" normalizeH="0" baseline="0">
              <a:ln>
                <a:noFill/>
              </a:ln>
              <a:solidFill>
                <a:schemeClr val="tx1">
                  <a:lumMod val="50000"/>
                  <a:lumOff val="50000"/>
                </a:schemeClr>
              </a:solidFill>
              <a:effectLst/>
              <a:latin typeface="Times New Roman"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9C4E543-946F-9CBD-CA92-76AD99878B46}"/>
              </a:ext>
            </a:extLst>
          </p:cNvPr>
          <p:cNvSpPr txBox="1"/>
          <p:nvPr userDrawn="1">
            <p:extLst>
              <p:ext uri="{1162E1C5-73C7-4A58-AE30-91384D911F3F}">
                <p184:classification xmlns:p184="http://schemas.microsoft.com/office/powerpoint/2018/4/main" val="ftr"/>
              </p:ext>
            </p:extLst>
          </p:nvPr>
        </p:nvSpPr>
        <p:spPr>
          <a:xfrm>
            <a:off x="4349750" y="6626860"/>
            <a:ext cx="476250" cy="167640"/>
          </a:xfrm>
          <a:prstGeom prst="rect">
            <a:avLst/>
          </a:prstGeom>
        </p:spPr>
        <p:txBody>
          <a:bodyPr horzOverflow="overflow" lIns="0" tIns="0" rIns="0" bIns="0">
            <a:spAutoFit/>
          </a:bodyPr>
          <a:lstStyle/>
          <a:p>
            <a:pPr algn="l"/>
            <a:r>
              <a:rPr lang="en-GB" sz="1100">
                <a:solidFill>
                  <a:srgbClr val="FF0000"/>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3515638139"/>
      </p:ext>
    </p:extLst>
  </p:cSld>
  <p:clrMap bg1="lt1" tx1="dk1" bg2="lt2" tx2="dk2" accent1="accent1" accent2="accent2" accent3="accent3" accent4="accent4" accent5="accent5" accent6="accent6" hlink="hlink" folHlink="folHlink"/>
  <p:sldLayoutIdLst>
    <p:sldLayoutId id="2147483658" r:id="rId1"/>
    <p:sldLayoutId id="2147483666" r:id="rId2"/>
    <p:sldLayoutId id="2147483667" r:id="rId3"/>
    <p:sldLayoutId id="2147483663" r:id="rId4"/>
    <p:sldLayoutId id="2147483664" r:id="rId5"/>
    <p:sldLayoutId id="2147483653" r:id="rId6"/>
    <p:sldLayoutId id="2147483652" r:id="rId7"/>
    <p:sldLayoutId id="2147483654" r:id="rId8"/>
    <p:sldLayoutId id="2147483669" r:id="rId9"/>
    <p:sldLayoutId id="2147483670" r:id="rId10"/>
    <p:sldLayoutId id="2147483671"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o.aptiv.com/:w:/r/sites/0107-eosho/Policy%20Information/EOS-Glossary.docx?d=wba21ddee93ab4b24b35e0ef7d014dc63&amp;csf=1&amp;web=1"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3.png"/><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Word_Document.docx"/><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hyperlink" Target="https://spo.aptiv.com/sites/0407-eosea/Lists/DCRRequestsProduction/editform.aspx?ID=4093#/" TargetMode="Externa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702"/>
          <p:cNvGraphicFramePr>
            <a:graphicFrameLocks noGrp="1"/>
          </p:cNvGraphicFramePr>
          <p:nvPr>
            <p:extLst>
              <p:ext uri="{D42A27DB-BD31-4B8C-83A1-F6EECF244321}">
                <p14:modId xmlns:p14="http://schemas.microsoft.com/office/powerpoint/2010/main" val="237605623"/>
              </p:ext>
            </p:extLst>
          </p:nvPr>
        </p:nvGraphicFramePr>
        <p:xfrm>
          <a:off x="229401" y="4662146"/>
          <a:ext cx="4722210" cy="1816690"/>
        </p:xfrm>
        <a:graphic>
          <a:graphicData uri="http://schemas.openxmlformats.org/drawingml/2006/table">
            <a:tbl>
              <a:tblPr/>
              <a:tblGrid>
                <a:gridCol w="4722210">
                  <a:extLst>
                    <a:ext uri="{9D8B030D-6E8A-4147-A177-3AD203B41FA5}">
                      <a16:colId xmlns:a16="http://schemas.microsoft.com/office/drawing/2014/main" val="20000"/>
                    </a:ext>
                  </a:extLst>
                </a:gridCol>
              </a:tblGrid>
              <a:tr h="343780">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cap="none" normalizeH="0" baseline="0" dirty="0">
                          <a:ln>
                            <a:noFill/>
                          </a:ln>
                          <a:solidFill>
                            <a:schemeClr val="tx1"/>
                          </a:solidFill>
                          <a:effectLst/>
                          <a:latin typeface="Arial" charset="0"/>
                        </a:rPr>
                        <a:t>What methods/procedures &amp;/or techniques are used to describe</a:t>
                      </a:r>
                      <a:r>
                        <a:rPr kumimoji="0" lang="en-US" sz="1000" b="0" i="0" u="none" strike="noStrike" cap="none" normalizeH="0" baseline="0" dirty="0">
                          <a:ln>
                            <a:noFill/>
                          </a:ln>
                          <a:solidFill>
                            <a:srgbClr val="F84018"/>
                          </a:solidFill>
                          <a:effectLst/>
                          <a:latin typeface="Arial" charset="0"/>
                        </a:rPr>
                        <a:t> </a:t>
                      </a:r>
                      <a:r>
                        <a:rPr kumimoji="0" lang="en-US" sz="1000" b="1" i="0" u="sng" strike="noStrike" cap="none" normalizeH="0" baseline="0" dirty="0">
                          <a:ln>
                            <a:noFill/>
                          </a:ln>
                          <a:solidFill>
                            <a:srgbClr val="F84018"/>
                          </a:solidFill>
                          <a:effectLst/>
                          <a:latin typeface="Arial" charset="0"/>
                        </a:rPr>
                        <a:t>HOW</a:t>
                      </a:r>
                      <a:r>
                        <a:rPr kumimoji="0" lang="en-US" sz="1000" b="1" i="0" u="none" strike="noStrike" cap="none" normalizeH="0" baseline="0" dirty="0">
                          <a:ln>
                            <a:noFill/>
                          </a:ln>
                          <a:solidFill>
                            <a:srgbClr val="F84018"/>
                          </a:solidFill>
                          <a:effectLst/>
                          <a:latin typeface="Arial" charset="0"/>
                        </a:rPr>
                        <a:t> </a:t>
                      </a:r>
                      <a:r>
                        <a:rPr kumimoji="0" lang="en-US" sz="1000" b="0" i="0" u="none" strike="noStrike" cap="none" normalizeH="0" baseline="0" dirty="0">
                          <a:ln>
                            <a:noFill/>
                          </a:ln>
                          <a:solidFill>
                            <a:schemeClr val="tx1"/>
                          </a:solidFill>
                          <a:effectLst/>
                          <a:latin typeface="Arial" charset="0"/>
                        </a:rPr>
                        <a:t>the process is done. </a:t>
                      </a:r>
                    </a:p>
                  </a:txBody>
                  <a:tcPr marL="79960" marR="79960" marT="39225" marB="392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1061782">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r>
                        <a:rPr lang="en-US" sz="1000" b="1" dirty="0"/>
                        <a:t>A. Known Issues Matrix (KIM)</a:t>
                      </a:r>
                      <a:r>
                        <a:rPr lang="en-US" sz="1000" dirty="0"/>
                        <a:t> – </a:t>
                      </a:r>
                      <a:r>
                        <a:rPr lang="en-US" sz="1000" i="0" u="sng" dirty="0">
                          <a:solidFill>
                            <a:srgbClr val="0000CC"/>
                          </a:solidFill>
                        </a:rPr>
                        <a:t>EAGP_4-3_CS_11_F01_EN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t>B. Quality Assurance Matrix (QAM)</a:t>
                      </a:r>
                      <a:r>
                        <a:rPr lang="en-US" sz="1000" dirty="0"/>
                        <a:t> – </a:t>
                      </a:r>
                      <a:r>
                        <a:rPr lang="en-US" sz="1000" i="0" u="sng" dirty="0">
                          <a:solidFill>
                            <a:srgbClr val="0000CC"/>
                          </a:solidFill>
                        </a:rPr>
                        <a:t>EAGP_4-3_CS_11_F02_EN</a:t>
                      </a:r>
                    </a:p>
                    <a:p>
                      <a:r>
                        <a:rPr lang="en-US" sz="1000" b="1" dirty="0"/>
                        <a:t>C. MQ1 Release Document</a:t>
                      </a:r>
                      <a:r>
                        <a:rPr lang="en-US" sz="1000" dirty="0"/>
                        <a:t> – </a:t>
                      </a:r>
                      <a:r>
                        <a:rPr lang="nn-NO" sz="1050" u="sng" dirty="0">
                          <a:solidFill>
                            <a:srgbClr val="0000CC"/>
                          </a:solidFill>
                        </a:rPr>
                        <a:t>EANW_4-3_ME_OM_21-02</a:t>
                      </a:r>
                    </a:p>
                    <a:p>
                      <a:r>
                        <a:rPr lang="en-US" sz="1050" b="1" dirty="0"/>
                        <a:t>C. MQ1 Format – </a:t>
                      </a:r>
                      <a:r>
                        <a:rPr lang="nn-NO" sz="1050" u="sng" dirty="0">
                          <a:solidFill>
                            <a:srgbClr val="0000CC"/>
                          </a:solidFill>
                        </a:rPr>
                        <a:t>EANP_4-3_ME_OM_21_F05</a:t>
                      </a:r>
                      <a:endParaRPr lang="en-US" sz="1050" b="0" u="sng" kern="1200" dirty="0">
                        <a:solidFill>
                          <a:srgbClr val="0000CC"/>
                        </a:solidFill>
                        <a:effectLst/>
                        <a:latin typeface="Arial"/>
                        <a:ea typeface=""/>
                        <a:cs typeface=""/>
                      </a:endParaRPr>
                    </a:p>
                    <a:p>
                      <a:r>
                        <a:rPr lang="en-US" sz="1000" b="1" dirty="0"/>
                        <a:t>E. Control Plan</a:t>
                      </a:r>
                      <a:r>
                        <a:rPr lang="en-US" sz="1000" dirty="0"/>
                        <a:t> – </a:t>
                      </a:r>
                      <a:r>
                        <a:rPr lang="da-DK" sz="1000" u="sng" dirty="0">
                          <a:solidFill>
                            <a:srgbClr val="0000CC"/>
                          </a:solidFill>
                        </a:rPr>
                        <a:t>EAGP_4-3_CS_01-F01_EN</a:t>
                      </a:r>
                    </a:p>
                    <a:p>
                      <a:r>
                        <a:rPr lang="en-US" sz="1000" b="1" dirty="0"/>
                        <a:t>F. Safe Launch Plan</a:t>
                      </a:r>
                      <a:r>
                        <a:rPr lang="en-US" sz="1000" dirty="0"/>
                        <a:t> – </a:t>
                      </a:r>
                      <a:r>
                        <a:rPr lang="fr-FR" sz="1000" u="sng" dirty="0">
                          <a:solidFill>
                            <a:srgbClr val="0000CC"/>
                          </a:solidFill>
                        </a:rPr>
                        <a:t>HOGW_5-3_CS-SPS_02-02_EN</a:t>
                      </a:r>
                    </a:p>
                    <a:p>
                      <a:r>
                        <a:rPr lang="en-US" sz="1000" b="1" dirty="0"/>
                        <a:t>G. Statement of Work (SOW)</a:t>
                      </a:r>
                      <a:r>
                        <a:rPr lang="en-US" sz="1000" dirty="0"/>
                        <a:t> – </a:t>
                      </a:r>
                      <a:r>
                        <a:rPr lang="nn-NO" sz="1050" u="sng" dirty="0">
                          <a:solidFill>
                            <a:srgbClr val="0000CC"/>
                          </a:solidFill>
                        </a:rPr>
                        <a:t>EANW_4-3_ME_OM_21-01 F01</a:t>
                      </a:r>
                    </a:p>
                    <a:p>
                      <a:r>
                        <a:rPr lang="en-US" sz="1000" b="1" dirty="0"/>
                        <a:t>H. Safe Launch Matrix</a:t>
                      </a:r>
                      <a:r>
                        <a:rPr lang="en-US" sz="1000" dirty="0"/>
                        <a:t> – </a:t>
                      </a:r>
                      <a:r>
                        <a:rPr lang="en-US" sz="1000" i="0" u="sng" dirty="0">
                          <a:solidFill>
                            <a:srgbClr val="0000CC"/>
                          </a:solidFill>
                        </a:rPr>
                        <a:t>EANP_5-3_MG_OM_01-02_F01_ES</a:t>
                      </a:r>
                    </a:p>
                    <a:p>
                      <a:r>
                        <a:rPr lang="en-US" sz="1000" b="1" i="0" dirty="0"/>
                        <a:t>I. APQP Dashboard – </a:t>
                      </a:r>
                      <a:r>
                        <a:rPr lang="en-US" sz="1000" b="0" i="0" u="sng" dirty="0">
                          <a:solidFill>
                            <a:srgbClr val="0000CC"/>
                          </a:solidFill>
                        </a:rPr>
                        <a:t>Matrix provided by EMAIL Excel file (PMO-See Page # 7)</a:t>
                      </a:r>
                    </a:p>
                  </a:txBody>
                  <a:tcPr marL="79960" marR="79960" marT="39225" marB="392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8" name="Group 706"/>
          <p:cNvGraphicFramePr>
            <a:graphicFrameLocks noGrp="1"/>
          </p:cNvGraphicFramePr>
          <p:nvPr>
            <p:extLst>
              <p:ext uri="{D42A27DB-BD31-4B8C-83A1-F6EECF244321}">
                <p14:modId xmlns:p14="http://schemas.microsoft.com/office/powerpoint/2010/main" val="2726640503"/>
              </p:ext>
            </p:extLst>
          </p:nvPr>
        </p:nvGraphicFramePr>
        <p:xfrm>
          <a:off x="5192295" y="4662146"/>
          <a:ext cx="3657600" cy="1267114"/>
        </p:xfrm>
        <a:graphic>
          <a:graphicData uri="http://schemas.openxmlformats.org/drawingml/2006/table">
            <a:tbl>
              <a:tblPr/>
              <a:tblGrid>
                <a:gridCol w="3657600">
                  <a:extLst>
                    <a:ext uri="{9D8B030D-6E8A-4147-A177-3AD203B41FA5}">
                      <a16:colId xmlns:a16="http://schemas.microsoft.com/office/drawing/2014/main" val="20000"/>
                    </a:ext>
                  </a:extLst>
                </a:gridCol>
              </a:tblGrid>
              <a:tr h="422032">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cap="none" normalizeH="0" baseline="0" dirty="0">
                          <a:ln>
                            <a:noFill/>
                          </a:ln>
                          <a:solidFill>
                            <a:schemeClr val="tx1"/>
                          </a:solidFill>
                          <a:effectLst/>
                          <a:latin typeface="Arial" charset="0"/>
                        </a:rPr>
                        <a:t>What</a:t>
                      </a:r>
                      <a:r>
                        <a:rPr kumimoji="0" lang="en-US" sz="1000" b="0" i="0" u="none" strike="noStrike" cap="none" normalizeH="0" baseline="0" dirty="0">
                          <a:ln>
                            <a:noFill/>
                          </a:ln>
                          <a:solidFill>
                            <a:schemeClr val="tx1">
                              <a:lumMod val="95000"/>
                              <a:lumOff val="5000"/>
                            </a:schemeClr>
                          </a:solidFill>
                          <a:effectLst/>
                          <a:latin typeface="Arial" charset="0"/>
                        </a:rPr>
                        <a:t> </a:t>
                      </a:r>
                      <a:r>
                        <a:rPr kumimoji="0" lang="en-US" sz="1000" b="1" i="0" u="sng" strike="noStrike" cap="none" normalizeH="0" baseline="0" dirty="0">
                          <a:ln>
                            <a:noFill/>
                          </a:ln>
                          <a:solidFill>
                            <a:srgbClr val="F84018"/>
                          </a:solidFill>
                          <a:effectLst/>
                          <a:latin typeface="Arial" charset="0"/>
                        </a:rPr>
                        <a:t>METRICS</a:t>
                      </a:r>
                      <a:r>
                        <a:rPr kumimoji="0" lang="en-US" sz="1000" b="0" i="0" u="none" strike="noStrike" cap="none" normalizeH="0" baseline="0" dirty="0">
                          <a:ln>
                            <a:noFill/>
                          </a:ln>
                          <a:solidFill>
                            <a:schemeClr val="tx1">
                              <a:lumMod val="95000"/>
                              <a:lumOff val="5000"/>
                            </a:schemeClr>
                          </a:solidFill>
                          <a:effectLst/>
                          <a:latin typeface="Arial" charset="0"/>
                        </a:rPr>
                        <a:t> </a:t>
                      </a:r>
                      <a:r>
                        <a:rPr kumimoji="0" lang="en-US" sz="1000" b="0" i="0" u="none" strike="noStrike" cap="none" normalizeH="0" baseline="0" dirty="0">
                          <a:ln>
                            <a:noFill/>
                          </a:ln>
                          <a:solidFill>
                            <a:schemeClr val="tx1"/>
                          </a:solidFill>
                          <a:effectLst/>
                          <a:latin typeface="Arial" charset="0"/>
                        </a:rPr>
                        <a:t>are used to report the effectiveness/efficiency of the process or to monitor/measure performance?</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845082">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r>
                        <a:rPr lang="en-US" sz="1000" b="1" dirty="0"/>
                        <a:t>APQP Dashboard Metrics:</a:t>
                      </a:r>
                      <a:endParaRPr lang="en-US" sz="1000" dirty="0"/>
                    </a:p>
                    <a:p>
                      <a:pPr marL="228600" indent="-228600">
                        <a:buFont typeface="+mj-lt"/>
                        <a:buAutoNum type="arabicPeriod"/>
                      </a:pPr>
                      <a:r>
                        <a:rPr lang="en-US" sz="1000" dirty="0"/>
                        <a:t>% Alignment of QAM vs. SOW Review</a:t>
                      </a:r>
                    </a:p>
                    <a:p>
                      <a:pPr marL="228600" indent="-228600">
                        <a:buFont typeface="+mj-lt"/>
                        <a:buAutoNum type="arabicPeriod"/>
                      </a:pPr>
                      <a:r>
                        <a:rPr lang="en-US" sz="1000" dirty="0"/>
                        <a:t>% Completion of MQ1/MQ2 QAM Audits</a:t>
                      </a:r>
                    </a:p>
                    <a:p>
                      <a:pPr marL="228600" indent="-228600">
                        <a:buFont typeface="+mj-lt"/>
                        <a:buAutoNum type="arabicPeriod"/>
                      </a:pPr>
                      <a:r>
                        <a:rPr lang="en-US" sz="1000" dirty="0"/>
                        <a:t>Safe Launch Coverage (3 months post-launch)</a:t>
                      </a:r>
                    </a:p>
                    <a:p>
                      <a:pPr marL="228600" indent="-228600">
                        <a:buFont typeface="+mj-lt"/>
                        <a:buAutoNum type="arabicPeriod"/>
                      </a:pPr>
                      <a:r>
                        <a:rPr lang="en-US" sz="1000" dirty="0"/>
                        <a:t>Full PPAP Approval Status</a:t>
                      </a:r>
                    </a:p>
                  </a:txBody>
                  <a:tcPr marL="79960" marR="79960" marT="39209" marB="392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9" name="Group 700"/>
          <p:cNvGraphicFramePr>
            <a:graphicFrameLocks noGrp="1"/>
          </p:cNvGraphicFramePr>
          <p:nvPr>
            <p:extLst>
              <p:ext uri="{D42A27DB-BD31-4B8C-83A1-F6EECF244321}">
                <p14:modId xmlns:p14="http://schemas.microsoft.com/office/powerpoint/2010/main" val="1340731960"/>
              </p:ext>
            </p:extLst>
          </p:nvPr>
        </p:nvGraphicFramePr>
        <p:xfrm>
          <a:off x="5018505" y="533400"/>
          <a:ext cx="3831390" cy="903708"/>
        </p:xfrm>
        <a:graphic>
          <a:graphicData uri="http://schemas.openxmlformats.org/drawingml/2006/table">
            <a:tbl>
              <a:tblPr/>
              <a:tblGrid>
                <a:gridCol w="1685554">
                  <a:extLst>
                    <a:ext uri="{9D8B030D-6E8A-4147-A177-3AD203B41FA5}">
                      <a16:colId xmlns:a16="http://schemas.microsoft.com/office/drawing/2014/main" val="20000"/>
                    </a:ext>
                  </a:extLst>
                </a:gridCol>
                <a:gridCol w="2145836">
                  <a:extLst>
                    <a:ext uri="{9D8B030D-6E8A-4147-A177-3AD203B41FA5}">
                      <a16:colId xmlns:a16="http://schemas.microsoft.com/office/drawing/2014/main" val="20001"/>
                    </a:ext>
                  </a:extLst>
                </a:gridCol>
              </a:tblGrid>
              <a:tr h="152400">
                <a:tc gridSpan="2">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a:ln>
                            <a:noFill/>
                          </a:ln>
                          <a:solidFill>
                            <a:srgbClr val="F84018"/>
                          </a:solidFill>
                          <a:effectLst/>
                          <a:latin typeface="Arial" charset="0"/>
                        </a:rPr>
                        <a:t>WHO</a:t>
                      </a:r>
                      <a:r>
                        <a:rPr kumimoji="0" lang="en-US" sz="1000" b="0" i="0" u="none" strike="noStrike" cap="none" normalizeH="0" baseline="0">
                          <a:ln>
                            <a:noFill/>
                          </a:ln>
                          <a:solidFill>
                            <a:schemeClr val="tx1">
                              <a:lumMod val="95000"/>
                              <a:lumOff val="5000"/>
                            </a:schemeClr>
                          </a:solidFill>
                          <a:effectLst/>
                          <a:latin typeface="Arial" charset="0"/>
                        </a:rPr>
                        <a:t> </a:t>
                      </a:r>
                      <a:r>
                        <a:rPr kumimoji="0" lang="en-US" sz="1000" b="0" i="0" u="none" strike="noStrike" cap="none" normalizeH="0" baseline="0">
                          <a:ln>
                            <a:noFill/>
                          </a:ln>
                          <a:solidFill>
                            <a:schemeClr val="tx1"/>
                          </a:solidFill>
                          <a:effectLst/>
                          <a:latin typeface="Arial" charset="0"/>
                        </a:rPr>
                        <a:t>owns this procedure and who participates in the process?</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tc hMerge="1">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charset="0"/>
                      </a:endParaRPr>
                    </a:p>
                  </a:txBody>
                  <a:tcPr marL="79960" marR="79960" marT="39240" marB="392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1F4FF"/>
                    </a:solidFill>
                  </a:tcPr>
                </a:tc>
                <a:extLst>
                  <a:ext uri="{0D108BD9-81ED-4DB2-BD59-A6C34878D82A}">
                    <a16:rowId xmlns:a16="http://schemas.microsoft.com/office/drawing/2014/main" val="10000"/>
                  </a:ext>
                </a:extLst>
              </a:tr>
              <a:tr h="21509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algn="r"/>
                      <a:r>
                        <a:rPr lang="en-US" sz="1000" b="1" u="none" kern="1200">
                          <a:solidFill>
                            <a:schemeClr val="tx1"/>
                          </a:solidFill>
                          <a:effectLst/>
                          <a:latin typeface="Arial" panose="020B0604020202020204" pitchFamily="34" charset="0"/>
                          <a:ea typeface="+mn-ea"/>
                          <a:cs typeface="Arial" panose="020B0604020202020204" pitchFamily="34" charset="0"/>
                        </a:rPr>
                        <a:t>Owner: </a:t>
                      </a:r>
                      <a:endParaRPr lang="en-US" sz="1000" b="0" u="none" kern="1200">
                        <a:solidFill>
                          <a:schemeClr val="tx1"/>
                        </a:solidFill>
                        <a:effectLst/>
                        <a:latin typeface="Arial" panose="020B0604020202020204" pitchFamily="34" charset="0"/>
                        <a:ea typeface="+mn-ea"/>
                        <a:cs typeface="Arial" panose="020B0604020202020204" pitchFamily="34" charset="0"/>
                      </a:endParaRP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171450" indent="-171450" algn="l">
                        <a:buFont typeface="Arial" panose="020B0604020202020204" pitchFamily="34" charset="0"/>
                        <a:buChar char="•"/>
                      </a:pPr>
                      <a:r>
                        <a:rPr lang="en-US" sz="1000" b="0" u="none" kern="1200" dirty="0">
                          <a:solidFill>
                            <a:schemeClr val="tx1"/>
                          </a:solidFill>
                          <a:effectLst/>
                          <a:latin typeface="Arial" panose="020B0604020202020204" pitchFamily="34" charset="0"/>
                          <a:ea typeface="+mn-ea"/>
                          <a:cs typeface="Arial" panose="020B0604020202020204" pitchFamily="34" charset="0"/>
                        </a:rPr>
                        <a:t>Ciro Martinez </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15096">
                <a:tc>
                  <a:txBody>
                    <a:bodyPr/>
                    <a:lstStyle/>
                    <a:p>
                      <a:pPr algn="r"/>
                      <a:r>
                        <a:rPr lang="en-US" sz="1000" b="1" u="none" kern="1200">
                          <a:solidFill>
                            <a:schemeClr val="tx1"/>
                          </a:solidFill>
                          <a:effectLst/>
                          <a:latin typeface="Arial" panose="020B0604020202020204" pitchFamily="34" charset="0"/>
                          <a:ea typeface="+mn-ea"/>
                          <a:cs typeface="Arial" panose="020B0604020202020204" pitchFamily="34" charset="0"/>
                        </a:rPr>
                        <a:t>Swim Lanes:</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171450" indent="-171450" algn="l">
                        <a:buFont typeface="Arial" panose="020B0604020202020204" pitchFamily="34" charset="0"/>
                        <a:buChar char="•"/>
                      </a:pPr>
                      <a:r>
                        <a:rPr lang="en-US" sz="1000" b="0" u="none" kern="1200" dirty="0">
                          <a:solidFill>
                            <a:schemeClr val="tx1"/>
                          </a:solidFill>
                          <a:effectLst/>
                          <a:latin typeface="Arial" panose="020B0604020202020204" pitchFamily="34" charset="0"/>
                          <a:ea typeface="+mn-ea"/>
                          <a:cs typeface="Arial" panose="020B0604020202020204" pitchFamily="34" charset="0"/>
                        </a:rPr>
                        <a:t>Customer Satisfaction (Quality)</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15096">
                <a:tc>
                  <a:txBody>
                    <a:bodyPr/>
                    <a:lstStyle/>
                    <a:p>
                      <a:pPr algn="r"/>
                      <a:r>
                        <a:rPr lang="en-US" sz="1000" b="1" u="none" kern="1200">
                          <a:solidFill>
                            <a:schemeClr val="tx1"/>
                          </a:solidFill>
                          <a:effectLst/>
                          <a:latin typeface="Arial" panose="020B0604020202020204" pitchFamily="34" charset="0"/>
                          <a:ea typeface="+mn-ea"/>
                          <a:cs typeface="Arial" panose="020B0604020202020204" pitchFamily="34" charset="0"/>
                        </a:rPr>
                        <a:t>CORP, Segment,</a:t>
                      </a:r>
                      <a:r>
                        <a:rPr lang="en-US" sz="1000" b="1" u="none" kern="1200" baseline="0">
                          <a:solidFill>
                            <a:schemeClr val="tx1"/>
                          </a:solidFill>
                          <a:effectLst/>
                          <a:latin typeface="Arial" panose="020B0604020202020204" pitchFamily="34" charset="0"/>
                          <a:ea typeface="+mn-ea"/>
                          <a:cs typeface="Arial" panose="020B0604020202020204" pitchFamily="34" charset="0"/>
                        </a:rPr>
                        <a:t> or </a:t>
                      </a:r>
                      <a:r>
                        <a:rPr lang="en-US" sz="1000" b="1" u="none" kern="1200">
                          <a:solidFill>
                            <a:schemeClr val="tx1"/>
                          </a:solidFill>
                          <a:effectLst/>
                          <a:latin typeface="Arial" panose="020B0604020202020204" pitchFamily="34" charset="0"/>
                          <a:ea typeface="+mn-ea"/>
                          <a:cs typeface="Arial" panose="020B0604020202020204" pitchFamily="34" charset="0"/>
                        </a:rPr>
                        <a:t>BU:</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171450" indent="-171450" algn="l">
                        <a:buFont typeface="Arial" panose="020B0604020202020204" pitchFamily="34" charset="0"/>
                        <a:buChar char="•"/>
                      </a:pPr>
                      <a:r>
                        <a:rPr lang="en-US" sz="1000" b="0" u="none" kern="1200" dirty="0">
                          <a:solidFill>
                            <a:schemeClr val="tx1"/>
                          </a:solidFill>
                          <a:effectLst/>
                          <a:latin typeface="Arial" panose="020B0604020202020204" pitchFamily="34" charset="0"/>
                          <a:ea typeface="+mn-ea"/>
                          <a:cs typeface="Arial" panose="020B0604020202020204" pitchFamily="34" charset="0"/>
                        </a:rPr>
                        <a:t>Connection Systems</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10" name="Group 699"/>
          <p:cNvGraphicFramePr>
            <a:graphicFrameLocks noGrp="1"/>
          </p:cNvGraphicFramePr>
          <p:nvPr>
            <p:extLst>
              <p:ext uri="{D42A27DB-BD31-4B8C-83A1-F6EECF244321}">
                <p14:modId xmlns:p14="http://schemas.microsoft.com/office/powerpoint/2010/main" val="2255212749"/>
              </p:ext>
            </p:extLst>
          </p:nvPr>
        </p:nvGraphicFramePr>
        <p:xfrm>
          <a:off x="229401" y="533400"/>
          <a:ext cx="2589999" cy="1021837"/>
        </p:xfrm>
        <a:graphic>
          <a:graphicData uri="http://schemas.openxmlformats.org/drawingml/2006/table">
            <a:tbl>
              <a:tblPr/>
              <a:tblGrid>
                <a:gridCol w="2589999">
                  <a:extLst>
                    <a:ext uri="{9D8B030D-6E8A-4147-A177-3AD203B41FA5}">
                      <a16:colId xmlns:a16="http://schemas.microsoft.com/office/drawing/2014/main" val="20000"/>
                    </a:ext>
                  </a:extLst>
                </a:gridCol>
              </a:tblGrid>
              <a:tr h="298303">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a:ln>
                            <a:noFill/>
                          </a:ln>
                          <a:solidFill>
                            <a:srgbClr val="F84018"/>
                          </a:solidFill>
                          <a:effectLst/>
                          <a:latin typeface="Arial" charset="0"/>
                        </a:rPr>
                        <a:t>WHAT</a:t>
                      </a:r>
                      <a:r>
                        <a:rPr kumimoji="0" lang="en-US" sz="1000" b="1" i="0" u="none" strike="noStrike" cap="none" normalizeH="0" baseline="0">
                          <a:ln>
                            <a:noFill/>
                          </a:ln>
                          <a:solidFill>
                            <a:schemeClr val="tx1"/>
                          </a:solidFill>
                          <a:effectLst/>
                          <a:latin typeface="Arial" charset="0"/>
                        </a:rPr>
                        <a:t> </a:t>
                      </a:r>
                      <a:r>
                        <a:rPr kumimoji="0" lang="en-US" sz="1000" b="0" i="0" u="none" strike="noStrike" cap="none" normalizeH="0" baseline="0">
                          <a:ln>
                            <a:noFill/>
                          </a:ln>
                          <a:solidFill>
                            <a:schemeClr val="tx1"/>
                          </a:solidFill>
                          <a:effectLst/>
                          <a:latin typeface="Arial" charset="0"/>
                        </a:rPr>
                        <a:t>Materials, equipment, infrastructure, references/resources are used in the process?</a:t>
                      </a:r>
                    </a:p>
                  </a:txBody>
                  <a:tcPr marL="79960" marR="79960" marT="39225" marB="392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545623">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171450" indent="-171450">
                        <a:buFont typeface="Arial" panose="020B0604020202020204" pitchFamily="34" charset="0"/>
                        <a:buChar char="•"/>
                      </a:pPr>
                      <a:endParaRPr kumimoji="0" lang="en-US" sz="1000" b="0" i="0" u="none" strike="noStrike" cap="none" normalizeH="0" baseline="0" dirty="0">
                        <a:ln>
                          <a:noFill/>
                        </a:ln>
                        <a:solidFill>
                          <a:schemeClr val="tx1"/>
                        </a:solidFill>
                        <a:effectLst/>
                        <a:latin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000" b="0" i="0" u="none" strike="noStrike" kern="1200" cap="none" normalizeH="0" baseline="0" dirty="0">
                          <a:ln>
                            <a:noFill/>
                          </a:ln>
                          <a:solidFill>
                            <a:schemeClr val="tx1"/>
                          </a:solidFill>
                          <a:effectLst/>
                          <a:latin typeface="Arial" charset="0"/>
                          <a:ea typeface=""/>
                          <a:cs typeface=""/>
                          <a:hlinkClick r:id="rId3"/>
                        </a:rPr>
                        <a:t>EOS-</a:t>
                      </a:r>
                      <a:r>
                        <a:rPr kumimoji="0" lang="es-MX" sz="1000" b="0" i="0" u="none" strike="noStrike" kern="1200" cap="none" normalizeH="0" baseline="0" dirty="0" err="1">
                          <a:ln>
                            <a:noFill/>
                          </a:ln>
                          <a:solidFill>
                            <a:schemeClr val="tx1"/>
                          </a:solidFill>
                          <a:effectLst/>
                          <a:latin typeface="Arial" charset="0"/>
                          <a:ea typeface=""/>
                          <a:cs typeface=""/>
                          <a:hlinkClick r:id="rId3"/>
                        </a:rPr>
                        <a:t>Glossary</a:t>
                      </a:r>
                      <a:endParaRPr kumimoji="0" lang="es-MX" sz="1000" b="0" i="0" u="none" strike="noStrike" kern="1200" cap="none" normalizeH="0" baseline="0" dirty="0">
                        <a:ln>
                          <a:noFill/>
                        </a:ln>
                        <a:solidFill>
                          <a:schemeClr val="tx1"/>
                        </a:solidFill>
                        <a:effectLst/>
                        <a:latin typeface="Arial" charset="0"/>
                        <a:ea typeface=""/>
                        <a:cs typeface=""/>
                      </a:endParaRPr>
                    </a:p>
                    <a:p>
                      <a:pPr marL="171450" indent="-171450">
                        <a:buFont typeface="Arial" panose="020B0604020202020204" pitchFamily="34" charset="0"/>
                        <a:buChar char="•"/>
                      </a:pPr>
                      <a:endParaRPr kumimoji="0" lang="en-US" sz="1000" b="0" i="0" u="none" strike="noStrike" cap="none" normalizeH="0" baseline="0" dirty="0">
                        <a:ln>
                          <a:noFill/>
                        </a:ln>
                        <a:solidFill>
                          <a:schemeClr val="tx1"/>
                        </a:solidFill>
                        <a:effectLst/>
                        <a:latin typeface="Arial" charset="0"/>
                      </a:endParaRPr>
                    </a:p>
                  </a:txBody>
                  <a:tcPr marL="79960" marR="79960" marT="39225" marB="392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2" name="Hexagon 11"/>
          <p:cNvSpPr/>
          <p:nvPr/>
        </p:nvSpPr>
        <p:spPr bwMode="auto">
          <a:xfrm>
            <a:off x="2921330" y="2195854"/>
            <a:ext cx="3182588" cy="2022877"/>
          </a:xfrm>
          <a:prstGeom prst="hexagon">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88" tIns="45695" rIns="91388" bIns="45695" numCol="1" rtlCol="0" anchor="ctr" anchorCtr="0" compatLnSpc="1">
            <a:prstTxWarp prst="textNoShape">
              <a:avLst/>
            </a:prstTxWarp>
          </a:bodyPr>
          <a:lstStyle/>
          <a:p>
            <a:endParaRPr lang="en-US" sz="1000" b="1" dirty="0">
              <a:latin typeface="Arial" panose="020B0604020202020204" pitchFamily="34" charset="0"/>
              <a:cs typeface="Arial" panose="020B0604020202020204" pitchFamily="34" charset="0"/>
            </a:endParaRPr>
          </a:p>
          <a:p>
            <a:r>
              <a:rPr lang="en-US" sz="1000" b="1" dirty="0">
                <a:latin typeface="Arial" panose="020B0604020202020204" pitchFamily="34" charset="0"/>
                <a:cs typeface="Arial" panose="020B0604020202020204" pitchFamily="34" charset="0"/>
              </a:rPr>
              <a:t>OBJECTIVE: </a:t>
            </a:r>
            <a:r>
              <a:rPr lang="en-US" sz="1000" dirty="0">
                <a:latin typeface="Arial" panose="020B0604020202020204" pitchFamily="34" charset="0"/>
                <a:cs typeface="Arial" panose="020B0604020202020204" pitchFamily="34" charset="0"/>
              </a:rPr>
              <a:t>Establish a standardized and proactive APQP process that leverages lessons learned and best practices from similar products to prevent quality and performance issues, ensure robust risk mitigation, and drive flawless launches for assigned new programs.</a:t>
            </a:r>
          </a:p>
          <a:p>
            <a:endParaRPr lang="en-US" sz="1000" dirty="0">
              <a:latin typeface="Arial" panose="020B0604020202020204" pitchFamily="34" charset="0"/>
              <a:cs typeface="Arial" panose="020B0604020202020204" pitchFamily="34" charset="0"/>
            </a:endParaRPr>
          </a:p>
          <a:p>
            <a:r>
              <a:rPr lang="en-US" sz="1000" b="1" dirty="0">
                <a:latin typeface="Arial" panose="020B0604020202020204" pitchFamily="34" charset="0"/>
                <a:cs typeface="Arial" panose="020B0604020202020204" pitchFamily="34" charset="0"/>
              </a:rPr>
              <a:t>SCOPE</a:t>
            </a:r>
          </a:p>
          <a:p>
            <a:r>
              <a:rPr lang="en-US" sz="1000" dirty="0">
                <a:latin typeface="Arial" panose="020B0604020202020204" pitchFamily="34" charset="0"/>
                <a:cs typeface="Arial" panose="020B0604020202020204" pitchFamily="34" charset="0"/>
              </a:rPr>
              <a:t>This procedure applies to all new program developments.</a:t>
            </a:r>
          </a:p>
          <a:p>
            <a:pPr algn="ctr" eaLnBrk="0" fontAlgn="base" hangingPunct="0">
              <a:spcBef>
                <a:spcPct val="0"/>
              </a:spcBef>
              <a:spcAft>
                <a:spcPct val="0"/>
              </a:spcAft>
              <a:defRPr/>
            </a:pPr>
            <a:endParaRPr lang="en-US" sz="1200" b="1" u="sng" kern="0" dirty="0">
              <a:solidFill>
                <a:srgbClr val="000000"/>
              </a:solidFill>
              <a:latin typeface="Arial"/>
            </a:endParaRPr>
          </a:p>
        </p:txBody>
      </p:sp>
      <p:cxnSp>
        <p:nvCxnSpPr>
          <p:cNvPr id="13" name="Straight Connector 12"/>
          <p:cNvCxnSpPr>
            <a:stCxn id="12" idx="5"/>
            <a:endCxn id="9" idx="2"/>
          </p:cNvCxnSpPr>
          <p:nvPr/>
        </p:nvCxnSpPr>
        <p:spPr bwMode="auto">
          <a:xfrm flipV="1">
            <a:off x="5598199" y="1437108"/>
            <a:ext cx="1336001" cy="758746"/>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a:cxnSpLocks/>
            <a:stCxn id="12" idx="1"/>
            <a:endCxn id="8" idx="0"/>
          </p:cNvCxnSpPr>
          <p:nvPr/>
        </p:nvCxnSpPr>
        <p:spPr bwMode="auto">
          <a:xfrm>
            <a:off x="5598199" y="4218731"/>
            <a:ext cx="1422896" cy="443415"/>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a:cxnSpLocks/>
            <a:stCxn id="12" idx="2"/>
            <a:endCxn id="7" idx="0"/>
          </p:cNvCxnSpPr>
          <p:nvPr/>
        </p:nvCxnSpPr>
        <p:spPr bwMode="auto">
          <a:xfrm flipH="1">
            <a:off x="2590506" y="4218731"/>
            <a:ext cx="836543" cy="443415"/>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a:stCxn id="12" idx="4"/>
            <a:endCxn id="10" idx="2"/>
          </p:cNvCxnSpPr>
          <p:nvPr/>
        </p:nvCxnSpPr>
        <p:spPr bwMode="auto">
          <a:xfrm flipH="1" flipV="1">
            <a:off x="1524400" y="1555237"/>
            <a:ext cx="1902649" cy="640617"/>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p:cNvCxnSpPr>
            <a:cxnSpLocks/>
            <a:stCxn id="12" idx="0"/>
            <a:endCxn id="21" idx="1"/>
          </p:cNvCxnSpPr>
          <p:nvPr/>
        </p:nvCxnSpPr>
        <p:spPr>
          <a:xfrm flipV="1">
            <a:off x="6103918" y="3207292"/>
            <a:ext cx="274880" cy="1"/>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graphicFrame>
        <p:nvGraphicFramePr>
          <p:cNvPr id="21" name="Group 706"/>
          <p:cNvGraphicFramePr>
            <a:graphicFrameLocks noGrp="1"/>
          </p:cNvGraphicFramePr>
          <p:nvPr>
            <p:extLst>
              <p:ext uri="{D42A27DB-BD31-4B8C-83A1-F6EECF244321}">
                <p14:modId xmlns:p14="http://schemas.microsoft.com/office/powerpoint/2010/main" val="2124614512"/>
              </p:ext>
            </p:extLst>
          </p:nvPr>
        </p:nvGraphicFramePr>
        <p:xfrm>
          <a:off x="6378798" y="2449671"/>
          <a:ext cx="2471097" cy="1515242"/>
        </p:xfrm>
        <a:graphic>
          <a:graphicData uri="http://schemas.openxmlformats.org/drawingml/2006/table">
            <a:tbl>
              <a:tblPr/>
              <a:tblGrid>
                <a:gridCol w="2471097">
                  <a:extLst>
                    <a:ext uri="{9D8B030D-6E8A-4147-A177-3AD203B41FA5}">
                      <a16:colId xmlns:a16="http://schemas.microsoft.com/office/drawing/2014/main" val="20000"/>
                    </a:ext>
                  </a:extLst>
                </a:gridCol>
              </a:tblGrid>
              <a:tr h="217624">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a:ln>
                            <a:noFill/>
                          </a:ln>
                          <a:solidFill>
                            <a:srgbClr val="F84018"/>
                          </a:solidFill>
                          <a:effectLst/>
                          <a:latin typeface="Arial"/>
                        </a:rPr>
                        <a:t>OUTPUTS</a:t>
                      </a:r>
                      <a:r>
                        <a:rPr kumimoji="0" lang="en-US" sz="1000" b="0" i="0" u="none" strike="noStrike" cap="none" normalizeH="0" baseline="0">
                          <a:ln>
                            <a:noFill/>
                          </a:ln>
                          <a:solidFill>
                            <a:schemeClr val="tx1"/>
                          </a:solidFill>
                          <a:effectLst/>
                          <a:latin typeface="Arial"/>
                        </a:rPr>
                        <a:t> – Process deliverables</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577149">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171450" marR="0" indent="-171450" algn="l">
                        <a:buFont typeface="Arial" panose="020B0604020202020204" pitchFamily="34" charset="0"/>
                        <a:buChar char="•"/>
                      </a:pPr>
                      <a:r>
                        <a:rPr kumimoji="0" lang="en-US" sz="1000" b="0" i="0" u="none" strike="noStrike" cap="none" normalizeH="0" baseline="0" dirty="0">
                          <a:ln>
                            <a:noFill/>
                          </a:ln>
                          <a:solidFill>
                            <a:schemeClr val="tx1"/>
                          </a:solidFill>
                          <a:effectLst/>
                          <a:latin typeface="Arial"/>
                        </a:rPr>
                        <a:t>MQ1 Release aligned with QAM</a:t>
                      </a:r>
                    </a:p>
                    <a:p>
                      <a:pPr marL="171450" marR="0" indent="-171450" algn="l">
                        <a:buFont typeface="Arial" panose="020B0604020202020204" pitchFamily="34" charset="0"/>
                        <a:buChar char="•"/>
                      </a:pPr>
                      <a:r>
                        <a:rPr kumimoji="0" lang="en-US" sz="1000" b="0" i="0" u="none" strike="noStrike" cap="none" normalizeH="0" baseline="0" dirty="0">
                          <a:ln>
                            <a:noFill/>
                          </a:ln>
                          <a:solidFill>
                            <a:schemeClr val="tx1"/>
                          </a:solidFill>
                          <a:effectLst/>
                          <a:latin typeface="Arial"/>
                        </a:rPr>
                        <a:t>MQ2 Release aligned with QAM</a:t>
                      </a:r>
                    </a:p>
                    <a:p>
                      <a:pPr marL="171450" marR="0" indent="-171450" algn="l">
                        <a:buFont typeface="Arial" panose="020B0604020202020204" pitchFamily="34" charset="0"/>
                        <a:buChar char="•"/>
                      </a:pPr>
                      <a:r>
                        <a:rPr kumimoji="0" lang="en-US" sz="1000" b="0" i="0" u="none" strike="noStrike" cap="none" normalizeH="0" baseline="0" dirty="0">
                          <a:ln>
                            <a:noFill/>
                          </a:ln>
                          <a:solidFill>
                            <a:schemeClr val="tx1"/>
                          </a:solidFill>
                          <a:effectLst/>
                          <a:latin typeface="Arial"/>
                        </a:rPr>
                        <a:t>Safe Launch Plan implemented </a:t>
                      </a:r>
                    </a:p>
                    <a:p>
                      <a:pPr marL="171450" marR="0" indent="-171450" algn="l">
                        <a:buFont typeface="Arial" panose="020B0604020202020204" pitchFamily="34" charset="0"/>
                        <a:buChar char="•"/>
                      </a:pPr>
                      <a:r>
                        <a:rPr kumimoji="0" lang="en-US" sz="1000" b="0" i="0" u="none" strike="noStrike" cap="none" normalizeH="0" baseline="0" dirty="0">
                          <a:ln>
                            <a:noFill/>
                          </a:ln>
                          <a:solidFill>
                            <a:schemeClr val="tx1"/>
                          </a:solidFill>
                          <a:effectLst/>
                          <a:latin typeface="Arial"/>
                        </a:rPr>
                        <a:t>Control Plan completed &amp; approved</a:t>
                      </a:r>
                    </a:p>
                    <a:p>
                      <a:pPr marL="171450" marR="0" indent="-171450" algn="l">
                        <a:buFont typeface="Arial" panose="020B0604020202020204" pitchFamily="34" charset="0"/>
                        <a:buChar char="•"/>
                      </a:pPr>
                      <a:r>
                        <a:rPr kumimoji="0" lang="en-US" sz="1000" b="0" i="0" u="none" strike="noStrike" cap="none" normalizeH="0" baseline="0" dirty="0">
                          <a:ln>
                            <a:noFill/>
                          </a:ln>
                          <a:solidFill>
                            <a:schemeClr val="tx1"/>
                          </a:solidFill>
                          <a:effectLst/>
                          <a:latin typeface="Arial"/>
                        </a:rPr>
                        <a:t>Full PPAP (Production Part Approval Process) approved </a:t>
                      </a:r>
                    </a:p>
                    <a:p>
                      <a:pPr marL="171450" marR="0" indent="-171450" algn="l">
                        <a:buFont typeface="Arial" panose="020B0604020202020204" pitchFamily="34" charset="0"/>
                        <a:buChar char="•"/>
                      </a:pPr>
                      <a:r>
                        <a:rPr kumimoji="0" lang="en-US" sz="1000" b="0" i="0" u="none" strike="noStrike" cap="none" normalizeH="0" baseline="0" dirty="0">
                          <a:ln>
                            <a:noFill/>
                          </a:ln>
                          <a:solidFill>
                            <a:schemeClr val="tx1"/>
                          </a:solidFill>
                          <a:effectLst/>
                          <a:latin typeface="Arial"/>
                        </a:rPr>
                        <a:t>Sign-off completed by Manufacturing Engineering and BIQ Engineer</a:t>
                      </a:r>
                      <a:endParaRPr lang="en-US" sz="1000" b="0" i="0" u="none" strike="noStrike" cap="none" normalizeH="0" baseline="0" dirty="0">
                        <a:ln>
                          <a:noFill/>
                        </a:ln>
                        <a:solidFill>
                          <a:schemeClr val="tx1"/>
                        </a:solidFill>
                        <a:effectLst/>
                        <a:latin typeface="Arial" charset="0"/>
                      </a:endParaRPr>
                    </a:p>
                  </a:txBody>
                  <a:tcPr marL="79960" marR="79960" marT="39209" marB="392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4" name="Group 706"/>
          <p:cNvGraphicFramePr>
            <a:graphicFrameLocks noGrp="1"/>
          </p:cNvGraphicFramePr>
          <p:nvPr>
            <p:extLst>
              <p:ext uri="{D42A27DB-BD31-4B8C-83A1-F6EECF244321}">
                <p14:modId xmlns:p14="http://schemas.microsoft.com/office/powerpoint/2010/main" val="1844747023"/>
              </p:ext>
            </p:extLst>
          </p:nvPr>
        </p:nvGraphicFramePr>
        <p:xfrm>
          <a:off x="229401" y="1961793"/>
          <a:ext cx="2259586" cy="2483984"/>
        </p:xfrm>
        <a:graphic>
          <a:graphicData uri="http://schemas.openxmlformats.org/drawingml/2006/table">
            <a:tbl>
              <a:tblPr/>
              <a:tblGrid>
                <a:gridCol w="2259586">
                  <a:extLst>
                    <a:ext uri="{9D8B030D-6E8A-4147-A177-3AD203B41FA5}">
                      <a16:colId xmlns:a16="http://schemas.microsoft.com/office/drawing/2014/main" val="20000"/>
                    </a:ext>
                  </a:extLst>
                </a:gridCol>
              </a:tblGrid>
              <a:tr h="193298">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a:ln>
                            <a:noFill/>
                          </a:ln>
                          <a:solidFill>
                            <a:srgbClr val="F84018"/>
                          </a:solidFill>
                          <a:effectLst/>
                          <a:latin typeface="Arial" charset="0"/>
                        </a:rPr>
                        <a:t>INPUTS</a:t>
                      </a:r>
                      <a:r>
                        <a:rPr kumimoji="0" lang="en-US" sz="1000" b="1" i="0" u="sng" strike="noStrike" cap="none" normalizeH="0" baseline="0">
                          <a:ln>
                            <a:noFill/>
                          </a:ln>
                          <a:solidFill>
                            <a:srgbClr val="0000CC"/>
                          </a:solidFill>
                          <a:effectLst/>
                          <a:latin typeface="Arial" charset="0"/>
                        </a:rPr>
                        <a:t> </a:t>
                      </a:r>
                      <a:r>
                        <a:rPr kumimoji="0" lang="en-US" sz="1000" b="0" i="0" u="none" strike="noStrike" cap="none" normalizeH="0" baseline="0">
                          <a:ln>
                            <a:noFill/>
                          </a:ln>
                          <a:solidFill>
                            <a:schemeClr val="tx1"/>
                          </a:solidFill>
                          <a:effectLst/>
                          <a:latin typeface="Arial" charset="0"/>
                        </a:rPr>
                        <a:t>- Triggers process to start</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1886775">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r>
                        <a:rPr lang="en-US" sz="900" b="1" dirty="0"/>
                        <a:t>KIM</a:t>
                      </a:r>
                      <a:r>
                        <a:rPr lang="en-US" sz="900" dirty="0"/>
                        <a:t> – Known Issues Matrix</a:t>
                      </a:r>
                    </a:p>
                    <a:p>
                      <a:r>
                        <a:rPr lang="en-US" sz="900" b="1" dirty="0"/>
                        <a:t>QAM</a:t>
                      </a:r>
                      <a:r>
                        <a:rPr lang="en-US" sz="900" dirty="0"/>
                        <a:t> – Quality Assurance Matrix</a:t>
                      </a:r>
                    </a:p>
                    <a:p>
                      <a:r>
                        <a:rPr lang="en-US" sz="900" b="1" dirty="0"/>
                        <a:t>BOM</a:t>
                      </a:r>
                      <a:r>
                        <a:rPr lang="en-US" sz="900" dirty="0"/>
                        <a:t> – Bill of Materials</a:t>
                      </a:r>
                    </a:p>
                    <a:p>
                      <a:r>
                        <a:rPr lang="en-US" sz="900" b="1" dirty="0"/>
                        <a:t>DFMEA</a:t>
                      </a:r>
                      <a:r>
                        <a:rPr lang="en-US" sz="900" dirty="0"/>
                        <a:t> – Design Failure Mode and Effects Analysis</a:t>
                      </a:r>
                    </a:p>
                    <a:p>
                      <a:r>
                        <a:rPr lang="en-US" sz="900" b="1" dirty="0"/>
                        <a:t>Initial SOW</a:t>
                      </a:r>
                      <a:r>
                        <a:rPr lang="en-US" sz="900" dirty="0"/>
                        <a:t> – Statement of Work</a:t>
                      </a:r>
                    </a:p>
                    <a:p>
                      <a:r>
                        <a:rPr lang="en-US" sz="900" b="1" dirty="0"/>
                        <a:t>BOP</a:t>
                      </a:r>
                      <a:r>
                        <a:rPr lang="en-US" sz="900" dirty="0"/>
                        <a:t> – Bill of Process (if available)</a:t>
                      </a:r>
                    </a:p>
                    <a:p>
                      <a:r>
                        <a:rPr lang="en-US" sz="900" b="1" dirty="0"/>
                        <a:t>CSR</a:t>
                      </a:r>
                      <a:r>
                        <a:rPr lang="en-US" sz="900" dirty="0"/>
                        <a:t> – Customer Specific Requirements</a:t>
                      </a:r>
                    </a:p>
                    <a:p>
                      <a:r>
                        <a:rPr lang="en-US" sz="900" b="1" dirty="0"/>
                        <a:t>Product Drawing</a:t>
                      </a:r>
                      <a:r>
                        <a:rPr lang="en-US" sz="900" dirty="0"/>
                        <a:t> – Latest approved version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cap="none" normalizeH="0" baseline="0" dirty="0">
                          <a:ln>
                            <a:noFill/>
                          </a:ln>
                          <a:solidFill>
                            <a:schemeClr val="tx1"/>
                          </a:solidFill>
                          <a:effectLst/>
                          <a:latin typeface="Arial"/>
                        </a:rPr>
                        <a:t>Preliminary Process Flow </a:t>
                      </a:r>
                      <a:r>
                        <a:rPr kumimoji="0" lang="en-US" sz="900" b="0" i="0" u="none" strike="noStrike" cap="none" normalizeH="0" baseline="0" dirty="0">
                          <a:ln>
                            <a:noFill/>
                          </a:ln>
                          <a:solidFill>
                            <a:schemeClr val="tx1"/>
                          </a:solidFill>
                          <a:effectLst/>
                          <a:latin typeface="Arial"/>
                        </a:rPr>
                        <a:t>available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cap="none" normalizeH="0" baseline="0" dirty="0">
                          <a:ln>
                            <a:noFill/>
                          </a:ln>
                          <a:solidFill>
                            <a:schemeClr val="tx1"/>
                          </a:solidFill>
                          <a:effectLst/>
                          <a:latin typeface="Arial"/>
                        </a:rPr>
                        <a:t>FTQ (First Time Quality) target </a:t>
                      </a:r>
                      <a:r>
                        <a:rPr kumimoji="0" lang="en-US" sz="900" b="0" i="0" u="none" strike="noStrike" cap="none" normalizeH="0" baseline="0" dirty="0">
                          <a:ln>
                            <a:noFill/>
                          </a:ln>
                          <a:solidFill>
                            <a:schemeClr val="tx1"/>
                          </a:solidFill>
                          <a:effectLst/>
                          <a:latin typeface="Arial"/>
                        </a:rPr>
                        <a:t>defined for MQ1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cap="none" normalizeH="0" baseline="0" dirty="0">
                          <a:ln>
                            <a:noFill/>
                          </a:ln>
                          <a:solidFill>
                            <a:schemeClr val="tx1"/>
                          </a:solidFill>
                          <a:effectLst/>
                          <a:latin typeface="Arial"/>
                        </a:rPr>
                        <a:t>BIQ (Built in Quality) Leader </a:t>
                      </a:r>
                      <a:r>
                        <a:rPr kumimoji="0" lang="en-GB" sz="900" b="1" i="0" u="none" strike="noStrike" cap="none" normalizeH="0" baseline="0" dirty="0">
                          <a:ln>
                            <a:noFill/>
                          </a:ln>
                          <a:solidFill>
                            <a:schemeClr val="tx1">
                              <a:lumMod val="65000"/>
                              <a:lumOff val="35000"/>
                            </a:schemeClr>
                          </a:solidFill>
                          <a:effectLst/>
                          <a:latin typeface="Arial"/>
                        </a:rPr>
                        <a:t>– assigned to the project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cap="none" normalizeH="0" baseline="0" dirty="0">
                          <a:ln>
                            <a:noFill/>
                          </a:ln>
                          <a:solidFill>
                            <a:schemeClr val="tx1"/>
                          </a:solidFill>
                          <a:effectLst/>
                          <a:latin typeface="Arial"/>
                        </a:rPr>
                        <a:t>RASIC Chart – Q specific activities</a:t>
                      </a:r>
                      <a:endParaRPr kumimoji="0" lang="en-US" sz="900" b="0" i="0" u="none" strike="noStrike" cap="none" normalizeH="0" baseline="0" dirty="0">
                        <a:ln>
                          <a:noFill/>
                        </a:ln>
                        <a:solidFill>
                          <a:schemeClr val="tx1"/>
                        </a:solidFill>
                        <a:effectLst/>
                        <a:latin typeface="Arial"/>
                      </a:endParaRPr>
                    </a:p>
                  </a:txBody>
                  <a:tcPr marL="79960" marR="79960" marT="39209" marB="392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cxnSp>
        <p:nvCxnSpPr>
          <p:cNvPr id="25" name="Straight Arrow Connector 24"/>
          <p:cNvCxnSpPr>
            <a:cxnSpLocks/>
            <a:stCxn id="24" idx="3"/>
            <a:endCxn id="12" idx="3"/>
          </p:cNvCxnSpPr>
          <p:nvPr/>
        </p:nvCxnSpPr>
        <p:spPr>
          <a:xfrm>
            <a:off x="2488987" y="3203785"/>
            <a:ext cx="432343" cy="3508"/>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3827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688">
            <a:extLst>
              <a:ext uri="{FF2B5EF4-FFF2-40B4-BE49-F238E27FC236}">
                <a16:creationId xmlns:a16="http://schemas.microsoft.com/office/drawing/2014/main" id="{3FF83C5A-BFDE-5FAC-1B74-36175D0811D5}"/>
              </a:ext>
            </a:extLst>
          </p:cNvPr>
          <p:cNvGraphicFramePr>
            <a:graphicFrameLocks noGrp="1"/>
          </p:cNvGraphicFramePr>
          <p:nvPr>
            <p:extLst>
              <p:ext uri="{D42A27DB-BD31-4B8C-83A1-F6EECF244321}">
                <p14:modId xmlns:p14="http://schemas.microsoft.com/office/powerpoint/2010/main" val="1365106778"/>
              </p:ext>
            </p:extLst>
          </p:nvPr>
        </p:nvGraphicFramePr>
        <p:xfrm>
          <a:off x="389225" y="1105198"/>
          <a:ext cx="2266292" cy="1793357"/>
        </p:xfrm>
        <a:graphic>
          <a:graphicData uri="http://schemas.openxmlformats.org/drawingml/2006/table">
            <a:tbl>
              <a:tblPr/>
              <a:tblGrid>
                <a:gridCol w="470174">
                  <a:extLst>
                    <a:ext uri="{9D8B030D-6E8A-4147-A177-3AD203B41FA5}">
                      <a16:colId xmlns:a16="http://schemas.microsoft.com/office/drawing/2014/main" val="20000"/>
                    </a:ext>
                  </a:extLst>
                </a:gridCol>
                <a:gridCol w="1796118">
                  <a:extLst>
                    <a:ext uri="{9D8B030D-6E8A-4147-A177-3AD203B41FA5}">
                      <a16:colId xmlns:a16="http://schemas.microsoft.com/office/drawing/2014/main" val="20001"/>
                    </a:ext>
                  </a:extLst>
                </a:gridCol>
              </a:tblGrid>
              <a:tr h="234502">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000" b="0" i="0" u="none" strike="noStrike" kern="1200" cap="none" normalizeH="0" baseline="0" dirty="0">
                          <a:ln>
                            <a:noFill/>
                          </a:ln>
                          <a:solidFill>
                            <a:schemeClr val="tx1"/>
                          </a:solidFill>
                          <a:effectLst/>
                          <a:latin typeface="Arial"/>
                          <a:ea typeface="+mn-ea"/>
                          <a:cs typeface="+mn-cs"/>
                        </a:rPr>
                        <a:t>1a</a:t>
                      </a:r>
                      <a:endParaRPr kumimoji="0" lang="en-US" sz="1000" b="0" i="0" u="none" strike="noStrike" kern="1200" cap="none" normalizeH="0" baseline="0" dirty="0">
                        <a:ln>
                          <a:noFill/>
                        </a:ln>
                        <a:solidFill>
                          <a:schemeClr val="tx1"/>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(Built in Quality) Leader / Plant Quality </a:t>
                      </a:r>
                      <a:r>
                        <a:rPr lang="en-GB" sz="1000" b="1" i="0" u="none" strike="noStrike" cap="none" normalizeH="0" baseline="0" dirty="0">
                          <a:ln>
                            <a:noFill/>
                          </a:ln>
                          <a:solidFill>
                            <a:schemeClr val="tx1">
                              <a:lumMod val="65000"/>
                              <a:lumOff val="35000"/>
                            </a:schemeClr>
                          </a:solidFill>
                          <a:effectLst/>
                          <a:latin typeface="Arial"/>
                        </a:rPr>
                        <a:t>Engineer</a:t>
                      </a:r>
                      <a:endParaRPr kumimoji="0" lang="en-GB" sz="1000" b="1" i="0" u="none" strike="noStrike" cap="none" normalizeH="0" baseline="0" dirty="0">
                        <a:ln>
                          <a:noFill/>
                        </a:ln>
                        <a:solidFill>
                          <a:schemeClr val="tx1">
                            <a:lumMod val="65000"/>
                            <a:lumOff val="35000"/>
                          </a:schemeClr>
                        </a:solidFill>
                        <a:effectLst/>
                        <a:latin typeface="Arial"/>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7959">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lang="en-US" sz="1000" b="1" dirty="0">
                          <a:latin typeface="Arial" panose="020B0604020202020204" pitchFamily="34" charset="0"/>
                          <a:cs typeface="Arial" panose="020B0604020202020204" pitchFamily="34" charset="0"/>
                        </a:rPr>
                        <a:t>Program is assigned to the BIQ leader and BIQ leader creates a Known Issues Matrix (KIM)</a:t>
                      </a:r>
                      <a:r>
                        <a:rPr lang="en-US" sz="1000" dirty="0">
                          <a:latin typeface="Arial" panose="020B0604020202020204" pitchFamily="34" charset="0"/>
                          <a:cs typeface="Arial" panose="020B0604020202020204" pitchFamily="34" charset="0"/>
                        </a:rPr>
                        <a:t> by gathering data from similar products and programs using QSYS inputs, including Warranty claims, 0km issues, PORs, PCRs, and FFMs from global sources.</a:t>
                      </a:r>
                      <a:endParaRPr kumimoji="0" lang="pl-PL"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83523">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A – Inputs from current systems</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4" name="Group 688">
            <a:extLst>
              <a:ext uri="{FF2B5EF4-FFF2-40B4-BE49-F238E27FC236}">
                <a16:creationId xmlns:a16="http://schemas.microsoft.com/office/drawing/2014/main" id="{A689081F-994F-0965-9B19-8CD5B205A751}"/>
              </a:ext>
            </a:extLst>
          </p:cNvPr>
          <p:cNvGraphicFramePr>
            <a:graphicFrameLocks noGrp="1"/>
          </p:cNvGraphicFramePr>
          <p:nvPr>
            <p:extLst>
              <p:ext uri="{D42A27DB-BD31-4B8C-83A1-F6EECF244321}">
                <p14:modId xmlns:p14="http://schemas.microsoft.com/office/powerpoint/2010/main" val="2622663364"/>
              </p:ext>
            </p:extLst>
          </p:nvPr>
        </p:nvGraphicFramePr>
        <p:xfrm>
          <a:off x="3484932" y="1025141"/>
          <a:ext cx="2096959" cy="1371824"/>
        </p:xfrm>
        <a:graphic>
          <a:graphicData uri="http://schemas.openxmlformats.org/drawingml/2006/table">
            <a:tbl>
              <a:tblPr/>
              <a:tblGrid>
                <a:gridCol w="435044">
                  <a:extLst>
                    <a:ext uri="{9D8B030D-6E8A-4147-A177-3AD203B41FA5}">
                      <a16:colId xmlns:a16="http://schemas.microsoft.com/office/drawing/2014/main" val="20000"/>
                    </a:ext>
                  </a:extLst>
                </a:gridCol>
                <a:gridCol w="1661915">
                  <a:extLst>
                    <a:ext uri="{9D8B030D-6E8A-4147-A177-3AD203B41FA5}">
                      <a16:colId xmlns:a16="http://schemas.microsoft.com/office/drawing/2014/main" val="20001"/>
                    </a:ext>
                  </a:extLst>
                </a:gridCol>
              </a:tblGrid>
              <a:tr h="313241">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2</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with Product Engineer</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1970">
                <a:tc gridSpan="2">
                  <a: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000" b="1" dirty="0">
                          <a:latin typeface="Arial" panose="020B0604020202020204" pitchFamily="34" charset="0"/>
                          <a:cs typeface="Arial" panose="020B0604020202020204" pitchFamily="34" charset="0"/>
                        </a:rPr>
                        <a:t>Identify and document critical characteristics</a:t>
                      </a:r>
                      <a:r>
                        <a:rPr lang="en-US" sz="1000" dirty="0">
                          <a:latin typeface="Arial" panose="020B0604020202020204" pitchFamily="34" charset="0"/>
                          <a:cs typeface="Arial" panose="020B0604020202020204" pitchFamily="34" charset="0"/>
                        </a:rPr>
                        <a:t> within the Quality Assurance Matrix (QAM) to ensure proper controls and monitoring throughout the product lifecycle</a:t>
                      </a:r>
                      <a:r>
                        <a:rPr lang="en-US" sz="1000" dirty="0"/>
                        <a:t>.</a:t>
                      </a:r>
                      <a:endParaRPr kumimoji="0" lang="en-US" altLang="en-US" sz="1000" b="0" i="0" u="none" strike="sngStrike" kern="0" cap="none" spc="0" normalizeH="0" baseline="0" noProof="0" dirty="0">
                        <a:ln>
                          <a:noFill/>
                        </a:ln>
                        <a:solidFill>
                          <a:schemeClr val="tx1"/>
                        </a:solidFill>
                        <a:effectLst/>
                        <a:uLnTx/>
                        <a:uFillTx/>
                        <a:latin typeface="+mn-lt"/>
                        <a:ea typeface="+mn-ea"/>
                        <a:cs typeface="+mn-cs"/>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18171">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Product Drawing</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5" name="Group 688">
            <a:extLst>
              <a:ext uri="{FF2B5EF4-FFF2-40B4-BE49-F238E27FC236}">
                <a16:creationId xmlns:a16="http://schemas.microsoft.com/office/drawing/2014/main" id="{F3A9506F-738E-3F41-C732-31F4E9B82AE2}"/>
              </a:ext>
            </a:extLst>
          </p:cNvPr>
          <p:cNvGraphicFramePr>
            <a:graphicFrameLocks noGrp="1"/>
          </p:cNvGraphicFramePr>
          <p:nvPr>
            <p:extLst>
              <p:ext uri="{D42A27DB-BD31-4B8C-83A1-F6EECF244321}">
                <p14:modId xmlns:p14="http://schemas.microsoft.com/office/powerpoint/2010/main" val="3555992328"/>
              </p:ext>
            </p:extLst>
          </p:nvPr>
        </p:nvGraphicFramePr>
        <p:xfrm>
          <a:off x="3507164" y="3513731"/>
          <a:ext cx="2096958" cy="1063868"/>
        </p:xfrm>
        <a:graphic>
          <a:graphicData uri="http://schemas.openxmlformats.org/drawingml/2006/table">
            <a:tbl>
              <a:tblPr/>
              <a:tblGrid>
                <a:gridCol w="435044">
                  <a:extLst>
                    <a:ext uri="{9D8B030D-6E8A-4147-A177-3AD203B41FA5}">
                      <a16:colId xmlns:a16="http://schemas.microsoft.com/office/drawing/2014/main" val="20000"/>
                    </a:ext>
                  </a:extLst>
                </a:gridCol>
                <a:gridCol w="1661914">
                  <a:extLst>
                    <a:ext uri="{9D8B030D-6E8A-4147-A177-3AD203B41FA5}">
                      <a16:colId xmlns:a16="http://schemas.microsoft.com/office/drawing/2014/main" val="20001"/>
                    </a:ext>
                  </a:extLst>
                </a:gridCol>
              </a:tblGrid>
              <a:tr h="333719">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000" b="0" i="0" u="none" strike="noStrike" kern="1200" cap="none" normalizeH="0" baseline="0" dirty="0">
                          <a:ln>
                            <a:noFill/>
                          </a:ln>
                          <a:solidFill>
                            <a:schemeClr val="tx1"/>
                          </a:solidFill>
                          <a:effectLst/>
                          <a:latin typeface="Arial"/>
                          <a:ea typeface="+mn-ea"/>
                          <a:cs typeface="+mn-cs"/>
                        </a:rPr>
                        <a:t>4</a:t>
                      </a:r>
                      <a:endParaRPr kumimoji="0" lang="en-US" sz="1000" b="0" i="0" u="none" strike="noStrike" kern="1200" cap="none" normalizeH="0" baseline="0" dirty="0">
                        <a:ln>
                          <a:noFill/>
                        </a:ln>
                        <a:solidFill>
                          <a:schemeClr val="tx1"/>
                        </a:solidFill>
                        <a:effectLst/>
                        <a:latin typeface="Arial"/>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w/ Product Eng &amp; Manufacturing Eng</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7843">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Confirm that the equipment will have the capability to prevent quality issues </a:t>
                      </a:r>
                      <a:endParaRPr kumimoji="0" lang="en-US" altLang="en-US" sz="1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94537">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DFM inputs and QAM review</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9" name="Group 688">
            <a:extLst>
              <a:ext uri="{FF2B5EF4-FFF2-40B4-BE49-F238E27FC236}">
                <a16:creationId xmlns:a16="http://schemas.microsoft.com/office/drawing/2014/main" id="{6997EC89-23C2-1F66-2810-7345B8B6D871}"/>
              </a:ext>
            </a:extLst>
          </p:cNvPr>
          <p:cNvGraphicFramePr>
            <a:graphicFrameLocks noGrp="1"/>
          </p:cNvGraphicFramePr>
          <p:nvPr>
            <p:extLst>
              <p:ext uri="{D42A27DB-BD31-4B8C-83A1-F6EECF244321}">
                <p14:modId xmlns:p14="http://schemas.microsoft.com/office/powerpoint/2010/main" val="2792676775"/>
              </p:ext>
            </p:extLst>
          </p:nvPr>
        </p:nvGraphicFramePr>
        <p:xfrm>
          <a:off x="3484932" y="5254256"/>
          <a:ext cx="1977310" cy="1073841"/>
        </p:xfrm>
        <a:graphic>
          <a:graphicData uri="http://schemas.openxmlformats.org/drawingml/2006/table">
            <a:tbl>
              <a:tblPr/>
              <a:tblGrid>
                <a:gridCol w="410221">
                  <a:extLst>
                    <a:ext uri="{9D8B030D-6E8A-4147-A177-3AD203B41FA5}">
                      <a16:colId xmlns:a16="http://schemas.microsoft.com/office/drawing/2014/main" val="20000"/>
                    </a:ext>
                  </a:extLst>
                </a:gridCol>
                <a:gridCol w="1567089">
                  <a:extLst>
                    <a:ext uri="{9D8B030D-6E8A-4147-A177-3AD203B41FA5}">
                      <a16:colId xmlns:a16="http://schemas.microsoft.com/office/drawing/2014/main" val="20001"/>
                    </a:ext>
                  </a:extLst>
                </a:gridCol>
              </a:tblGrid>
              <a:tr h="29448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000" b="0" i="0" u="none" strike="noStrike" kern="1200" cap="none" normalizeH="0" baseline="0" dirty="0">
                          <a:ln>
                            <a:noFill/>
                          </a:ln>
                          <a:solidFill>
                            <a:schemeClr val="tx1"/>
                          </a:solidFill>
                          <a:effectLst/>
                          <a:latin typeface="Arial"/>
                          <a:ea typeface="+mn-ea"/>
                          <a:cs typeface="+mn-cs"/>
                        </a:rPr>
                        <a:t>6</a:t>
                      </a:r>
                      <a:endParaRPr kumimoji="0" lang="en-US" sz="1000" b="0" i="0" u="none" strike="noStrike" kern="1200" cap="none" normalizeH="0" baseline="0" dirty="0">
                        <a:ln>
                          <a:noFill/>
                        </a:ln>
                        <a:solidFill>
                          <a:schemeClr val="tx1"/>
                        </a:solidFill>
                        <a:effectLst/>
                        <a:latin typeface="Arial"/>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with Manufacturing Eng</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6515">
                <a:tc gridSpan="2">
                  <a:txBody>
                    <a:bodyPr/>
                    <a:lstStyle/>
                    <a:p>
                      <a:pPr marL="0" marR="0" lvl="0" indent="0" algn="ctr" eaLnBrk="0" fontAlgn="base" latinLnBrk="0" hangingPunct="0">
                        <a:lnSpc>
                          <a:spcPct val="100000"/>
                        </a:lnSpc>
                        <a:spcBef>
                          <a:spcPct val="0"/>
                        </a:spcBef>
                        <a:spcAft>
                          <a:spcPct val="0"/>
                        </a:spcAft>
                        <a:buClrTx/>
                        <a:buSzTx/>
                        <a:buFontTx/>
                        <a:buNone/>
                      </a:pPr>
                      <a:r>
                        <a:rPr lang="en-US" sz="1000" b="1" dirty="0">
                          <a:latin typeface="Arial" panose="020B0604020202020204" pitchFamily="34" charset="0"/>
                          <a:cs typeface="Arial" panose="020B0604020202020204" pitchFamily="34" charset="0"/>
                        </a:rPr>
                        <a:t>Conduct MQ1 assessment from the BIQ perspective.</a:t>
                      </a:r>
                      <a:endParaRPr kumimoji="0" lang="en-US" altLang="en-US" sz="1000" b="1" i="0" u="none" strike="sng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5104">
                <a:tc gridSpan="2">
                  <a:txBody>
                    <a:bodyPr/>
                    <a:lstStyle/>
                    <a:p>
                      <a:pPr marL="0" marR="0" lvl="0" indent="0" algn="l" rtl="0" eaLnBrk="1" fontAlgn="base" latinLnBrk="0" hangingPunct="1">
                        <a:lnSpc>
                          <a:spcPct val="87000"/>
                        </a:lnSpc>
                        <a:spcBef>
                          <a:spcPct val="30000"/>
                        </a:spcBef>
                        <a:spcAft>
                          <a:spcPct val="0"/>
                        </a:spcAft>
                        <a:buClr>
                          <a:schemeClr val="tx1"/>
                        </a:buClr>
                        <a:buSzTx/>
                        <a:buFont typeface="Monotype Sorts" pitchFamily="2" charset="2"/>
                        <a:buNone/>
                      </a:pPr>
                      <a:r>
                        <a:rPr lang="en-US" sz="1000" b="0" i="1" u="none" strike="noStrike" cap="none" normalizeH="0" baseline="0" dirty="0">
                          <a:ln>
                            <a:noFill/>
                          </a:ln>
                          <a:solidFill>
                            <a:schemeClr val="tx1">
                              <a:lumMod val="65000"/>
                              <a:lumOff val="35000"/>
                            </a:schemeClr>
                          </a:solidFill>
                          <a:effectLst/>
                          <a:latin typeface="Arial"/>
                        </a:rPr>
                        <a:t>QAM and KIM with SOW</a:t>
                      </a:r>
                      <a:endParaRPr kumimoji="0" lang="en-US" sz="1000" b="0" i="1" u="none" strike="noStrike" cap="none" normalizeH="0" baseline="0" dirty="0">
                        <a:ln>
                          <a:noFill/>
                        </a:ln>
                        <a:solidFill>
                          <a:schemeClr val="tx1">
                            <a:lumMod val="65000"/>
                            <a:lumOff val="35000"/>
                          </a:schemeClr>
                        </a:solidFill>
                        <a:effectLst/>
                        <a:latin typeface="Arial"/>
                      </a:endParaRP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10" name="Group 688">
            <a:extLst>
              <a:ext uri="{FF2B5EF4-FFF2-40B4-BE49-F238E27FC236}">
                <a16:creationId xmlns:a16="http://schemas.microsoft.com/office/drawing/2014/main" id="{2BCA08CA-8D28-5C87-3CC2-1D460E52BAD4}"/>
              </a:ext>
            </a:extLst>
          </p:cNvPr>
          <p:cNvGraphicFramePr>
            <a:graphicFrameLocks noGrp="1"/>
          </p:cNvGraphicFramePr>
          <p:nvPr>
            <p:extLst>
              <p:ext uri="{D42A27DB-BD31-4B8C-83A1-F6EECF244321}">
                <p14:modId xmlns:p14="http://schemas.microsoft.com/office/powerpoint/2010/main" val="3793789565"/>
              </p:ext>
            </p:extLst>
          </p:nvPr>
        </p:nvGraphicFramePr>
        <p:xfrm>
          <a:off x="6122220" y="3141195"/>
          <a:ext cx="1977310" cy="2119738"/>
        </p:xfrm>
        <a:graphic>
          <a:graphicData uri="http://schemas.openxmlformats.org/drawingml/2006/table">
            <a:tbl>
              <a:tblPr/>
              <a:tblGrid>
                <a:gridCol w="410221">
                  <a:extLst>
                    <a:ext uri="{9D8B030D-6E8A-4147-A177-3AD203B41FA5}">
                      <a16:colId xmlns:a16="http://schemas.microsoft.com/office/drawing/2014/main" val="20000"/>
                    </a:ext>
                  </a:extLst>
                </a:gridCol>
                <a:gridCol w="1567089">
                  <a:extLst>
                    <a:ext uri="{9D8B030D-6E8A-4147-A177-3AD203B41FA5}">
                      <a16:colId xmlns:a16="http://schemas.microsoft.com/office/drawing/2014/main" val="20001"/>
                    </a:ext>
                  </a:extLst>
                </a:gridCol>
              </a:tblGrid>
              <a:tr h="29448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000" b="0" i="0" u="none" strike="noStrike" kern="1200" cap="none" normalizeH="0" baseline="0" dirty="0">
                          <a:ln>
                            <a:noFill/>
                          </a:ln>
                          <a:solidFill>
                            <a:schemeClr val="tx1"/>
                          </a:solidFill>
                          <a:effectLst/>
                          <a:latin typeface="Arial"/>
                          <a:ea typeface="+mn-ea"/>
                          <a:cs typeface="+mn-cs"/>
                        </a:rPr>
                        <a:t>5</a:t>
                      </a:r>
                      <a:endParaRPr kumimoji="0" lang="en-US" sz="1000" b="0" i="0" u="none" strike="noStrike" kern="1200" cap="none" normalizeH="0" baseline="0" dirty="0">
                        <a:ln>
                          <a:noFill/>
                        </a:ln>
                        <a:solidFill>
                          <a:schemeClr val="tx1"/>
                        </a:solidFill>
                        <a:effectLst/>
                        <a:latin typeface="Arial"/>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with Manufacturing Eng</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651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lang="en-US" altLang="en-US" sz="1000" b="1" kern="0" dirty="0">
                          <a:solidFill>
                            <a:srgbClr val="000000"/>
                          </a:solidFill>
                          <a:latin typeface="Arial" panose="020B0604020202020204" pitchFamily="34" charset="0"/>
                          <a:ea typeface="+mn-ea"/>
                          <a:cs typeface="Arial" panose="020B0604020202020204" pitchFamily="34" charset="0"/>
                        </a:rPr>
                        <a:t>Ensure alignment between the Statement of Work (SOW), Quality Assurance Matrix </a:t>
                      </a:r>
                      <a:r>
                        <a:rPr lang="en-US" altLang="en-US" sz="1000" b="0" kern="0" dirty="0">
                          <a:solidFill>
                            <a:srgbClr val="000000"/>
                          </a:solidFill>
                          <a:latin typeface="Arial" panose="020B0604020202020204" pitchFamily="34" charset="0"/>
                          <a:ea typeface="+mn-ea"/>
                          <a:cs typeface="Arial" panose="020B0604020202020204" pitchFamily="34" charset="0"/>
                        </a:rPr>
                        <a:t>(QAM), and the Error-Proofing/Poka-Yoke, Measurement Devices or Gauges List to guarantee consistent definition of requirements and effective risk mitigation. </a:t>
                      </a:r>
                      <a:r>
                        <a:rPr lang="en-US" altLang="en-US" sz="1000" b="1" kern="0" dirty="0">
                          <a:solidFill>
                            <a:srgbClr val="000000"/>
                          </a:solidFill>
                          <a:latin typeface="Arial" panose="020B0604020202020204" pitchFamily="34" charset="0"/>
                          <a:ea typeface="+mn-ea"/>
                          <a:cs typeface="Arial" panose="020B0604020202020204" pitchFamily="34" charset="0"/>
                        </a:rPr>
                        <a:t>Update APQP Dashboard.</a:t>
                      </a:r>
                      <a:endParaRPr kumimoji="0" lang="pl-PL" altLang="en-US" sz="10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5104">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Drawing and preliminary SOW</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11" name="Connector: Elbow 10">
            <a:extLst>
              <a:ext uri="{FF2B5EF4-FFF2-40B4-BE49-F238E27FC236}">
                <a16:creationId xmlns:a16="http://schemas.microsoft.com/office/drawing/2014/main" id="{92F546A7-37CA-A717-A030-76A3D84B47B6}"/>
              </a:ext>
            </a:extLst>
          </p:cNvPr>
          <p:cNvCxnSpPr>
            <a:cxnSpLocks/>
            <a:stCxn id="2" idx="3"/>
            <a:endCxn id="4" idx="1"/>
          </p:cNvCxnSpPr>
          <p:nvPr/>
        </p:nvCxnSpPr>
        <p:spPr bwMode="auto">
          <a:xfrm flipV="1">
            <a:off x="2655517" y="1711053"/>
            <a:ext cx="829415" cy="290823"/>
          </a:xfrm>
          <a:prstGeom prst="bentConnector3">
            <a:avLst>
              <a:gd name="adj1" fmla="val 50000"/>
            </a:avLst>
          </a:prstGeom>
          <a:solidFill>
            <a:schemeClr val="bg1"/>
          </a:solidFill>
          <a:ln w="12700" cap="flat" cmpd="sng" algn="ctr">
            <a:solidFill>
              <a:schemeClr val="tx1"/>
            </a:solidFill>
            <a:prstDash val="solid"/>
            <a:round/>
            <a:headEnd type="none" w="med" len="med"/>
            <a:tailEnd type="triangle"/>
          </a:ln>
          <a:effectLst/>
        </p:spPr>
      </p:cxnSp>
      <p:cxnSp>
        <p:nvCxnSpPr>
          <p:cNvPr id="34" name="Connector: Elbow 33">
            <a:extLst>
              <a:ext uri="{FF2B5EF4-FFF2-40B4-BE49-F238E27FC236}">
                <a16:creationId xmlns:a16="http://schemas.microsoft.com/office/drawing/2014/main" id="{B39A04A6-86B6-1B3E-816F-EC40E05E1F3A}"/>
              </a:ext>
            </a:extLst>
          </p:cNvPr>
          <p:cNvCxnSpPr>
            <a:cxnSpLocks/>
            <a:stCxn id="5" idx="1"/>
            <a:endCxn id="9" idx="1"/>
          </p:cNvCxnSpPr>
          <p:nvPr/>
        </p:nvCxnSpPr>
        <p:spPr>
          <a:xfrm rot="10800000" flipV="1">
            <a:off x="3484932" y="4045664"/>
            <a:ext cx="22232" cy="1745511"/>
          </a:xfrm>
          <a:prstGeom prst="bentConnector3">
            <a:avLst>
              <a:gd name="adj1" fmla="val 1128248"/>
            </a:avLst>
          </a:prstGeom>
          <a:ln w="12700">
            <a:tailEnd type="triangle"/>
          </a:ln>
        </p:spPr>
        <p:style>
          <a:lnRef idx="1">
            <a:schemeClr val="dk1"/>
          </a:lnRef>
          <a:fillRef idx="0">
            <a:schemeClr val="dk1"/>
          </a:fillRef>
          <a:effectRef idx="0">
            <a:schemeClr val="dk1"/>
          </a:effectRef>
          <a:fontRef idx="minor">
            <a:schemeClr val="tx1"/>
          </a:fontRef>
        </p:style>
      </p:cxnSp>
      <p:cxnSp>
        <p:nvCxnSpPr>
          <p:cNvPr id="38" name="Connector: Elbow 37">
            <a:extLst>
              <a:ext uri="{FF2B5EF4-FFF2-40B4-BE49-F238E27FC236}">
                <a16:creationId xmlns:a16="http://schemas.microsoft.com/office/drawing/2014/main" id="{0C757079-E1DD-DA07-4005-1B4C6EC281C7}"/>
              </a:ext>
            </a:extLst>
          </p:cNvPr>
          <p:cNvCxnSpPr>
            <a:cxnSpLocks/>
            <a:stCxn id="10" idx="1"/>
            <a:endCxn id="5" idx="3"/>
          </p:cNvCxnSpPr>
          <p:nvPr/>
        </p:nvCxnSpPr>
        <p:spPr>
          <a:xfrm rot="10800000">
            <a:off x="5604122" y="4045666"/>
            <a:ext cx="518098" cy="155399"/>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F249D1AF-BEE5-A40C-3357-EF7E57C0A30F}"/>
              </a:ext>
            </a:extLst>
          </p:cNvPr>
          <p:cNvCxnSpPr>
            <a:cxnSpLocks/>
          </p:cNvCxnSpPr>
          <p:nvPr/>
        </p:nvCxnSpPr>
        <p:spPr>
          <a:xfrm>
            <a:off x="5464206" y="5808137"/>
            <a:ext cx="48135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6" name="Oval 45">
            <a:extLst>
              <a:ext uri="{FF2B5EF4-FFF2-40B4-BE49-F238E27FC236}">
                <a16:creationId xmlns:a16="http://schemas.microsoft.com/office/drawing/2014/main" id="{6A61F51B-4FC9-A8C0-1A66-2067860C34DD}"/>
              </a:ext>
            </a:extLst>
          </p:cNvPr>
          <p:cNvSpPr/>
          <p:nvPr/>
        </p:nvSpPr>
        <p:spPr>
          <a:xfrm>
            <a:off x="5945563" y="5506295"/>
            <a:ext cx="692769" cy="580489"/>
          </a:xfrm>
          <a:prstGeom prst="ellipse">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latin typeface="Arial" panose="020B0604020202020204" pitchFamily="34" charset="0"/>
                <a:cs typeface="Arial" panose="020B0604020202020204" pitchFamily="34" charset="0"/>
              </a:rPr>
              <a:t>7</a:t>
            </a:r>
          </a:p>
        </p:txBody>
      </p:sp>
      <p:cxnSp>
        <p:nvCxnSpPr>
          <p:cNvPr id="12" name="Connector: Elbow 11">
            <a:extLst>
              <a:ext uri="{FF2B5EF4-FFF2-40B4-BE49-F238E27FC236}">
                <a16:creationId xmlns:a16="http://schemas.microsoft.com/office/drawing/2014/main" id="{CAFE0E66-FA68-B740-FD0A-A8485EB3A2BC}"/>
              </a:ext>
            </a:extLst>
          </p:cNvPr>
          <p:cNvCxnSpPr>
            <a:cxnSpLocks/>
            <a:stCxn id="4" idx="3"/>
            <a:endCxn id="6" idx="1"/>
          </p:cNvCxnSpPr>
          <p:nvPr/>
        </p:nvCxnSpPr>
        <p:spPr>
          <a:xfrm flipV="1">
            <a:off x="5581891" y="1707368"/>
            <a:ext cx="480950" cy="368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15">
            <a:extLst>
              <a:ext uri="{FF2B5EF4-FFF2-40B4-BE49-F238E27FC236}">
                <a16:creationId xmlns:a16="http://schemas.microsoft.com/office/drawing/2014/main" id="{8D4D67EF-EA73-FA6D-2E39-B3A2628E4590}"/>
              </a:ext>
            </a:extLst>
          </p:cNvPr>
          <p:cNvGraphicFramePr>
            <a:graphicFrameLocks noGrp="1"/>
          </p:cNvGraphicFramePr>
          <p:nvPr>
            <p:extLst>
              <p:ext uri="{D42A27DB-BD31-4B8C-83A1-F6EECF244321}">
                <p14:modId xmlns:p14="http://schemas.microsoft.com/office/powerpoint/2010/main" val="3480254721"/>
              </p:ext>
            </p:extLst>
          </p:nvPr>
        </p:nvGraphicFramePr>
        <p:xfrm>
          <a:off x="404191" y="3215176"/>
          <a:ext cx="2251326" cy="1630985"/>
        </p:xfrm>
        <a:graphic>
          <a:graphicData uri="http://schemas.openxmlformats.org/drawingml/2006/table">
            <a:tbl>
              <a:tblPr firstRow="1" bandRow="1">
                <a:tableStyleId>{68D230F3-CF80-4859-8CE7-A43EE81993B5}</a:tableStyleId>
              </a:tblPr>
              <a:tblGrid>
                <a:gridCol w="460736">
                  <a:extLst>
                    <a:ext uri="{9D8B030D-6E8A-4147-A177-3AD203B41FA5}">
                      <a16:colId xmlns:a16="http://schemas.microsoft.com/office/drawing/2014/main" val="163375660"/>
                    </a:ext>
                  </a:extLst>
                </a:gridCol>
                <a:gridCol w="1790590">
                  <a:extLst>
                    <a:ext uri="{9D8B030D-6E8A-4147-A177-3AD203B41FA5}">
                      <a16:colId xmlns:a16="http://schemas.microsoft.com/office/drawing/2014/main" val="94888020"/>
                    </a:ext>
                  </a:extLst>
                </a:gridCol>
              </a:tblGrid>
              <a:tr h="285750">
                <a:tc>
                  <a:txBody>
                    <a:bodyPr/>
                    <a:lstStyle/>
                    <a:p>
                      <a:pPr algn="ctr" fontAlgn="base">
                        <a:lnSpc>
                          <a:spcPts val="1050"/>
                        </a:lnSpc>
                        <a:buNone/>
                      </a:pPr>
                      <a:r>
                        <a:rPr lang="en-US" sz="1000" dirty="0">
                          <a:solidFill>
                            <a:schemeClr val="tx1"/>
                          </a:solidFill>
                          <a:effectLst/>
                        </a:rPr>
                        <a:t>1b</a:t>
                      </a: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fontAlgn="base">
                        <a:lnSpc>
                          <a:spcPts val="1200"/>
                        </a:lnSpc>
                        <a:buNone/>
                      </a:pPr>
                      <a:endParaRPr lang="en-US" dirty="0">
                        <a:effectLst/>
                      </a:endParaRPr>
                    </a:p>
                  </a:txBody>
                  <a:tcPr marL="39976" marT="23517" marB="23517"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13118353"/>
                  </a:ext>
                </a:extLst>
              </a:tr>
              <a:tr h="552450">
                <a:tc gridSpan="2">
                  <a:txBody>
                    <a:bodyPr/>
                    <a:lstStyle/>
                    <a:p>
                      <a:r>
                        <a:rPr lang="en-US" sz="1000" b="1" dirty="0">
                          <a:latin typeface="Arial" panose="020B0604020202020204" pitchFamily="34" charset="0"/>
                          <a:cs typeface="Arial" panose="020B0604020202020204" pitchFamily="34" charset="0"/>
                        </a:rPr>
                        <a:t>Identify Customer Specific Requirements (CSR)</a:t>
                      </a:r>
                      <a:r>
                        <a:rPr lang="en-US" sz="1000" dirty="0">
                          <a:latin typeface="Arial" panose="020B0604020202020204" pitchFamily="34" charset="0"/>
                          <a:cs typeface="Arial" panose="020B0604020202020204" pitchFamily="34" charset="0"/>
                        </a:rPr>
                        <a:t> to ensure applicable requirements  ,specifications, expectations, and compliance obligations are captured and integrated into the project deliverables.</a:t>
                      </a:r>
                    </a:p>
                  </a:txBody>
                  <a:tcPr marL="39976" marR="39976" marT="39205" marB="39205">
                    <a:lnL w="12700">
                      <a:solidFill>
                        <a:schemeClr val="tx1"/>
                      </a:solidFill>
                    </a:lnL>
                    <a:lnR w="12700">
                      <a:solidFill>
                        <a:schemeClr val="tx1"/>
                      </a:solidFill>
                    </a:lnR>
                    <a:lnT w="12700">
                      <a:solidFill>
                        <a:schemeClr val="tx1"/>
                      </a:solidFill>
                    </a:lnT>
                    <a:lnB w="12700">
                      <a:solidFill>
                        <a:schemeClr val="tx1"/>
                      </a:solidFill>
                    </a:lnB>
                    <a:noFill/>
                  </a:tcPr>
                </a:tc>
                <a:tc hMerge="1">
                  <a:txBody>
                    <a:bodyPr/>
                    <a:lstStyle/>
                    <a:p>
                      <a:endParaRPr lang="en-US"/>
                    </a:p>
                  </a:txBody>
                  <a:tcPr marL="0" marR="0" marT="0" marB="0" horzOverflow="overflow"/>
                </a:tc>
                <a:extLst>
                  <a:ext uri="{0D108BD9-81ED-4DB2-BD59-A6C34878D82A}">
                    <a16:rowId xmlns:a16="http://schemas.microsoft.com/office/drawing/2014/main" val="2141312822"/>
                  </a:ext>
                </a:extLst>
              </a:tr>
              <a:tr h="200025">
                <a:tc gridSpan="2">
                  <a:txBody>
                    <a:bodyPr/>
                    <a:lstStyle/>
                    <a:p>
                      <a:pPr fontAlgn="base">
                        <a:lnSpc>
                          <a:spcPts val="1050"/>
                        </a:lnSpc>
                        <a:buNone/>
                      </a:pPr>
                      <a:r>
                        <a:rPr lang="en-US" sz="1000" dirty="0">
                          <a:solidFill>
                            <a:srgbClr val="595959"/>
                          </a:solidFill>
                          <a:effectLst/>
                        </a:rPr>
                        <a:t>A / Part Drawing / DFMEA</a:t>
                      </a:r>
                      <a:endParaRPr lang="en-US" dirty="0">
                        <a:effectLst/>
                      </a:endParaRPr>
                    </a:p>
                  </a:txBody>
                  <a:tcPr marL="39976" marR="39976" marT="23517" marB="23517"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endParaRPr lang="en-US"/>
                    </a:p>
                  </a:txBody>
                  <a:tcPr marL="0" marR="0" marT="0" marB="0" horzOverflow="overflow"/>
                </a:tc>
                <a:extLst>
                  <a:ext uri="{0D108BD9-81ED-4DB2-BD59-A6C34878D82A}">
                    <a16:rowId xmlns:a16="http://schemas.microsoft.com/office/drawing/2014/main" val="2871554572"/>
                  </a:ext>
                </a:extLst>
              </a:tr>
            </a:tbl>
          </a:graphicData>
        </a:graphic>
      </p:graphicFrame>
      <p:cxnSp>
        <p:nvCxnSpPr>
          <p:cNvPr id="17" name="Connector: Elbow 16">
            <a:extLst>
              <a:ext uri="{FF2B5EF4-FFF2-40B4-BE49-F238E27FC236}">
                <a16:creationId xmlns:a16="http://schemas.microsoft.com/office/drawing/2014/main" id="{5C233D6E-7B21-B975-4304-A6C5BD7F5C66}"/>
              </a:ext>
            </a:extLst>
          </p:cNvPr>
          <p:cNvCxnSpPr>
            <a:cxnSpLocks/>
            <a:stCxn id="16" idx="3"/>
            <a:endCxn id="4" idx="1"/>
          </p:cNvCxnSpPr>
          <p:nvPr/>
        </p:nvCxnSpPr>
        <p:spPr>
          <a:xfrm flipV="1">
            <a:off x="2655517" y="1711053"/>
            <a:ext cx="829415" cy="231961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Group 688">
            <a:extLst>
              <a:ext uri="{FF2B5EF4-FFF2-40B4-BE49-F238E27FC236}">
                <a16:creationId xmlns:a16="http://schemas.microsoft.com/office/drawing/2014/main" id="{5EA181E4-6BDC-D299-8CBD-A255E047B81A}"/>
              </a:ext>
            </a:extLst>
          </p:cNvPr>
          <p:cNvGraphicFramePr>
            <a:graphicFrameLocks noGrp="1"/>
          </p:cNvGraphicFramePr>
          <p:nvPr>
            <p:extLst>
              <p:ext uri="{D42A27DB-BD31-4B8C-83A1-F6EECF244321}">
                <p14:modId xmlns:p14="http://schemas.microsoft.com/office/powerpoint/2010/main" val="1079567846"/>
              </p:ext>
            </p:extLst>
          </p:nvPr>
        </p:nvGraphicFramePr>
        <p:xfrm>
          <a:off x="6062841" y="792856"/>
          <a:ext cx="2096959" cy="1829024"/>
        </p:xfrm>
        <a:graphic>
          <a:graphicData uri="http://schemas.openxmlformats.org/drawingml/2006/table">
            <a:tbl>
              <a:tblPr/>
              <a:tblGrid>
                <a:gridCol w="435044">
                  <a:extLst>
                    <a:ext uri="{9D8B030D-6E8A-4147-A177-3AD203B41FA5}">
                      <a16:colId xmlns:a16="http://schemas.microsoft.com/office/drawing/2014/main" val="20000"/>
                    </a:ext>
                  </a:extLst>
                </a:gridCol>
                <a:gridCol w="1661915">
                  <a:extLst>
                    <a:ext uri="{9D8B030D-6E8A-4147-A177-3AD203B41FA5}">
                      <a16:colId xmlns:a16="http://schemas.microsoft.com/office/drawing/2014/main" val="20001"/>
                    </a:ext>
                  </a:extLst>
                </a:gridCol>
              </a:tblGrid>
              <a:tr h="313241">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3</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w/ Product Eng &amp; Manufacturing Eng</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1970">
                <a:tc gridSpan="2">
                  <a:txBody>
                    <a:bodyPr/>
                    <a:lstStyle/>
                    <a:p>
                      <a:pPr marL="0" marR="0" lvl="0" indent="0" algn="ctr" eaLnBrk="1" fontAlgn="ctr" latinLnBrk="0" hangingPunct="1">
                        <a:lnSpc>
                          <a:spcPct val="100000"/>
                        </a:lnSpc>
                        <a:spcBef>
                          <a:spcPct val="0"/>
                        </a:spcBef>
                        <a:spcAft>
                          <a:spcPct val="0"/>
                        </a:spcAft>
                        <a:buClrTx/>
                        <a:buSzTx/>
                        <a:buFontTx/>
                        <a:buNone/>
                      </a:pPr>
                      <a:r>
                        <a:rPr lang="en-US" altLang="en-US" sz="1000" b="1"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Review KPCs, QCIs, PSDs, and Fit/Function (FF) characteristics</a:t>
                      </a:r>
                      <a:r>
                        <a:rPr lang="en-US" altLang="en-US" sz="100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a:t>
                      </a:r>
                      <a:r>
                        <a:rPr lang="en-US" altLang="en-US" sz="1000" b="1"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verify tolerances and confirm measurement capability </a:t>
                      </a:r>
                      <a:r>
                        <a:rPr lang="en-US" altLang="en-US" sz="100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by assessing whether existing equipment can effectively measure and comply with product specifications.</a:t>
                      </a:r>
                      <a:endParaRPr kumimoji="0" lang="en-US" altLang="en-US" sz="100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18171">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Product Drawing</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25" name="Connector: Elbow 24">
            <a:extLst>
              <a:ext uri="{FF2B5EF4-FFF2-40B4-BE49-F238E27FC236}">
                <a16:creationId xmlns:a16="http://schemas.microsoft.com/office/drawing/2014/main" id="{D3BD1133-FA14-80FE-8621-DD360A7D12BE}"/>
              </a:ext>
            </a:extLst>
          </p:cNvPr>
          <p:cNvCxnSpPr>
            <a:cxnSpLocks/>
            <a:stCxn id="6" idx="2"/>
            <a:endCxn id="10" idx="0"/>
          </p:cNvCxnSpPr>
          <p:nvPr/>
        </p:nvCxnSpPr>
        <p:spPr>
          <a:xfrm rot="5400000">
            <a:off x="6851441" y="2881315"/>
            <a:ext cx="519315" cy="445"/>
          </a:xfrm>
          <a:prstGeom prst="bent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04504EE4-73F0-6EF8-7488-923BE84C4788}"/>
              </a:ext>
            </a:extLst>
          </p:cNvPr>
          <p:cNvSpPr txBox="1"/>
          <p:nvPr/>
        </p:nvSpPr>
        <p:spPr>
          <a:xfrm>
            <a:off x="787373" y="3234101"/>
            <a:ext cx="1072730" cy="253916"/>
          </a:xfrm>
          <a:prstGeom prst="rect">
            <a:avLst/>
          </a:prstGeom>
          <a:noFill/>
        </p:spPr>
        <p:txBody>
          <a:bodyPr wrap="none" rtlCol="0">
            <a:spAutoFit/>
          </a:bodyPr>
          <a:lstStyle/>
          <a:p>
            <a:r>
              <a:rPr kumimoji="0" lang="en-GB" sz="1050" b="1" i="0" u="none" strike="noStrike" cap="none" normalizeH="0" baseline="0" dirty="0">
                <a:ln>
                  <a:noFill/>
                </a:ln>
                <a:solidFill>
                  <a:schemeClr val="tx1">
                    <a:lumMod val="65000"/>
                    <a:lumOff val="35000"/>
                  </a:schemeClr>
                </a:solidFill>
                <a:effectLst/>
                <a:latin typeface="Arial"/>
              </a:rPr>
              <a:t>BIQ Engineer </a:t>
            </a:r>
          </a:p>
        </p:txBody>
      </p:sp>
    </p:spTree>
    <p:extLst>
      <p:ext uri="{BB962C8B-B14F-4D97-AF65-F5344CB8AC3E}">
        <p14:creationId xmlns:p14="http://schemas.microsoft.com/office/powerpoint/2010/main" val="3136849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6C95C8C-8B62-1D62-1BFE-C7CF61A80507}"/>
              </a:ext>
            </a:extLst>
          </p:cNvPr>
          <p:cNvGraphicFramePr>
            <a:graphicFrameLocks noGrp="1"/>
          </p:cNvGraphicFramePr>
          <p:nvPr>
            <p:extLst>
              <p:ext uri="{D42A27DB-BD31-4B8C-83A1-F6EECF244321}">
                <p14:modId xmlns:p14="http://schemas.microsoft.com/office/powerpoint/2010/main" val="3928233094"/>
              </p:ext>
            </p:extLst>
          </p:nvPr>
        </p:nvGraphicFramePr>
        <p:xfrm>
          <a:off x="453956" y="956764"/>
          <a:ext cx="1593112" cy="1882105"/>
        </p:xfrm>
        <a:graphic>
          <a:graphicData uri="http://schemas.openxmlformats.org/drawingml/2006/table">
            <a:tbl>
              <a:tblPr/>
              <a:tblGrid>
                <a:gridCol w="330514">
                  <a:extLst>
                    <a:ext uri="{9D8B030D-6E8A-4147-A177-3AD203B41FA5}">
                      <a16:colId xmlns:a16="http://schemas.microsoft.com/office/drawing/2014/main" val="143343084"/>
                    </a:ext>
                  </a:extLst>
                </a:gridCol>
                <a:gridCol w="1262598">
                  <a:extLst>
                    <a:ext uri="{9D8B030D-6E8A-4147-A177-3AD203B41FA5}">
                      <a16:colId xmlns:a16="http://schemas.microsoft.com/office/drawing/2014/main" val="1993259413"/>
                    </a:ext>
                  </a:extLst>
                </a:gridCol>
              </a:tblGrid>
              <a:tr h="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1000" b="0" i="0" u="none" strike="noStrike" kern="1200" cap="none" normalizeH="0" baseline="0" dirty="0">
                          <a:ln>
                            <a:noFill/>
                          </a:ln>
                          <a:solidFill>
                            <a:schemeClr val="tx1"/>
                          </a:solidFill>
                          <a:effectLst/>
                          <a:latin typeface="Arial" charset="0"/>
                          <a:ea typeface="+mn-ea"/>
                          <a:cs typeface="+mn-cs"/>
                        </a:rPr>
                        <a:t>7</a:t>
                      </a:r>
                      <a:endParaRPr kumimoji="0" lang="en-GB" sz="1000" b="0" i="0" u="none" strike="noStrike" kern="1200" cap="none" normalizeH="0" baseline="0" dirty="0">
                        <a:ln>
                          <a:noFill/>
                        </a:ln>
                        <a:solidFill>
                          <a:schemeClr val="tx1"/>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charset="0"/>
                        </a:rPr>
                        <a:t>BIQ Leader</a:t>
                      </a:r>
                      <a:endParaRPr kumimoji="0" lang="en-US" sz="1000" b="1" i="0" u="none" strike="noStrike" cap="none" normalizeH="0" baseline="0" dirty="0">
                        <a:ln>
                          <a:noFill/>
                        </a:ln>
                        <a:solidFill>
                          <a:schemeClr val="tx1">
                            <a:lumMod val="65000"/>
                            <a:lumOff val="35000"/>
                          </a:schemeClr>
                        </a:solidFill>
                        <a:effectLst/>
                        <a:latin typeface="Arial" charset="0"/>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5630028"/>
                  </a:ext>
                </a:extLst>
              </a:tr>
              <a:tr h="30538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2680697570"/>
                  </a:ext>
                </a:extLst>
              </a:tr>
              <a:tr h="243315">
                <a:tc gridSpan="2">
                  <a:txBody>
                    <a:bodyPr/>
                    <a:lstStyle/>
                    <a:p>
                      <a:pPr marL="0" marR="0" lvl="0" indent="0" algn="l" rtl="0" eaLnBrk="1" fontAlgn="base" latinLnBrk="0" hangingPunct="1">
                        <a:lnSpc>
                          <a:spcPct val="87000"/>
                        </a:lnSpc>
                        <a:spcBef>
                          <a:spcPct val="30000"/>
                        </a:spcBef>
                        <a:spcAft>
                          <a:spcPct val="0"/>
                        </a:spcAft>
                        <a:buClr>
                          <a:schemeClr val="tx1"/>
                        </a:buClr>
                        <a:buSzTx/>
                        <a:buFont typeface="Monotype Sorts" pitchFamily="2" charset="2"/>
                        <a:buNone/>
                      </a:pPr>
                      <a:endParaRPr kumimoji="0" lang="en-US" sz="1000" b="0" i="1" u="none" strike="noStrike" cap="none" normalizeH="0" baseline="0" dirty="0">
                        <a:ln>
                          <a:noFill/>
                        </a:ln>
                        <a:solidFill>
                          <a:schemeClr val="tx1">
                            <a:lumMod val="65000"/>
                            <a:lumOff val="35000"/>
                          </a:schemeClr>
                        </a:solidFill>
                        <a:effectLst/>
                        <a:highlight>
                          <a:srgbClr val="FFFF00"/>
                        </a:highlight>
                        <a:latin typeface="Arial"/>
                      </a:endParaRP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3333023383"/>
                  </a:ext>
                </a:extLst>
              </a:tr>
            </a:tbl>
          </a:graphicData>
        </a:graphic>
      </p:graphicFrame>
      <p:sp>
        <p:nvSpPr>
          <p:cNvPr id="3" name="AutoShape 133">
            <a:extLst>
              <a:ext uri="{FF2B5EF4-FFF2-40B4-BE49-F238E27FC236}">
                <a16:creationId xmlns:a16="http://schemas.microsoft.com/office/drawing/2014/main" id="{7CEF54D5-7AF6-9541-723E-32F5620770CF}"/>
              </a:ext>
            </a:extLst>
          </p:cNvPr>
          <p:cNvSpPr>
            <a:spLocks noChangeArrowheads="1"/>
          </p:cNvSpPr>
          <p:nvPr/>
        </p:nvSpPr>
        <p:spPr bwMode="auto">
          <a:xfrm>
            <a:off x="453955" y="1140423"/>
            <a:ext cx="1574629" cy="1467138"/>
          </a:xfrm>
          <a:prstGeom prst="diamond">
            <a:avLst/>
          </a:prstGeom>
          <a:solidFill>
            <a:srgbClr val="FFFFCC"/>
          </a:solidFill>
          <a:ln w="12700">
            <a:solidFill>
              <a:schemeClr val="tx1"/>
            </a:solidFill>
            <a:miter lim="800000"/>
            <a:headEnd/>
            <a:tailEnd/>
          </a:ln>
        </p:spPr>
        <p:txBody>
          <a:bodyPr wrap="square" lIns="45720" tIns="45695" rIns="45720" bIns="45695" anchor="t">
            <a:normAutofit fontScale="92500"/>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ltLang="en-US" sz="700" b="1" dirty="0">
                <a:solidFill>
                  <a:srgbClr val="000000"/>
                </a:solidFill>
                <a:latin typeface="Arial" pitchFamily="34" charset="0"/>
              </a:rPr>
              <a:t>Is process capable to prevent and detect quality issues including critical characteristics</a:t>
            </a:r>
          </a:p>
        </p:txBody>
      </p:sp>
      <p:sp>
        <p:nvSpPr>
          <p:cNvPr id="4" name="TextBox 16">
            <a:extLst>
              <a:ext uri="{FF2B5EF4-FFF2-40B4-BE49-F238E27FC236}">
                <a16:creationId xmlns:a16="http://schemas.microsoft.com/office/drawing/2014/main" id="{8BF72DB3-E3E5-BB19-3CAD-0B72C5D6D20F}"/>
              </a:ext>
            </a:extLst>
          </p:cNvPr>
          <p:cNvSpPr txBox="1">
            <a:spLocks noChangeArrowheads="1"/>
          </p:cNvSpPr>
          <p:nvPr/>
        </p:nvSpPr>
        <p:spPr bwMode="auto">
          <a:xfrm>
            <a:off x="911156" y="2852982"/>
            <a:ext cx="45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000">
                <a:solidFill>
                  <a:srgbClr val="000000"/>
                </a:solidFill>
                <a:latin typeface="Arial" pitchFamily="34" charset="0"/>
              </a:rPr>
              <a:t>No</a:t>
            </a:r>
          </a:p>
        </p:txBody>
      </p:sp>
      <p:sp>
        <p:nvSpPr>
          <p:cNvPr id="5" name="TextBox 19">
            <a:extLst>
              <a:ext uri="{FF2B5EF4-FFF2-40B4-BE49-F238E27FC236}">
                <a16:creationId xmlns:a16="http://schemas.microsoft.com/office/drawing/2014/main" id="{8EE69836-F709-D1CE-5328-D7651046E33F}"/>
              </a:ext>
            </a:extLst>
          </p:cNvPr>
          <p:cNvSpPr txBox="1">
            <a:spLocks noChangeArrowheads="1"/>
          </p:cNvSpPr>
          <p:nvPr/>
        </p:nvSpPr>
        <p:spPr bwMode="auto">
          <a:xfrm>
            <a:off x="2057543" y="1651753"/>
            <a:ext cx="45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000">
                <a:solidFill>
                  <a:srgbClr val="000000"/>
                </a:solidFill>
                <a:latin typeface="Arial" pitchFamily="34" charset="0"/>
              </a:rPr>
              <a:t>Yes</a:t>
            </a:r>
          </a:p>
        </p:txBody>
      </p:sp>
      <p:cxnSp>
        <p:nvCxnSpPr>
          <p:cNvPr id="6" name="Connector: Elbow 5">
            <a:extLst>
              <a:ext uri="{FF2B5EF4-FFF2-40B4-BE49-F238E27FC236}">
                <a16:creationId xmlns:a16="http://schemas.microsoft.com/office/drawing/2014/main" id="{1A2702D0-BA13-8E22-5A26-CF255F4409C8}"/>
              </a:ext>
            </a:extLst>
          </p:cNvPr>
          <p:cNvCxnSpPr>
            <a:cxnSpLocks/>
            <a:stCxn id="2" idx="2"/>
          </p:cNvCxnSpPr>
          <p:nvPr/>
        </p:nvCxnSpPr>
        <p:spPr>
          <a:xfrm rot="16200000" flipH="1">
            <a:off x="1665051" y="2424329"/>
            <a:ext cx="435154" cy="1264233"/>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13">
            <a:extLst>
              <a:ext uri="{FF2B5EF4-FFF2-40B4-BE49-F238E27FC236}">
                <a16:creationId xmlns:a16="http://schemas.microsoft.com/office/drawing/2014/main" id="{8B8C3F3B-5416-8D17-7CD4-2D3360D63481}"/>
              </a:ext>
            </a:extLst>
          </p:cNvPr>
          <p:cNvCxnSpPr>
            <a:cxnSpLocks noChangeShapeType="1"/>
            <a:stCxn id="2" idx="3"/>
          </p:cNvCxnSpPr>
          <p:nvPr/>
        </p:nvCxnSpPr>
        <p:spPr bwMode="auto">
          <a:xfrm flipV="1">
            <a:off x="2047068" y="1892961"/>
            <a:ext cx="982448" cy="4855"/>
          </a:xfrm>
          <a:prstGeom prst="straightConnector1">
            <a:avLst/>
          </a:prstGeom>
          <a:noFill/>
          <a:ln w="12700"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9" name="Group 688">
            <a:extLst>
              <a:ext uri="{FF2B5EF4-FFF2-40B4-BE49-F238E27FC236}">
                <a16:creationId xmlns:a16="http://schemas.microsoft.com/office/drawing/2014/main" id="{30F95469-EFC1-BAD2-04F9-37F864B32AF1}"/>
              </a:ext>
            </a:extLst>
          </p:cNvPr>
          <p:cNvGraphicFramePr>
            <a:graphicFrameLocks noGrp="1"/>
          </p:cNvGraphicFramePr>
          <p:nvPr>
            <p:extLst>
              <p:ext uri="{D42A27DB-BD31-4B8C-83A1-F6EECF244321}">
                <p14:modId xmlns:p14="http://schemas.microsoft.com/office/powerpoint/2010/main" val="1107797453"/>
              </p:ext>
            </p:extLst>
          </p:nvPr>
        </p:nvGraphicFramePr>
        <p:xfrm>
          <a:off x="3048000" y="1317259"/>
          <a:ext cx="2057400" cy="1056099"/>
        </p:xfrm>
        <a:graphic>
          <a:graphicData uri="http://schemas.openxmlformats.org/drawingml/2006/table">
            <a:tbl>
              <a:tblPr/>
              <a:tblGrid>
                <a:gridCol w="426837">
                  <a:extLst>
                    <a:ext uri="{9D8B030D-6E8A-4147-A177-3AD203B41FA5}">
                      <a16:colId xmlns:a16="http://schemas.microsoft.com/office/drawing/2014/main" val="20000"/>
                    </a:ext>
                  </a:extLst>
                </a:gridCol>
                <a:gridCol w="1630563">
                  <a:extLst>
                    <a:ext uri="{9D8B030D-6E8A-4147-A177-3AD203B41FA5}">
                      <a16:colId xmlns:a16="http://schemas.microsoft.com/office/drawing/2014/main" val="20001"/>
                    </a:ext>
                  </a:extLst>
                </a:gridCol>
              </a:tblGrid>
              <a:tr h="29448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8a</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651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Approve MQ1 </a:t>
                      </a:r>
                      <a:r>
                        <a:rPr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from</a:t>
                      </a:r>
                      <a:r>
                        <a:rPr kumimoji="0"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BIQ perspective</a:t>
                      </a:r>
                      <a:endParaRPr kumimoji="0" lang="pl-PL" altLang="en-US" sz="1000" b="0"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5104">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MQ1 Event</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10" name="Group 688">
            <a:extLst>
              <a:ext uri="{FF2B5EF4-FFF2-40B4-BE49-F238E27FC236}">
                <a16:creationId xmlns:a16="http://schemas.microsoft.com/office/drawing/2014/main" id="{557B19F8-C5CB-69A1-B3AA-A5E341724B03}"/>
              </a:ext>
            </a:extLst>
          </p:cNvPr>
          <p:cNvGraphicFramePr>
            <a:graphicFrameLocks noGrp="1"/>
          </p:cNvGraphicFramePr>
          <p:nvPr>
            <p:extLst>
              <p:ext uri="{D42A27DB-BD31-4B8C-83A1-F6EECF244321}">
                <p14:modId xmlns:p14="http://schemas.microsoft.com/office/powerpoint/2010/main" val="1739323083"/>
              </p:ext>
            </p:extLst>
          </p:nvPr>
        </p:nvGraphicFramePr>
        <p:xfrm>
          <a:off x="2535337" y="2555151"/>
          <a:ext cx="2057400" cy="1339996"/>
        </p:xfrm>
        <a:graphic>
          <a:graphicData uri="http://schemas.openxmlformats.org/drawingml/2006/table">
            <a:tbl>
              <a:tblPr/>
              <a:tblGrid>
                <a:gridCol w="426837">
                  <a:extLst>
                    <a:ext uri="{9D8B030D-6E8A-4147-A177-3AD203B41FA5}">
                      <a16:colId xmlns:a16="http://schemas.microsoft.com/office/drawing/2014/main" val="20000"/>
                    </a:ext>
                  </a:extLst>
                </a:gridCol>
                <a:gridCol w="1630563">
                  <a:extLst>
                    <a:ext uri="{9D8B030D-6E8A-4147-A177-3AD203B41FA5}">
                      <a16:colId xmlns:a16="http://schemas.microsoft.com/office/drawing/2014/main" val="20001"/>
                    </a:ext>
                  </a:extLst>
                </a:gridCol>
              </a:tblGrid>
              <a:tr h="29448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8b</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651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lang="en-US" sz="1000" b="1" dirty="0">
                          <a:latin typeface="Arial" panose="020B0604020202020204" pitchFamily="34" charset="0"/>
                          <a:cs typeface="Arial" panose="020B0604020202020204" pitchFamily="34" charset="0"/>
                        </a:rPr>
                        <a:t>Document the improvement plan in the KIM, monitor ME and Supplier  and update APQP Dashboard </a:t>
                      </a:r>
                      <a:r>
                        <a:rPr lang="en-US" sz="1000" dirty="0">
                          <a:latin typeface="Arial" panose="020B0604020202020204" pitchFamily="34" charset="0"/>
                          <a:cs typeface="Arial" panose="020B0604020202020204" pitchFamily="34" charset="0"/>
                        </a:rPr>
                        <a:t>until closure, and then proceed to Step # 9</a:t>
                      </a:r>
                      <a:endParaRPr kumimoji="0" lang="pl-PL" altLang="en-US"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5104">
                <a:tc gridSpan="2">
                  <a:txBody>
                    <a:bodyPr/>
                    <a:lstStyle/>
                    <a:p>
                      <a:pPr marL="0" marR="0" lvl="0" indent="0" algn="l" rtl="0" eaLnBrk="1" fontAlgn="base" latinLnBrk="0" hangingPunct="1">
                        <a:lnSpc>
                          <a:spcPct val="87000"/>
                        </a:lnSpc>
                        <a:spcBef>
                          <a:spcPct val="30000"/>
                        </a:spcBef>
                        <a:spcAft>
                          <a:spcPct val="0"/>
                        </a:spcAft>
                        <a:buClr>
                          <a:schemeClr val="tx1"/>
                        </a:buClr>
                        <a:buSzTx/>
                        <a:buFont typeface="Monotype Sorts" pitchFamily="2" charset="2"/>
                        <a:buNone/>
                      </a:pPr>
                      <a:r>
                        <a:rPr kumimoji="0" lang="en-US" sz="1000" b="0" i="1" u="none" strike="noStrike" cap="none" normalizeH="0" baseline="0" dirty="0">
                          <a:ln>
                            <a:noFill/>
                          </a:ln>
                          <a:solidFill>
                            <a:schemeClr val="tx1">
                              <a:lumMod val="65000"/>
                              <a:lumOff val="35000"/>
                            </a:schemeClr>
                          </a:solidFill>
                          <a:effectLst/>
                          <a:latin typeface="Arial"/>
                        </a:rPr>
                        <a:t>MQ1 Event</a:t>
                      </a:r>
                      <a:endParaRPr lang="en-US" sz="1000" b="0" i="1" u="none" strike="noStrike" cap="none" normalizeH="0" baseline="0" dirty="0">
                        <a:ln>
                          <a:noFill/>
                        </a:ln>
                        <a:solidFill>
                          <a:schemeClr val="tx1">
                            <a:lumMod val="65000"/>
                            <a:lumOff val="35000"/>
                          </a:schemeClr>
                        </a:solidFill>
                        <a:effectLst/>
                        <a:latin typeface="Arial"/>
                      </a:endParaRP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11" name="Connector: Elbow 10">
            <a:extLst>
              <a:ext uri="{FF2B5EF4-FFF2-40B4-BE49-F238E27FC236}">
                <a16:creationId xmlns:a16="http://schemas.microsoft.com/office/drawing/2014/main" id="{8470A64E-D30D-E9B2-2FF0-C9B69C388720}"/>
              </a:ext>
            </a:extLst>
          </p:cNvPr>
          <p:cNvCxnSpPr>
            <a:cxnSpLocks/>
            <a:stCxn id="9" idx="3"/>
            <a:endCxn id="12" idx="1"/>
          </p:cNvCxnSpPr>
          <p:nvPr/>
        </p:nvCxnSpPr>
        <p:spPr bwMode="auto">
          <a:xfrm>
            <a:off x="5105400" y="1845308"/>
            <a:ext cx="586251" cy="12700"/>
          </a:xfrm>
          <a:prstGeom prst="bentConnector3">
            <a:avLst>
              <a:gd name="adj1" fmla="val 50000"/>
            </a:avLst>
          </a:prstGeom>
          <a:solidFill>
            <a:schemeClr val="bg1"/>
          </a:solidFill>
          <a:ln w="12700" cap="flat" cmpd="sng" algn="ctr">
            <a:solidFill>
              <a:schemeClr val="tx1"/>
            </a:solidFill>
            <a:prstDash val="solid"/>
            <a:round/>
            <a:headEnd type="none" w="med" len="med"/>
            <a:tailEnd type="triangle"/>
          </a:ln>
          <a:effectLst/>
        </p:spPr>
      </p:cxnSp>
      <p:graphicFrame>
        <p:nvGraphicFramePr>
          <p:cNvPr id="12" name="Group 688">
            <a:extLst>
              <a:ext uri="{FF2B5EF4-FFF2-40B4-BE49-F238E27FC236}">
                <a16:creationId xmlns:a16="http://schemas.microsoft.com/office/drawing/2014/main" id="{F7E6BBE0-2EDE-D852-20AD-64311ABEC4C3}"/>
              </a:ext>
            </a:extLst>
          </p:cNvPr>
          <p:cNvGraphicFramePr>
            <a:graphicFrameLocks noGrp="1"/>
          </p:cNvGraphicFramePr>
          <p:nvPr>
            <p:extLst>
              <p:ext uri="{D42A27DB-BD31-4B8C-83A1-F6EECF244321}">
                <p14:modId xmlns:p14="http://schemas.microsoft.com/office/powerpoint/2010/main" val="1209407649"/>
              </p:ext>
            </p:extLst>
          </p:nvPr>
        </p:nvGraphicFramePr>
        <p:xfrm>
          <a:off x="5691651" y="1176345"/>
          <a:ext cx="2057400" cy="1337926"/>
        </p:xfrm>
        <a:graphic>
          <a:graphicData uri="http://schemas.openxmlformats.org/drawingml/2006/table">
            <a:tbl>
              <a:tblPr/>
              <a:tblGrid>
                <a:gridCol w="426837">
                  <a:extLst>
                    <a:ext uri="{9D8B030D-6E8A-4147-A177-3AD203B41FA5}">
                      <a16:colId xmlns:a16="http://schemas.microsoft.com/office/drawing/2014/main" val="20000"/>
                    </a:ext>
                  </a:extLst>
                </a:gridCol>
                <a:gridCol w="1630563">
                  <a:extLst>
                    <a:ext uri="{9D8B030D-6E8A-4147-A177-3AD203B41FA5}">
                      <a16:colId xmlns:a16="http://schemas.microsoft.com/office/drawing/2014/main" val="20001"/>
                    </a:ext>
                  </a:extLst>
                </a:gridCol>
              </a:tblGrid>
              <a:tr h="29448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9</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Manufacturing or Industrial Engineering w/ BIQ leader</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651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Document  PFMEA </a:t>
                      </a:r>
                      <a:r>
                        <a:rPr kumimoji="0"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by focusing on critical characteristics, potential failure modes, and associated process controls.</a:t>
                      </a:r>
                      <a:endParaRPr kumimoji="0" lang="pl-PL" altLang="en-US" sz="1000" b="0"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5104">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PFMEA Workshop with ME</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13" name="Group 688">
            <a:extLst>
              <a:ext uri="{FF2B5EF4-FFF2-40B4-BE49-F238E27FC236}">
                <a16:creationId xmlns:a16="http://schemas.microsoft.com/office/drawing/2014/main" id="{3D0A92DB-5A03-DAA2-05C6-739A718695CB}"/>
              </a:ext>
            </a:extLst>
          </p:cNvPr>
          <p:cNvGraphicFramePr>
            <a:graphicFrameLocks noGrp="1"/>
          </p:cNvGraphicFramePr>
          <p:nvPr>
            <p:extLst>
              <p:ext uri="{D42A27DB-BD31-4B8C-83A1-F6EECF244321}">
                <p14:modId xmlns:p14="http://schemas.microsoft.com/office/powerpoint/2010/main" val="1406894489"/>
              </p:ext>
            </p:extLst>
          </p:nvPr>
        </p:nvGraphicFramePr>
        <p:xfrm>
          <a:off x="5720367" y="2949060"/>
          <a:ext cx="2057400" cy="1073841"/>
        </p:xfrm>
        <a:graphic>
          <a:graphicData uri="http://schemas.openxmlformats.org/drawingml/2006/table">
            <a:tbl>
              <a:tblPr/>
              <a:tblGrid>
                <a:gridCol w="426837">
                  <a:extLst>
                    <a:ext uri="{9D8B030D-6E8A-4147-A177-3AD203B41FA5}">
                      <a16:colId xmlns:a16="http://schemas.microsoft.com/office/drawing/2014/main" val="20000"/>
                    </a:ext>
                  </a:extLst>
                </a:gridCol>
                <a:gridCol w="1630563">
                  <a:extLst>
                    <a:ext uri="{9D8B030D-6E8A-4147-A177-3AD203B41FA5}">
                      <a16:colId xmlns:a16="http://schemas.microsoft.com/office/drawing/2014/main" val="20001"/>
                    </a:ext>
                  </a:extLst>
                </a:gridCol>
              </a:tblGrid>
              <a:tr h="29448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10</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 Quality Manager of the Plant</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6515">
                <a:tc gridSpan="2">
                  <a:txBody>
                    <a:bodyPr/>
                    <a:lstStyle/>
                    <a:p>
                      <a:pPr marL="0" marR="0" lvl="0" indent="0" algn="ctr" eaLnBrk="1" fontAlgn="ctr" latinLnBrk="0" hangingPunct="1">
                        <a:lnSpc>
                          <a:spcPct val="100000"/>
                        </a:lnSpc>
                        <a:spcBef>
                          <a:spcPct val="0"/>
                        </a:spcBef>
                        <a:spcAft>
                          <a:spcPct val="0"/>
                        </a:spcAft>
                        <a:buClrTx/>
                        <a:buSzTx/>
                        <a:buFontTx/>
                        <a:buNone/>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Perform MQ2 revision from BIQ perspective</a:t>
                      </a:r>
                      <a:r>
                        <a:rPr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&amp; Approve MQ2 </a:t>
                      </a:r>
                      <a:r>
                        <a:rPr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by  Plant Quality </a:t>
                      </a:r>
                      <a:r>
                        <a:rPr lang="en-US" altLang="en-US" sz="1000" b="0" i="0" u="none" strike="noStrike" kern="0" cap="none" spc="0" normalizeH="0" baseline="0" noProof="0" dirty="0" err="1">
                          <a:ln>
                            <a:noFill/>
                          </a:ln>
                          <a:solidFill>
                            <a:schemeClr val="tx1"/>
                          </a:solidFill>
                          <a:effectLst/>
                          <a:uLnTx/>
                          <a:uFillTx/>
                          <a:latin typeface="Arial" panose="020B0604020202020204" pitchFamily="34" charset="0"/>
                          <a:ea typeface="+mn-ea"/>
                          <a:cs typeface="Arial" panose="020B0604020202020204" pitchFamily="34" charset="0"/>
                        </a:rPr>
                        <a:t>Mgr</a:t>
                      </a:r>
                      <a:r>
                        <a:rPr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a:t>
                      </a:r>
                      <a:endParaRPr kumimoji="0" lang="pl-PL" altLang="en-US" sz="1000" b="0"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5104">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MQ checklist </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14" name="Connector: Elbow 13">
            <a:extLst>
              <a:ext uri="{FF2B5EF4-FFF2-40B4-BE49-F238E27FC236}">
                <a16:creationId xmlns:a16="http://schemas.microsoft.com/office/drawing/2014/main" id="{82D4F345-1CBF-A865-4633-CD3F6014B34B}"/>
              </a:ext>
            </a:extLst>
          </p:cNvPr>
          <p:cNvCxnSpPr>
            <a:cxnSpLocks/>
            <a:stCxn id="12" idx="3"/>
            <a:endCxn id="13" idx="3"/>
          </p:cNvCxnSpPr>
          <p:nvPr/>
        </p:nvCxnSpPr>
        <p:spPr>
          <a:xfrm>
            <a:off x="7749051" y="1845308"/>
            <a:ext cx="28716" cy="1640672"/>
          </a:xfrm>
          <a:prstGeom prst="bentConnector3">
            <a:avLst>
              <a:gd name="adj1" fmla="val 896072"/>
            </a:avLst>
          </a:prstGeom>
          <a:ln w="12700">
            <a:tailEnd type="triangle"/>
          </a:ln>
        </p:spPr>
        <p:style>
          <a:lnRef idx="1">
            <a:schemeClr val="dk1"/>
          </a:lnRef>
          <a:fillRef idx="0">
            <a:schemeClr val="dk1"/>
          </a:fillRef>
          <a:effectRef idx="0">
            <a:schemeClr val="dk1"/>
          </a:effectRef>
          <a:fontRef idx="minor">
            <a:schemeClr val="tx1"/>
          </a:fontRef>
        </p:style>
      </p:cxnSp>
      <p:sp>
        <p:nvSpPr>
          <p:cNvPr id="26" name="AutoShape 133">
            <a:extLst>
              <a:ext uri="{FF2B5EF4-FFF2-40B4-BE49-F238E27FC236}">
                <a16:creationId xmlns:a16="http://schemas.microsoft.com/office/drawing/2014/main" id="{8F502D84-9E48-2160-9651-0EA4663F2887}"/>
              </a:ext>
            </a:extLst>
          </p:cNvPr>
          <p:cNvSpPr>
            <a:spLocks noChangeArrowheads="1"/>
          </p:cNvSpPr>
          <p:nvPr/>
        </p:nvSpPr>
        <p:spPr bwMode="auto">
          <a:xfrm>
            <a:off x="1121342" y="4422063"/>
            <a:ext cx="1574629" cy="1467138"/>
          </a:xfrm>
          <a:prstGeom prst="diamond">
            <a:avLst/>
          </a:prstGeom>
          <a:solidFill>
            <a:srgbClr val="FFFFCC"/>
          </a:solidFill>
          <a:ln w="12700">
            <a:solidFill>
              <a:schemeClr val="tx1"/>
            </a:solidFill>
            <a:miter lim="800000"/>
            <a:headEnd/>
            <a:tailEnd/>
          </a:ln>
        </p:spPr>
        <p:txBody>
          <a:bodyPr wrap="square" lIns="45720" tIns="45695" rIns="45720" bIns="45695" anchor="t">
            <a:normAutofit fontScale="92500"/>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ltLang="en-US" sz="700" b="1">
                <a:solidFill>
                  <a:srgbClr val="000000"/>
                </a:solidFill>
                <a:latin typeface="Arial" pitchFamily="34" charset="0"/>
              </a:rPr>
              <a:t>Is process capable to prevent and detect quality issues including critical characteristics</a:t>
            </a:r>
          </a:p>
        </p:txBody>
      </p:sp>
      <p:sp>
        <p:nvSpPr>
          <p:cNvPr id="27" name="TextBox 16">
            <a:extLst>
              <a:ext uri="{FF2B5EF4-FFF2-40B4-BE49-F238E27FC236}">
                <a16:creationId xmlns:a16="http://schemas.microsoft.com/office/drawing/2014/main" id="{9D883F2F-F70D-75D5-7A09-FB55419E97D5}"/>
              </a:ext>
            </a:extLst>
          </p:cNvPr>
          <p:cNvSpPr txBox="1">
            <a:spLocks noChangeArrowheads="1"/>
          </p:cNvSpPr>
          <p:nvPr/>
        </p:nvSpPr>
        <p:spPr bwMode="auto">
          <a:xfrm>
            <a:off x="1571384" y="6106353"/>
            <a:ext cx="45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000">
                <a:solidFill>
                  <a:srgbClr val="000000"/>
                </a:solidFill>
                <a:latin typeface="Arial" pitchFamily="34" charset="0"/>
              </a:rPr>
              <a:t>No</a:t>
            </a:r>
          </a:p>
        </p:txBody>
      </p:sp>
      <p:sp>
        <p:nvSpPr>
          <p:cNvPr id="28" name="TextBox 19">
            <a:extLst>
              <a:ext uri="{FF2B5EF4-FFF2-40B4-BE49-F238E27FC236}">
                <a16:creationId xmlns:a16="http://schemas.microsoft.com/office/drawing/2014/main" id="{5DFFD3B4-62B2-DFF5-3747-69340158EE87}"/>
              </a:ext>
            </a:extLst>
          </p:cNvPr>
          <p:cNvSpPr txBox="1">
            <a:spLocks noChangeArrowheads="1"/>
          </p:cNvSpPr>
          <p:nvPr/>
        </p:nvSpPr>
        <p:spPr bwMode="auto">
          <a:xfrm>
            <a:off x="2721685" y="4473616"/>
            <a:ext cx="45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000">
                <a:solidFill>
                  <a:srgbClr val="000000"/>
                </a:solidFill>
                <a:latin typeface="Arial" pitchFamily="34" charset="0"/>
              </a:rPr>
              <a:t>Yes</a:t>
            </a:r>
          </a:p>
        </p:txBody>
      </p:sp>
      <p:cxnSp>
        <p:nvCxnSpPr>
          <p:cNvPr id="29" name="Connector: Elbow 28">
            <a:extLst>
              <a:ext uri="{FF2B5EF4-FFF2-40B4-BE49-F238E27FC236}">
                <a16:creationId xmlns:a16="http://schemas.microsoft.com/office/drawing/2014/main" id="{9074ED4B-89DB-4556-26DD-E8A64163C184}"/>
              </a:ext>
            </a:extLst>
          </p:cNvPr>
          <p:cNvCxnSpPr>
            <a:cxnSpLocks/>
            <a:stCxn id="27" idx="2"/>
            <a:endCxn id="35" idx="1"/>
          </p:cNvCxnSpPr>
          <p:nvPr/>
        </p:nvCxnSpPr>
        <p:spPr>
          <a:xfrm rot="5400000" flipH="1" flipV="1">
            <a:off x="2557183" y="5190228"/>
            <a:ext cx="404989" cy="1919388"/>
          </a:xfrm>
          <a:prstGeom prst="bentConnector4">
            <a:avLst>
              <a:gd name="adj1" fmla="val -56446"/>
              <a:gd name="adj2" fmla="val 55955"/>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13">
            <a:extLst>
              <a:ext uri="{FF2B5EF4-FFF2-40B4-BE49-F238E27FC236}">
                <a16:creationId xmlns:a16="http://schemas.microsoft.com/office/drawing/2014/main" id="{DCE92FEC-D846-A019-9AE3-8ECE1253888B}"/>
              </a:ext>
            </a:extLst>
          </p:cNvPr>
          <p:cNvCxnSpPr>
            <a:cxnSpLocks noChangeShapeType="1"/>
          </p:cNvCxnSpPr>
          <p:nvPr/>
        </p:nvCxnSpPr>
        <p:spPr bwMode="auto">
          <a:xfrm flipV="1">
            <a:off x="2711210" y="4714824"/>
            <a:ext cx="982448" cy="4855"/>
          </a:xfrm>
          <a:prstGeom prst="straightConnector1">
            <a:avLst/>
          </a:prstGeom>
          <a:noFill/>
          <a:ln w="12700"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1" name="Table 30">
            <a:extLst>
              <a:ext uri="{FF2B5EF4-FFF2-40B4-BE49-F238E27FC236}">
                <a16:creationId xmlns:a16="http://schemas.microsoft.com/office/drawing/2014/main" id="{E3614934-FFCB-AA44-5400-CBEE8E2D8685}"/>
              </a:ext>
            </a:extLst>
          </p:cNvPr>
          <p:cNvGraphicFramePr>
            <a:graphicFrameLocks noGrp="1"/>
          </p:cNvGraphicFramePr>
          <p:nvPr>
            <p:extLst>
              <p:ext uri="{D42A27DB-BD31-4B8C-83A1-F6EECF244321}">
                <p14:modId xmlns:p14="http://schemas.microsoft.com/office/powerpoint/2010/main" val="3387886857"/>
              </p:ext>
            </p:extLst>
          </p:nvPr>
        </p:nvGraphicFramePr>
        <p:xfrm>
          <a:off x="1099662" y="4251149"/>
          <a:ext cx="1593112" cy="1860059"/>
        </p:xfrm>
        <a:graphic>
          <a:graphicData uri="http://schemas.openxmlformats.org/drawingml/2006/table">
            <a:tbl>
              <a:tblPr/>
              <a:tblGrid>
                <a:gridCol w="330514">
                  <a:extLst>
                    <a:ext uri="{9D8B030D-6E8A-4147-A177-3AD203B41FA5}">
                      <a16:colId xmlns:a16="http://schemas.microsoft.com/office/drawing/2014/main" val="143343084"/>
                    </a:ext>
                  </a:extLst>
                </a:gridCol>
                <a:gridCol w="1262598">
                  <a:extLst>
                    <a:ext uri="{9D8B030D-6E8A-4147-A177-3AD203B41FA5}">
                      <a16:colId xmlns:a16="http://schemas.microsoft.com/office/drawing/2014/main" val="1993259413"/>
                    </a:ext>
                  </a:extLst>
                </a:gridCol>
              </a:tblGrid>
              <a:tr h="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1000" b="0" i="0" u="none" strike="noStrike" kern="1200" cap="none" normalizeH="0" baseline="0" dirty="0">
                          <a:ln>
                            <a:noFill/>
                          </a:ln>
                          <a:solidFill>
                            <a:schemeClr val="tx1"/>
                          </a:solidFill>
                          <a:effectLst/>
                          <a:latin typeface="Arial" charset="0"/>
                          <a:ea typeface="+mn-ea"/>
                          <a:cs typeface="+mn-cs"/>
                        </a:rPr>
                        <a:t>11</a:t>
                      </a:r>
                      <a:endParaRPr kumimoji="0" lang="en-GB" sz="1000" b="0" i="0" u="none" strike="noStrike" kern="1200" cap="none" normalizeH="0" baseline="0" dirty="0">
                        <a:ln>
                          <a:noFill/>
                        </a:ln>
                        <a:solidFill>
                          <a:schemeClr val="tx1"/>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1" i="0" u="none" strike="noStrike" cap="none" normalizeH="0" baseline="0" dirty="0">
                        <a:ln>
                          <a:noFill/>
                        </a:ln>
                        <a:solidFill>
                          <a:schemeClr val="tx1">
                            <a:lumMod val="65000"/>
                            <a:lumOff val="35000"/>
                          </a:schemeClr>
                        </a:solidFill>
                        <a:effectLst/>
                        <a:latin typeface="Arial" charset="0"/>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5630028"/>
                  </a:ext>
                </a:extLst>
              </a:tr>
              <a:tr h="30538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2680697570"/>
                  </a:ext>
                </a:extLst>
              </a:tr>
              <a:tr h="221269">
                <a:tc gridSpan="2">
                  <a:txBody>
                    <a:bodyPr/>
                    <a:lstStyle/>
                    <a:p>
                      <a:pPr marL="0" marR="0" lvl="0" indent="0" algn="l" rtl="0" eaLnBrk="1" fontAlgn="base" latinLnBrk="0" hangingPunct="1">
                        <a:lnSpc>
                          <a:spcPct val="87000"/>
                        </a:lnSpc>
                        <a:spcBef>
                          <a:spcPct val="30000"/>
                        </a:spcBef>
                        <a:spcAft>
                          <a:spcPct val="0"/>
                        </a:spcAft>
                        <a:buClr>
                          <a:schemeClr val="tx1"/>
                        </a:buClr>
                        <a:buSzTx/>
                        <a:buFont typeface="Monotype Sorts" pitchFamily="2" charset="2"/>
                        <a:buNone/>
                      </a:pPr>
                      <a:r>
                        <a:rPr kumimoji="0" lang="en-US" sz="1000" b="0" i="1" u="none" strike="noStrike" cap="none" normalizeH="0" baseline="0" dirty="0">
                          <a:ln>
                            <a:noFill/>
                          </a:ln>
                          <a:solidFill>
                            <a:schemeClr val="tx1">
                              <a:lumMod val="65000"/>
                              <a:lumOff val="35000"/>
                            </a:schemeClr>
                          </a:solidFill>
                          <a:effectLst/>
                          <a:latin typeface="Arial"/>
                        </a:rPr>
                        <a:t>B,D</a:t>
                      </a:r>
                      <a:endParaRPr kumimoji="0" lang="en-US" sz="1000" b="0" i="1" u="none" strike="noStrike" cap="none" normalizeH="0" baseline="0" dirty="0">
                        <a:ln>
                          <a:noFill/>
                        </a:ln>
                        <a:solidFill>
                          <a:schemeClr val="tx1">
                            <a:lumMod val="65000"/>
                            <a:lumOff val="35000"/>
                          </a:schemeClr>
                        </a:solidFill>
                        <a:effectLst/>
                        <a:highlight>
                          <a:srgbClr val="FFFF00"/>
                        </a:highlight>
                        <a:latin typeface="Arial"/>
                      </a:endParaRP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3333023383"/>
                  </a:ext>
                </a:extLst>
              </a:tr>
            </a:tbl>
          </a:graphicData>
        </a:graphic>
      </p:graphicFrame>
      <p:sp>
        <p:nvSpPr>
          <p:cNvPr id="32" name="Freeform: Shape 31">
            <a:extLst>
              <a:ext uri="{FF2B5EF4-FFF2-40B4-BE49-F238E27FC236}">
                <a16:creationId xmlns:a16="http://schemas.microsoft.com/office/drawing/2014/main" id="{A59186B7-EB65-74A9-FDD7-63ABAC214C3D}"/>
              </a:ext>
            </a:extLst>
          </p:cNvPr>
          <p:cNvSpPr/>
          <p:nvPr/>
        </p:nvSpPr>
        <p:spPr>
          <a:xfrm>
            <a:off x="618679" y="3459156"/>
            <a:ext cx="5093403" cy="1680939"/>
          </a:xfrm>
          <a:custGeom>
            <a:avLst/>
            <a:gdLst>
              <a:gd name="connsiteX0" fmla="*/ 5093403 w 5093403"/>
              <a:gd name="connsiteY0" fmla="*/ 15564 h 1680939"/>
              <a:gd name="connsiteX1" fmla="*/ 4486397 w 5093403"/>
              <a:gd name="connsiteY1" fmla="*/ 0 h 1680939"/>
              <a:gd name="connsiteX2" fmla="*/ 4494179 w 5093403"/>
              <a:gd name="connsiteY2" fmla="*/ 525293 h 1680939"/>
              <a:gd name="connsiteX3" fmla="*/ 0 w 5093403"/>
              <a:gd name="connsiteY3" fmla="*/ 521402 h 1680939"/>
              <a:gd name="connsiteX4" fmla="*/ 0 w 5093403"/>
              <a:gd name="connsiteY4" fmla="*/ 1680939 h 1680939"/>
              <a:gd name="connsiteX5" fmla="*/ 470819 w 5093403"/>
              <a:gd name="connsiteY5" fmla="*/ 1680939 h 1680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93403" h="1680939">
                <a:moveTo>
                  <a:pt x="5093403" y="15564"/>
                </a:moveTo>
                <a:lnTo>
                  <a:pt x="4486397" y="0"/>
                </a:lnTo>
                <a:lnTo>
                  <a:pt x="4494179" y="525293"/>
                </a:lnTo>
                <a:lnTo>
                  <a:pt x="0" y="521402"/>
                </a:lnTo>
                <a:lnTo>
                  <a:pt x="0" y="1680939"/>
                </a:lnTo>
                <a:lnTo>
                  <a:pt x="470819" y="1680939"/>
                </a:lnTo>
              </a:path>
            </a:pathLst>
          </a:custGeom>
          <a:noFill/>
          <a:ln w="12700">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5" name="Group 688">
            <a:extLst>
              <a:ext uri="{FF2B5EF4-FFF2-40B4-BE49-F238E27FC236}">
                <a16:creationId xmlns:a16="http://schemas.microsoft.com/office/drawing/2014/main" id="{B1F3A387-F9A9-8D16-F80D-DDD0EE689121}"/>
              </a:ext>
            </a:extLst>
          </p:cNvPr>
          <p:cNvGraphicFramePr>
            <a:graphicFrameLocks noGrp="1"/>
          </p:cNvGraphicFramePr>
          <p:nvPr>
            <p:extLst>
              <p:ext uri="{D42A27DB-BD31-4B8C-83A1-F6EECF244321}">
                <p14:modId xmlns:p14="http://schemas.microsoft.com/office/powerpoint/2010/main" val="2966859394"/>
              </p:ext>
            </p:extLst>
          </p:nvPr>
        </p:nvGraphicFramePr>
        <p:xfrm>
          <a:off x="3719372" y="5353629"/>
          <a:ext cx="2057400" cy="1187596"/>
        </p:xfrm>
        <a:graphic>
          <a:graphicData uri="http://schemas.openxmlformats.org/drawingml/2006/table">
            <a:tbl>
              <a:tblPr/>
              <a:tblGrid>
                <a:gridCol w="426837">
                  <a:extLst>
                    <a:ext uri="{9D8B030D-6E8A-4147-A177-3AD203B41FA5}">
                      <a16:colId xmlns:a16="http://schemas.microsoft.com/office/drawing/2014/main" val="20000"/>
                    </a:ext>
                  </a:extLst>
                </a:gridCol>
                <a:gridCol w="1630563">
                  <a:extLst>
                    <a:ext uri="{9D8B030D-6E8A-4147-A177-3AD203B41FA5}">
                      <a16:colId xmlns:a16="http://schemas.microsoft.com/office/drawing/2014/main" val="20001"/>
                    </a:ext>
                  </a:extLst>
                </a:gridCol>
              </a:tblGrid>
              <a:tr h="29448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12a</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defTabSz="914400" eaLnBrk="1" fontAlgn="ctr" latinLnBrk="0" hangingPunct="1">
                        <a:lnSpc>
                          <a:spcPct val="100000"/>
                        </a:lnSpc>
                        <a:spcBef>
                          <a:spcPct val="0"/>
                        </a:spcBef>
                        <a:spcAft>
                          <a:spcPct val="0"/>
                        </a:spcAft>
                        <a:buClrTx/>
                        <a:buSzTx/>
                        <a:buFontTx/>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altLang="en-US" sz="1000" b="0" i="0" u="none" strike="noStrike" kern="0" cap="none" spc="0" normalizeH="0" baseline="0" noProof="0" dirty="0">
                        <a:ln>
                          <a:noFill/>
                        </a:ln>
                        <a:solidFill>
                          <a:srgbClr val="000000"/>
                        </a:solidFill>
                        <a:effectLst/>
                        <a:uLnTx/>
                        <a:uFillTx/>
                        <a:latin typeface="+mn-lt"/>
                        <a:ea typeface="+mn-ea"/>
                        <a:cs typeface="+mn-cs"/>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651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Document the improvement plan in the KIM, </a:t>
                      </a:r>
                      <a:r>
                        <a:rPr lang="en-US" sz="1000" b="1" dirty="0">
                          <a:latin typeface="Arial" panose="020B0604020202020204" pitchFamily="34" charset="0"/>
                          <a:cs typeface="Arial" panose="020B0604020202020204" pitchFamily="34" charset="0"/>
                        </a:rPr>
                        <a:t>update APQP Dashboard </a:t>
                      </a:r>
                      <a:r>
                        <a:rPr kumimoji="0"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and follow it until is closed then move to next step</a:t>
                      </a:r>
                      <a:endParaRPr kumimoji="0" lang="pl-PL" altLang="en-US" sz="1000" b="0"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5104">
                <a:tc gridSpan="2">
                  <a:txBody>
                    <a:bodyPr/>
                    <a:lstStyle/>
                    <a:p>
                      <a:pPr marL="0" marR="0" lvl="0" indent="0" algn="l">
                        <a:lnSpc>
                          <a:spcPct val="87000"/>
                        </a:lnSpc>
                        <a:spcBef>
                          <a:spcPct val="30000"/>
                        </a:spcBef>
                        <a:spcAft>
                          <a:spcPct val="0"/>
                        </a:spcAft>
                        <a:buNone/>
                      </a:pPr>
                      <a:r>
                        <a:rPr kumimoji="0" lang="en-US" sz="1000" b="0" i="1" u="none" strike="noStrike" cap="none" normalizeH="0" baseline="0" noProof="0" dirty="0">
                          <a:ln>
                            <a:noFill/>
                          </a:ln>
                          <a:solidFill>
                            <a:schemeClr val="tx1">
                              <a:lumMod val="65000"/>
                              <a:lumOff val="35000"/>
                            </a:schemeClr>
                          </a:solidFill>
                          <a:effectLst/>
                          <a:latin typeface="Arial"/>
                        </a:rPr>
                        <a:t>A MQ2 vs QAM format</a:t>
                      </a:r>
                      <a:endParaRPr kumimoji="0" lang="en-US" sz="1000" b="0" i="1" u="none" strike="noStrike" cap="none" normalizeH="0" baseline="0" dirty="0">
                        <a:ln>
                          <a:noFill/>
                        </a:ln>
                        <a:solidFill>
                          <a:schemeClr val="tx1">
                            <a:lumMod val="65000"/>
                            <a:lumOff val="35000"/>
                          </a:schemeClr>
                        </a:solidFill>
                        <a:effectLst/>
                        <a:latin typeface="Arial" charset="0"/>
                      </a:endParaRP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38" name="Group 688">
            <a:extLst>
              <a:ext uri="{FF2B5EF4-FFF2-40B4-BE49-F238E27FC236}">
                <a16:creationId xmlns:a16="http://schemas.microsoft.com/office/drawing/2014/main" id="{DFDDE980-5EF5-F35F-109F-79FB6A549221}"/>
              </a:ext>
            </a:extLst>
          </p:cNvPr>
          <p:cNvGraphicFramePr>
            <a:graphicFrameLocks noGrp="1"/>
          </p:cNvGraphicFramePr>
          <p:nvPr>
            <p:extLst>
              <p:ext uri="{D42A27DB-BD31-4B8C-83A1-F6EECF244321}">
                <p14:modId xmlns:p14="http://schemas.microsoft.com/office/powerpoint/2010/main" val="1385530275"/>
              </p:ext>
            </p:extLst>
          </p:nvPr>
        </p:nvGraphicFramePr>
        <p:xfrm>
          <a:off x="3719372" y="4196262"/>
          <a:ext cx="2057400" cy="1073841"/>
        </p:xfrm>
        <a:graphic>
          <a:graphicData uri="http://schemas.openxmlformats.org/drawingml/2006/table">
            <a:tbl>
              <a:tblPr/>
              <a:tblGrid>
                <a:gridCol w="426837">
                  <a:extLst>
                    <a:ext uri="{9D8B030D-6E8A-4147-A177-3AD203B41FA5}">
                      <a16:colId xmlns:a16="http://schemas.microsoft.com/office/drawing/2014/main" val="20000"/>
                    </a:ext>
                  </a:extLst>
                </a:gridCol>
                <a:gridCol w="1630563">
                  <a:extLst>
                    <a:ext uri="{9D8B030D-6E8A-4147-A177-3AD203B41FA5}">
                      <a16:colId xmlns:a16="http://schemas.microsoft.com/office/drawing/2014/main" val="20001"/>
                    </a:ext>
                  </a:extLst>
                </a:gridCol>
              </a:tblGrid>
              <a:tr h="29448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12b</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 Quality Manager of the Plant</a:t>
                      </a: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651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Approve MQ2 form BIQ perspective</a:t>
                      </a:r>
                      <a:endParaRPr kumimoji="0" lang="pl-PL" altLang="en-US"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5104">
                <a:tc gridSpan="2">
                  <a:txBody>
                    <a:bodyPr/>
                    <a:lstStyle/>
                    <a:p>
                      <a:pPr marL="0" marR="0" lvl="0" indent="0" algn="l" rtl="0" eaLnBrk="1" fontAlgn="base" latinLnBrk="0" hangingPunct="1">
                        <a:lnSpc>
                          <a:spcPct val="87000"/>
                        </a:lnSpc>
                        <a:spcBef>
                          <a:spcPct val="30000"/>
                        </a:spcBef>
                        <a:spcAft>
                          <a:spcPct val="0"/>
                        </a:spcAft>
                        <a:buClr>
                          <a:schemeClr val="tx1"/>
                        </a:buClr>
                        <a:buSzTx/>
                        <a:buFont typeface="Monotype Sorts" pitchFamily="2" charset="2"/>
                        <a:buNone/>
                      </a:pPr>
                      <a:r>
                        <a:rPr kumimoji="0" lang="en-US" sz="1000" b="0" i="1" u="none" strike="noStrike" cap="none" normalizeH="0" baseline="0" dirty="0">
                          <a:ln>
                            <a:noFill/>
                          </a:ln>
                          <a:solidFill>
                            <a:schemeClr val="tx1">
                              <a:lumMod val="65000"/>
                              <a:lumOff val="35000"/>
                            </a:schemeClr>
                          </a:solidFill>
                          <a:effectLst/>
                          <a:latin typeface="Arial"/>
                        </a:rPr>
                        <a:t>MQ checklist</a:t>
                      </a:r>
                      <a:endParaRPr kumimoji="0" lang="en-US" sz="1000" b="0" i="1" u="none" strike="noStrike" cap="none" normalizeH="0" baseline="0" dirty="0">
                        <a:ln>
                          <a:noFill/>
                        </a:ln>
                        <a:solidFill>
                          <a:schemeClr val="tx1">
                            <a:lumMod val="65000"/>
                            <a:lumOff val="35000"/>
                          </a:schemeClr>
                        </a:solidFill>
                        <a:effectLst/>
                        <a:latin typeface="Arial" charset="0"/>
                      </a:endParaRP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39" name="Straight Arrow Connector 38">
            <a:extLst>
              <a:ext uri="{FF2B5EF4-FFF2-40B4-BE49-F238E27FC236}">
                <a16:creationId xmlns:a16="http://schemas.microsoft.com/office/drawing/2014/main" id="{9F1212AD-8DCA-EC05-F6D2-369BFDA3AB22}"/>
              </a:ext>
            </a:extLst>
          </p:cNvPr>
          <p:cNvCxnSpPr>
            <a:cxnSpLocks/>
          </p:cNvCxnSpPr>
          <p:nvPr/>
        </p:nvCxnSpPr>
        <p:spPr>
          <a:xfrm>
            <a:off x="5771212" y="4700225"/>
            <a:ext cx="48135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0" name="Oval 39">
            <a:extLst>
              <a:ext uri="{FF2B5EF4-FFF2-40B4-BE49-F238E27FC236}">
                <a16:creationId xmlns:a16="http://schemas.microsoft.com/office/drawing/2014/main" id="{D35D25C9-9714-90A7-8D41-8140620E2CF1}"/>
              </a:ext>
            </a:extLst>
          </p:cNvPr>
          <p:cNvSpPr/>
          <p:nvPr/>
        </p:nvSpPr>
        <p:spPr>
          <a:xfrm>
            <a:off x="6252569" y="4398383"/>
            <a:ext cx="692769" cy="580489"/>
          </a:xfrm>
          <a:prstGeom prst="ellipse">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latin typeface="Arial" panose="020B0604020202020204" pitchFamily="34" charset="0"/>
                <a:cs typeface="Arial" panose="020B0604020202020204" pitchFamily="34" charset="0"/>
              </a:rPr>
              <a:t>13</a:t>
            </a:r>
          </a:p>
        </p:txBody>
      </p:sp>
    </p:spTree>
    <p:extLst>
      <p:ext uri="{BB962C8B-B14F-4D97-AF65-F5344CB8AC3E}">
        <p14:creationId xmlns:p14="http://schemas.microsoft.com/office/powerpoint/2010/main" val="1309132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688">
            <a:extLst>
              <a:ext uri="{FF2B5EF4-FFF2-40B4-BE49-F238E27FC236}">
                <a16:creationId xmlns:a16="http://schemas.microsoft.com/office/drawing/2014/main" id="{36BF6A1E-0451-0C78-E291-D963F27EA91C}"/>
              </a:ext>
            </a:extLst>
          </p:cNvPr>
          <p:cNvGraphicFramePr>
            <a:graphicFrameLocks noGrp="1"/>
          </p:cNvGraphicFramePr>
          <p:nvPr>
            <p:extLst>
              <p:ext uri="{D42A27DB-BD31-4B8C-83A1-F6EECF244321}">
                <p14:modId xmlns:p14="http://schemas.microsoft.com/office/powerpoint/2010/main" val="3835091508"/>
              </p:ext>
            </p:extLst>
          </p:nvPr>
        </p:nvGraphicFramePr>
        <p:xfrm>
          <a:off x="609600" y="1447799"/>
          <a:ext cx="1981200" cy="953637"/>
        </p:xfrm>
        <a:graphic>
          <a:graphicData uri="http://schemas.openxmlformats.org/drawingml/2006/table">
            <a:tbl>
              <a:tblPr/>
              <a:tblGrid>
                <a:gridCol w="411028">
                  <a:extLst>
                    <a:ext uri="{9D8B030D-6E8A-4147-A177-3AD203B41FA5}">
                      <a16:colId xmlns:a16="http://schemas.microsoft.com/office/drawing/2014/main" val="20000"/>
                    </a:ext>
                  </a:extLst>
                </a:gridCol>
                <a:gridCol w="1570172">
                  <a:extLst>
                    <a:ext uri="{9D8B030D-6E8A-4147-A177-3AD203B41FA5}">
                      <a16:colId xmlns:a16="http://schemas.microsoft.com/office/drawing/2014/main" val="20001"/>
                    </a:ext>
                  </a:extLst>
                </a:gridCol>
              </a:tblGrid>
              <a:tr h="234502">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13</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1" i="0" u="none" strike="noStrike" cap="none" normalizeH="0" baseline="0" dirty="0">
                        <a:ln>
                          <a:noFill/>
                        </a:ln>
                        <a:solidFill>
                          <a:schemeClr val="tx1">
                            <a:lumMod val="65000"/>
                            <a:lumOff val="35000"/>
                          </a:schemeClr>
                        </a:solidFill>
                        <a:effectLst/>
                        <a:latin typeface="Arial" charset="0"/>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7959">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Develop Process Control Plan </a:t>
                      </a:r>
                      <a:r>
                        <a:rPr kumimoji="0"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using the information from the PFMEA, MQ exercise, and QAM.</a:t>
                      </a:r>
                      <a:endParaRPr kumimoji="0" lang="pl-PL"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83523">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PCP workshop</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3" name="Group 688">
            <a:extLst>
              <a:ext uri="{FF2B5EF4-FFF2-40B4-BE49-F238E27FC236}">
                <a16:creationId xmlns:a16="http://schemas.microsoft.com/office/drawing/2014/main" id="{010CCD90-C264-6189-C778-EA6D92FB1DA2}"/>
              </a:ext>
            </a:extLst>
          </p:cNvPr>
          <p:cNvGraphicFramePr>
            <a:graphicFrameLocks noGrp="1"/>
          </p:cNvGraphicFramePr>
          <p:nvPr>
            <p:extLst>
              <p:ext uri="{D42A27DB-BD31-4B8C-83A1-F6EECF244321}">
                <p14:modId xmlns:p14="http://schemas.microsoft.com/office/powerpoint/2010/main" val="1546523043"/>
              </p:ext>
            </p:extLst>
          </p:nvPr>
        </p:nvGraphicFramePr>
        <p:xfrm>
          <a:off x="3352800" y="1434095"/>
          <a:ext cx="1981200" cy="1051169"/>
        </p:xfrm>
        <a:graphic>
          <a:graphicData uri="http://schemas.openxmlformats.org/drawingml/2006/table">
            <a:tbl>
              <a:tblPr/>
              <a:tblGrid>
                <a:gridCol w="411028">
                  <a:extLst>
                    <a:ext uri="{9D8B030D-6E8A-4147-A177-3AD203B41FA5}">
                      <a16:colId xmlns:a16="http://schemas.microsoft.com/office/drawing/2014/main" val="20000"/>
                    </a:ext>
                  </a:extLst>
                </a:gridCol>
                <a:gridCol w="1570172">
                  <a:extLst>
                    <a:ext uri="{9D8B030D-6E8A-4147-A177-3AD203B41FA5}">
                      <a16:colId xmlns:a16="http://schemas.microsoft.com/office/drawing/2014/main" val="20001"/>
                    </a:ext>
                  </a:extLst>
                </a:gridCol>
              </a:tblGrid>
              <a:tr h="172007">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14</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1" i="0" u="none" strike="noStrike" cap="none" normalizeH="0" baseline="0" dirty="0">
                        <a:ln>
                          <a:noFill/>
                        </a:ln>
                        <a:solidFill>
                          <a:schemeClr val="tx1">
                            <a:lumMod val="65000"/>
                            <a:lumOff val="35000"/>
                          </a:schemeClr>
                        </a:solidFill>
                        <a:effectLst/>
                        <a:latin typeface="Arial" charset="0"/>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7959">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Prepare a safe launch plan </a:t>
                      </a:r>
                      <a:r>
                        <a:rPr kumimoji="0"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in accordance with customer requirements and document it within the control plan.</a:t>
                      </a:r>
                      <a:endParaRPr kumimoji="0" lang="pl-PL"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83523">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Containment /Safe Launch</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4" name="Connector: Elbow 3">
            <a:extLst>
              <a:ext uri="{FF2B5EF4-FFF2-40B4-BE49-F238E27FC236}">
                <a16:creationId xmlns:a16="http://schemas.microsoft.com/office/drawing/2014/main" id="{F9BEB8CD-78DB-238F-8A7C-20BB4F50B657}"/>
              </a:ext>
            </a:extLst>
          </p:cNvPr>
          <p:cNvCxnSpPr>
            <a:cxnSpLocks/>
          </p:cNvCxnSpPr>
          <p:nvPr/>
        </p:nvCxnSpPr>
        <p:spPr bwMode="auto">
          <a:xfrm>
            <a:off x="2601500" y="1905000"/>
            <a:ext cx="751300" cy="228600"/>
          </a:xfrm>
          <a:prstGeom prst="bentConnector3">
            <a:avLst>
              <a:gd name="adj1" fmla="val 50000"/>
            </a:avLst>
          </a:prstGeom>
          <a:solidFill>
            <a:schemeClr val="bg1"/>
          </a:solidFill>
          <a:ln w="12700" cap="flat" cmpd="sng" algn="ctr">
            <a:solidFill>
              <a:schemeClr val="tx1"/>
            </a:solidFill>
            <a:prstDash val="solid"/>
            <a:round/>
            <a:headEnd type="none" w="med" len="med"/>
            <a:tailEnd type="triangle"/>
          </a:ln>
          <a:effectLst/>
        </p:spPr>
      </p:cxnSp>
      <p:graphicFrame>
        <p:nvGraphicFramePr>
          <p:cNvPr id="6" name="Group 688">
            <a:extLst>
              <a:ext uri="{FF2B5EF4-FFF2-40B4-BE49-F238E27FC236}">
                <a16:creationId xmlns:a16="http://schemas.microsoft.com/office/drawing/2014/main" id="{C8444124-8CAE-E6E6-88B3-8B3A23E005C3}"/>
              </a:ext>
            </a:extLst>
          </p:cNvPr>
          <p:cNvGraphicFramePr>
            <a:graphicFrameLocks noGrp="1"/>
          </p:cNvGraphicFramePr>
          <p:nvPr>
            <p:extLst>
              <p:ext uri="{D42A27DB-BD31-4B8C-83A1-F6EECF244321}">
                <p14:modId xmlns:p14="http://schemas.microsoft.com/office/powerpoint/2010/main" val="48492006"/>
              </p:ext>
            </p:extLst>
          </p:nvPr>
        </p:nvGraphicFramePr>
        <p:xfrm>
          <a:off x="6096000" y="1351980"/>
          <a:ext cx="1981200" cy="1162619"/>
        </p:xfrm>
        <a:graphic>
          <a:graphicData uri="http://schemas.openxmlformats.org/drawingml/2006/table">
            <a:tbl>
              <a:tblPr/>
              <a:tblGrid>
                <a:gridCol w="411028">
                  <a:extLst>
                    <a:ext uri="{9D8B030D-6E8A-4147-A177-3AD203B41FA5}">
                      <a16:colId xmlns:a16="http://schemas.microsoft.com/office/drawing/2014/main" val="20000"/>
                    </a:ext>
                  </a:extLst>
                </a:gridCol>
                <a:gridCol w="1570172">
                  <a:extLst>
                    <a:ext uri="{9D8B030D-6E8A-4147-A177-3AD203B41FA5}">
                      <a16:colId xmlns:a16="http://schemas.microsoft.com/office/drawing/2014/main" val="20001"/>
                    </a:ext>
                  </a:extLst>
                </a:gridCol>
              </a:tblGrid>
              <a:tr h="365295">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15</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charset="0"/>
                        </a:rPr>
                        <a:t>Plant PPAP Responsible person</a:t>
                      </a:r>
                      <a:endParaRPr kumimoji="0" lang="en-US" sz="1000" b="1" i="0" u="none" strike="noStrike" cap="none" normalizeH="0" baseline="0" dirty="0">
                        <a:ln>
                          <a:noFill/>
                        </a:ln>
                        <a:solidFill>
                          <a:schemeClr val="tx1">
                            <a:lumMod val="65000"/>
                            <a:lumOff val="35000"/>
                          </a:schemeClr>
                        </a:solidFill>
                        <a:effectLst/>
                        <a:latin typeface="Arial" charset="0"/>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60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Submit PPAP package </a:t>
                      </a:r>
                      <a:endParaRPr kumimoji="0" lang="pl-PL"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14719">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Email or Customer Portal</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7" name="Connector: Elbow 6">
            <a:extLst>
              <a:ext uri="{FF2B5EF4-FFF2-40B4-BE49-F238E27FC236}">
                <a16:creationId xmlns:a16="http://schemas.microsoft.com/office/drawing/2014/main" id="{0ADBC9CD-DB6B-502C-BF4F-ECDED7C39574}"/>
              </a:ext>
            </a:extLst>
          </p:cNvPr>
          <p:cNvCxnSpPr>
            <a:cxnSpLocks/>
          </p:cNvCxnSpPr>
          <p:nvPr/>
        </p:nvCxnSpPr>
        <p:spPr bwMode="auto">
          <a:xfrm>
            <a:off x="5334000" y="1905000"/>
            <a:ext cx="751300" cy="228600"/>
          </a:xfrm>
          <a:prstGeom prst="bentConnector3">
            <a:avLst>
              <a:gd name="adj1" fmla="val 50000"/>
            </a:avLst>
          </a:prstGeom>
          <a:solidFill>
            <a:schemeClr val="bg1"/>
          </a:solidFill>
          <a:ln w="12700" cap="flat" cmpd="sng" algn="ctr">
            <a:solidFill>
              <a:schemeClr val="tx1"/>
            </a:solidFill>
            <a:prstDash val="solid"/>
            <a:round/>
            <a:headEnd type="none" w="med" len="med"/>
            <a:tailEnd type="triangle"/>
          </a:ln>
          <a:effectLst/>
        </p:spPr>
      </p:cxnSp>
      <p:graphicFrame>
        <p:nvGraphicFramePr>
          <p:cNvPr id="9" name="Table 8">
            <a:extLst>
              <a:ext uri="{FF2B5EF4-FFF2-40B4-BE49-F238E27FC236}">
                <a16:creationId xmlns:a16="http://schemas.microsoft.com/office/drawing/2014/main" id="{E3023CDC-2C87-49CB-1C28-E42B31333152}"/>
              </a:ext>
            </a:extLst>
          </p:cNvPr>
          <p:cNvGraphicFramePr>
            <a:graphicFrameLocks noGrp="1"/>
          </p:cNvGraphicFramePr>
          <p:nvPr>
            <p:extLst>
              <p:ext uri="{D42A27DB-BD31-4B8C-83A1-F6EECF244321}">
                <p14:modId xmlns:p14="http://schemas.microsoft.com/office/powerpoint/2010/main" val="2627418311"/>
              </p:ext>
            </p:extLst>
          </p:nvPr>
        </p:nvGraphicFramePr>
        <p:xfrm>
          <a:off x="6477001" y="3169141"/>
          <a:ext cx="1593112" cy="1882105"/>
        </p:xfrm>
        <a:graphic>
          <a:graphicData uri="http://schemas.openxmlformats.org/drawingml/2006/table">
            <a:tbl>
              <a:tblPr/>
              <a:tblGrid>
                <a:gridCol w="330514">
                  <a:extLst>
                    <a:ext uri="{9D8B030D-6E8A-4147-A177-3AD203B41FA5}">
                      <a16:colId xmlns:a16="http://schemas.microsoft.com/office/drawing/2014/main" val="143343084"/>
                    </a:ext>
                  </a:extLst>
                </a:gridCol>
                <a:gridCol w="1262598">
                  <a:extLst>
                    <a:ext uri="{9D8B030D-6E8A-4147-A177-3AD203B41FA5}">
                      <a16:colId xmlns:a16="http://schemas.microsoft.com/office/drawing/2014/main" val="1993259413"/>
                    </a:ext>
                  </a:extLst>
                </a:gridCol>
              </a:tblGrid>
              <a:tr h="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1000" b="0" i="0" u="none" strike="noStrike" kern="1200" cap="none" normalizeH="0" baseline="0" dirty="0">
                          <a:ln>
                            <a:noFill/>
                          </a:ln>
                          <a:solidFill>
                            <a:schemeClr val="tx1"/>
                          </a:solidFill>
                          <a:effectLst/>
                          <a:latin typeface="Arial" charset="0"/>
                          <a:ea typeface="+mn-ea"/>
                          <a:cs typeface="+mn-cs"/>
                        </a:rPr>
                        <a:t>16</a:t>
                      </a:r>
                      <a:endParaRPr kumimoji="0" lang="en-GB" sz="1000" b="0" i="0" u="none" strike="noStrike" kern="1200" cap="none" normalizeH="0" baseline="0" dirty="0">
                        <a:ln>
                          <a:noFill/>
                        </a:ln>
                        <a:solidFill>
                          <a:schemeClr val="tx1"/>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1" i="0" u="none" strike="noStrike" cap="none" normalizeH="0" baseline="0" dirty="0">
                        <a:ln>
                          <a:noFill/>
                        </a:ln>
                        <a:solidFill>
                          <a:schemeClr val="tx1">
                            <a:lumMod val="65000"/>
                            <a:lumOff val="35000"/>
                          </a:schemeClr>
                        </a:solidFill>
                        <a:effectLst/>
                        <a:latin typeface="Arial" charset="0"/>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5630028"/>
                  </a:ext>
                </a:extLst>
              </a:tr>
              <a:tr h="30538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2680697570"/>
                  </a:ext>
                </a:extLst>
              </a:tr>
              <a:tr h="243315">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Customer PSW</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3333023383"/>
                  </a:ext>
                </a:extLst>
              </a:tr>
            </a:tbl>
          </a:graphicData>
        </a:graphic>
      </p:graphicFrame>
      <p:sp>
        <p:nvSpPr>
          <p:cNvPr id="10" name="AutoShape 133">
            <a:extLst>
              <a:ext uri="{FF2B5EF4-FFF2-40B4-BE49-F238E27FC236}">
                <a16:creationId xmlns:a16="http://schemas.microsoft.com/office/drawing/2014/main" id="{A2BB47FA-21EA-3D63-CA88-3EEC658E303F}"/>
              </a:ext>
            </a:extLst>
          </p:cNvPr>
          <p:cNvSpPr>
            <a:spLocks noChangeArrowheads="1"/>
          </p:cNvSpPr>
          <p:nvPr/>
        </p:nvSpPr>
        <p:spPr bwMode="auto">
          <a:xfrm>
            <a:off x="6477000" y="3352800"/>
            <a:ext cx="1574629" cy="1467138"/>
          </a:xfrm>
          <a:prstGeom prst="diamond">
            <a:avLst/>
          </a:prstGeom>
          <a:solidFill>
            <a:srgbClr val="FFFFCC"/>
          </a:solidFill>
          <a:ln w="12700">
            <a:solidFill>
              <a:schemeClr val="tx1"/>
            </a:solidFill>
            <a:miter lim="800000"/>
            <a:headEnd/>
            <a:tailEnd/>
          </a:ln>
        </p:spPr>
        <p:txBody>
          <a:bodyPr wrap="square" lIns="45720" tIns="45695" rIns="45720" bIns="45695" anchor="t">
            <a:norm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ltLang="en-US" sz="700" b="1" dirty="0">
                <a:solidFill>
                  <a:srgbClr val="000000"/>
                </a:solidFill>
                <a:latin typeface="Arial" pitchFamily="34" charset="0"/>
              </a:rPr>
              <a:t>Did we get Full PPAP Approval and no safe launch issues in 90 days</a:t>
            </a:r>
          </a:p>
        </p:txBody>
      </p:sp>
      <p:sp>
        <p:nvSpPr>
          <p:cNvPr id="11" name="TextBox 16">
            <a:extLst>
              <a:ext uri="{FF2B5EF4-FFF2-40B4-BE49-F238E27FC236}">
                <a16:creationId xmlns:a16="http://schemas.microsoft.com/office/drawing/2014/main" id="{F24E8A3A-A491-B2B4-8623-B900CE78C31F}"/>
              </a:ext>
            </a:extLst>
          </p:cNvPr>
          <p:cNvSpPr txBox="1">
            <a:spLocks noChangeArrowheads="1"/>
          </p:cNvSpPr>
          <p:nvPr/>
        </p:nvSpPr>
        <p:spPr bwMode="auto">
          <a:xfrm>
            <a:off x="6934201" y="5065359"/>
            <a:ext cx="45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000">
                <a:solidFill>
                  <a:srgbClr val="000000"/>
                </a:solidFill>
                <a:latin typeface="Arial" pitchFamily="34" charset="0"/>
              </a:rPr>
              <a:t>No</a:t>
            </a:r>
          </a:p>
        </p:txBody>
      </p:sp>
      <p:sp>
        <p:nvSpPr>
          <p:cNvPr id="12" name="TextBox 19">
            <a:extLst>
              <a:ext uri="{FF2B5EF4-FFF2-40B4-BE49-F238E27FC236}">
                <a16:creationId xmlns:a16="http://schemas.microsoft.com/office/drawing/2014/main" id="{AE8DDBB5-5640-824C-BD64-AFF5FCAA4B1D}"/>
              </a:ext>
            </a:extLst>
          </p:cNvPr>
          <p:cNvSpPr txBox="1">
            <a:spLocks noChangeArrowheads="1"/>
          </p:cNvSpPr>
          <p:nvPr/>
        </p:nvSpPr>
        <p:spPr bwMode="auto">
          <a:xfrm>
            <a:off x="6096001" y="3818662"/>
            <a:ext cx="45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000">
                <a:solidFill>
                  <a:srgbClr val="000000"/>
                </a:solidFill>
                <a:latin typeface="Arial" pitchFamily="34" charset="0"/>
              </a:rPr>
              <a:t>Yes</a:t>
            </a:r>
          </a:p>
        </p:txBody>
      </p:sp>
      <p:cxnSp>
        <p:nvCxnSpPr>
          <p:cNvPr id="13" name="Connector: Elbow 12">
            <a:extLst>
              <a:ext uri="{FF2B5EF4-FFF2-40B4-BE49-F238E27FC236}">
                <a16:creationId xmlns:a16="http://schemas.microsoft.com/office/drawing/2014/main" id="{A835A9B4-3BE5-938C-9D5B-4B7361217590}"/>
              </a:ext>
            </a:extLst>
          </p:cNvPr>
          <p:cNvCxnSpPr>
            <a:cxnSpLocks/>
            <a:stCxn id="9" idx="2"/>
          </p:cNvCxnSpPr>
          <p:nvPr/>
        </p:nvCxnSpPr>
        <p:spPr>
          <a:xfrm rot="5400000">
            <a:off x="6388246" y="4606603"/>
            <a:ext cx="440668" cy="1329954"/>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F10A7F4-2550-8A37-C59F-C2D02008A37D}"/>
              </a:ext>
            </a:extLst>
          </p:cNvPr>
          <p:cNvCxnSpPr>
            <a:cxnSpLocks noChangeShapeType="1"/>
          </p:cNvCxnSpPr>
          <p:nvPr/>
        </p:nvCxnSpPr>
        <p:spPr bwMode="auto">
          <a:xfrm flipH="1">
            <a:off x="5862051" y="4078838"/>
            <a:ext cx="597503" cy="0"/>
          </a:xfrm>
          <a:prstGeom prst="straightConnector1">
            <a:avLst/>
          </a:prstGeom>
          <a:noFill/>
          <a:ln w="12700" algn="ctr">
            <a:solidFill>
              <a:schemeClr val="tx1"/>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8" name="Group 688">
            <a:extLst>
              <a:ext uri="{FF2B5EF4-FFF2-40B4-BE49-F238E27FC236}">
                <a16:creationId xmlns:a16="http://schemas.microsoft.com/office/drawing/2014/main" id="{60473F20-3782-D5D9-B6DA-481CF723BFDB}"/>
              </a:ext>
            </a:extLst>
          </p:cNvPr>
          <p:cNvGraphicFramePr>
            <a:graphicFrameLocks noGrp="1"/>
          </p:cNvGraphicFramePr>
          <p:nvPr>
            <p:extLst>
              <p:ext uri="{D42A27DB-BD31-4B8C-83A1-F6EECF244321}">
                <p14:modId xmlns:p14="http://schemas.microsoft.com/office/powerpoint/2010/main" val="3141281469"/>
              </p:ext>
            </p:extLst>
          </p:nvPr>
        </p:nvGraphicFramePr>
        <p:xfrm>
          <a:off x="3880851" y="3505059"/>
          <a:ext cx="1981200" cy="1162619"/>
        </p:xfrm>
        <a:graphic>
          <a:graphicData uri="http://schemas.openxmlformats.org/drawingml/2006/table">
            <a:tbl>
              <a:tblPr/>
              <a:tblGrid>
                <a:gridCol w="411028">
                  <a:extLst>
                    <a:ext uri="{9D8B030D-6E8A-4147-A177-3AD203B41FA5}">
                      <a16:colId xmlns:a16="http://schemas.microsoft.com/office/drawing/2014/main" val="20000"/>
                    </a:ext>
                  </a:extLst>
                </a:gridCol>
                <a:gridCol w="1570172">
                  <a:extLst>
                    <a:ext uri="{9D8B030D-6E8A-4147-A177-3AD203B41FA5}">
                      <a16:colId xmlns:a16="http://schemas.microsoft.com/office/drawing/2014/main" val="20001"/>
                    </a:ext>
                  </a:extLst>
                </a:gridCol>
              </a:tblGrid>
              <a:tr h="365295">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17</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charset="0"/>
                        </a:rPr>
                        <a:t>Plant Quality Engineering</a:t>
                      </a:r>
                      <a:endParaRPr kumimoji="0" lang="en-US" sz="1000" b="1" i="0" u="none" strike="noStrike" cap="none" normalizeH="0" baseline="0" dirty="0">
                        <a:ln>
                          <a:noFill/>
                        </a:ln>
                        <a:solidFill>
                          <a:schemeClr val="tx1">
                            <a:lumMod val="65000"/>
                            <a:lumOff val="35000"/>
                          </a:schemeClr>
                        </a:solidFill>
                        <a:effectLst/>
                        <a:latin typeface="Arial" charset="0"/>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60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Manufacturing Plant takes control  of the program</a:t>
                      </a:r>
                      <a:endParaRPr kumimoji="0" lang="pl-PL"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14719">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1" u="none" strike="noStrike" cap="none" normalizeH="0" baseline="0" dirty="0">
                        <a:ln>
                          <a:noFill/>
                        </a:ln>
                        <a:solidFill>
                          <a:schemeClr val="tx1">
                            <a:lumMod val="65000"/>
                            <a:lumOff val="35000"/>
                          </a:schemeClr>
                        </a:solidFill>
                        <a:effectLst/>
                        <a:latin typeface="Arial" charset="0"/>
                      </a:endParaRP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19" name="Group 688">
            <a:extLst>
              <a:ext uri="{FF2B5EF4-FFF2-40B4-BE49-F238E27FC236}">
                <a16:creationId xmlns:a16="http://schemas.microsoft.com/office/drawing/2014/main" id="{F816E437-9570-C977-2578-4E110B3F1DED}"/>
              </a:ext>
            </a:extLst>
          </p:cNvPr>
          <p:cNvGraphicFramePr>
            <a:graphicFrameLocks noGrp="1"/>
          </p:cNvGraphicFramePr>
          <p:nvPr>
            <p:extLst>
              <p:ext uri="{D42A27DB-BD31-4B8C-83A1-F6EECF244321}">
                <p14:modId xmlns:p14="http://schemas.microsoft.com/office/powerpoint/2010/main" val="1922695788"/>
              </p:ext>
            </p:extLst>
          </p:nvPr>
        </p:nvGraphicFramePr>
        <p:xfrm>
          <a:off x="3841668" y="5045109"/>
          <a:ext cx="2101935" cy="1268026"/>
        </p:xfrm>
        <a:graphic>
          <a:graphicData uri="http://schemas.openxmlformats.org/drawingml/2006/table">
            <a:tbl>
              <a:tblPr/>
              <a:tblGrid>
                <a:gridCol w="531763">
                  <a:extLst>
                    <a:ext uri="{9D8B030D-6E8A-4147-A177-3AD203B41FA5}">
                      <a16:colId xmlns:a16="http://schemas.microsoft.com/office/drawing/2014/main" val="20000"/>
                    </a:ext>
                  </a:extLst>
                </a:gridCol>
                <a:gridCol w="1570172">
                  <a:extLst>
                    <a:ext uri="{9D8B030D-6E8A-4147-A177-3AD203B41FA5}">
                      <a16:colId xmlns:a16="http://schemas.microsoft.com/office/drawing/2014/main" val="20001"/>
                    </a:ext>
                  </a:extLst>
                </a:gridCol>
              </a:tblGrid>
              <a:tr h="365295">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1200" cap="none" normalizeH="0" baseline="0" dirty="0">
                          <a:ln>
                            <a:noFill/>
                          </a:ln>
                          <a:solidFill>
                            <a:schemeClr val="tx1"/>
                          </a:solidFill>
                          <a:effectLst/>
                          <a:latin typeface="Arial" charset="0"/>
                          <a:ea typeface="+mn-ea"/>
                          <a:cs typeface="+mn-cs"/>
                        </a:rPr>
                        <a:t>18</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1" i="0" u="none" strike="noStrike" cap="none" normalizeH="0" baseline="0" dirty="0">
                        <a:ln>
                          <a:noFill/>
                        </a:ln>
                        <a:solidFill>
                          <a:schemeClr val="tx1">
                            <a:lumMod val="65000"/>
                            <a:lumOff val="35000"/>
                          </a:schemeClr>
                        </a:solidFill>
                        <a:effectLst/>
                        <a:latin typeface="Arial" charset="0"/>
                      </a:endParaRPr>
                    </a:p>
                  </a:txBody>
                  <a:tcPr marL="39983" marR="0" marT="23523" marB="23523"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605">
                <a:tc gridSpan="2">
                  <a:txBody>
                    <a:bodyPr/>
                    <a:lstStyle/>
                    <a:p>
                      <a:pPr marL="0" marR="0" lvl="0" indent="0" algn="ctr" defTabSz="914400" eaLnBrk="1" fontAlgn="ctr" latinLnBrk="0" hangingPunct="1">
                        <a:lnSpc>
                          <a:spcPct val="100000"/>
                        </a:lnSpc>
                        <a:spcBef>
                          <a:spcPct val="0"/>
                        </a:spcBef>
                        <a:spcAft>
                          <a:spcPct val="0"/>
                        </a:spcAft>
                        <a:buClrTx/>
                        <a:buSzTx/>
                        <a:buFontTx/>
                        <a:buNone/>
                        <a:tabLst/>
                        <a:defRPr/>
                      </a:pPr>
                      <a:r>
                        <a:rPr kumimoji="0"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Document action item in the KIM until it is closed. Save KIM for similar products of other plants or regions</a:t>
                      </a:r>
                      <a:endParaRPr kumimoji="0" lang="pl-PL"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9983" marR="39983" marT="39206" marB="3920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14719">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1" u="none" strike="noStrike" cap="none" normalizeH="0" baseline="0" dirty="0">
                          <a:ln>
                            <a:noFill/>
                          </a:ln>
                          <a:solidFill>
                            <a:schemeClr val="tx1">
                              <a:lumMod val="65000"/>
                              <a:lumOff val="35000"/>
                            </a:schemeClr>
                          </a:solidFill>
                          <a:effectLst/>
                          <a:latin typeface="Arial" charset="0"/>
                        </a:rPr>
                        <a:t>KIM format</a:t>
                      </a:r>
                    </a:p>
                  </a:txBody>
                  <a:tcPr marL="39983" marR="39983" marT="23523" marB="2352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26" name="Freeform: Shape 25">
            <a:extLst>
              <a:ext uri="{FF2B5EF4-FFF2-40B4-BE49-F238E27FC236}">
                <a16:creationId xmlns:a16="http://schemas.microsoft.com/office/drawing/2014/main" id="{67048821-6A99-A63D-FDC5-557BB9A45578}"/>
              </a:ext>
            </a:extLst>
          </p:cNvPr>
          <p:cNvSpPr/>
          <p:nvPr/>
        </p:nvSpPr>
        <p:spPr>
          <a:xfrm>
            <a:off x="8066175" y="1964987"/>
            <a:ext cx="244975" cy="2149813"/>
          </a:xfrm>
          <a:custGeom>
            <a:avLst/>
            <a:gdLst>
              <a:gd name="connsiteX0" fmla="*/ 19456 w 221791"/>
              <a:gd name="connsiteY0" fmla="*/ 0 h 2101175"/>
              <a:gd name="connsiteX1" fmla="*/ 221791 w 221791"/>
              <a:gd name="connsiteY1" fmla="*/ 3891 h 2101175"/>
              <a:gd name="connsiteX2" fmla="*/ 206227 w 221791"/>
              <a:gd name="connsiteY2" fmla="*/ 2101175 h 2101175"/>
              <a:gd name="connsiteX3" fmla="*/ 0 w 221791"/>
              <a:gd name="connsiteY3" fmla="*/ 2097284 h 2101175"/>
            </a:gdLst>
            <a:ahLst/>
            <a:cxnLst>
              <a:cxn ang="0">
                <a:pos x="connsiteX0" y="connsiteY0"/>
              </a:cxn>
              <a:cxn ang="0">
                <a:pos x="connsiteX1" y="connsiteY1"/>
              </a:cxn>
              <a:cxn ang="0">
                <a:pos x="connsiteX2" y="connsiteY2"/>
              </a:cxn>
              <a:cxn ang="0">
                <a:pos x="connsiteX3" y="connsiteY3"/>
              </a:cxn>
            </a:cxnLst>
            <a:rect l="l" t="t" r="r" b="b"/>
            <a:pathLst>
              <a:path w="221791" h="2101175">
                <a:moveTo>
                  <a:pt x="19456" y="0"/>
                </a:moveTo>
                <a:lnTo>
                  <a:pt x="221791" y="3891"/>
                </a:lnTo>
                <a:lnTo>
                  <a:pt x="206227" y="2101175"/>
                </a:lnTo>
                <a:lnTo>
                  <a:pt x="0" y="2097284"/>
                </a:lnTo>
              </a:path>
            </a:pathLst>
          </a:custGeom>
          <a:noFill/>
          <a:ln w="12700">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903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70"/>
          <p:cNvGraphicFramePr>
            <a:graphicFrameLocks/>
          </p:cNvGraphicFramePr>
          <p:nvPr>
            <p:extLst>
              <p:ext uri="{D42A27DB-BD31-4B8C-83A1-F6EECF244321}">
                <p14:modId xmlns:p14="http://schemas.microsoft.com/office/powerpoint/2010/main" val="748114170"/>
              </p:ext>
            </p:extLst>
          </p:nvPr>
        </p:nvGraphicFramePr>
        <p:xfrm>
          <a:off x="228599" y="838200"/>
          <a:ext cx="8610601" cy="5520165"/>
        </p:xfrm>
        <a:graphic>
          <a:graphicData uri="http://schemas.openxmlformats.org/drawingml/2006/table">
            <a:tbl>
              <a:tblPr/>
              <a:tblGrid>
                <a:gridCol w="879753">
                  <a:extLst>
                    <a:ext uri="{9D8B030D-6E8A-4147-A177-3AD203B41FA5}">
                      <a16:colId xmlns:a16="http://schemas.microsoft.com/office/drawing/2014/main" val="20000"/>
                    </a:ext>
                  </a:extLst>
                </a:gridCol>
                <a:gridCol w="1634848">
                  <a:extLst>
                    <a:ext uri="{9D8B030D-6E8A-4147-A177-3AD203B41FA5}">
                      <a16:colId xmlns:a16="http://schemas.microsoft.com/office/drawing/2014/main" val="20001"/>
                    </a:ext>
                  </a:extLst>
                </a:gridCol>
                <a:gridCol w="6096000">
                  <a:extLst>
                    <a:ext uri="{9D8B030D-6E8A-4147-A177-3AD203B41FA5}">
                      <a16:colId xmlns:a16="http://schemas.microsoft.com/office/drawing/2014/main" val="20002"/>
                    </a:ext>
                  </a:extLst>
                </a:gridCol>
              </a:tblGrid>
              <a:tr h="447614">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a:rPr>
                        <a:t>Owner</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a:ln>
                            <a:noFill/>
                          </a:ln>
                          <a:solidFill>
                            <a:schemeClr val="bg1"/>
                          </a:solidFill>
                          <a:effectLst/>
                          <a:latin typeface="Arial"/>
                        </a:rPr>
                        <a:t>Requirements and/or Additional Details</a:t>
                      </a:r>
                      <a:endParaRPr kumimoji="0" lang="en-US" sz="1200" b="1" i="0" u="none" strike="noStrike" cap="none" normalizeH="0" baseline="0" dirty="0">
                        <a:ln>
                          <a:noFill/>
                        </a:ln>
                        <a:solidFill>
                          <a:schemeClr val="bg1"/>
                        </a:solidFill>
                        <a:effectLst/>
                        <a:latin typeface="Arial"/>
                      </a:endParaRPr>
                    </a:p>
                  </a:txBody>
                  <a:tcPr marL="85864" marR="85864" marT="42117" marB="421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316662">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1a, 1b</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r>
                        <a:rPr kumimoji="0" lang="en-GB"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Plant Quality Engineer</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Develop a Known Issues Matrix (KIM Form) using QSYS data (Warranty, 0km, PORs, PCRs, FFMs, BIQ Leaders should review escalations from Quality Directors (via Olivier De Galard) from similar products/programs. Identify customer-specific requirements and expectations. to ensure critical issues are included. KIM must reflect lessons learned across manual, semi-automatic, and fully automated processes to prevent risks of product mishandling specially in safety products.</a:t>
                      </a:r>
                      <a:endParaRPr kumimoji="0" lang="pl-PL"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30113">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2</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Product Engineer</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Document critical characteristics in the Quality Assurance Matrix (QAM), ensuring lessons learned from the Known Issues Matrix (KIM) are integrated for future MQ evaluations.</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30113">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3</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Product Engineer / </a:t>
                      </a:r>
                      <a:r>
                        <a:rPr kumimoji="0" lang="en-US" sz="1000" b="0" i="0" u="none" strike="noStrike" kern="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Mfg</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Engineering</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Review KPCs, QCIs, PSDs, and F/F characteristics, ensuring tolerances are met with available equipment. All KPCs and F/F features require investment, monitoring, and 100% verification. If no investment is planned, customer approval must be obtained.</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30113">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4</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Manufacturing / Process Engineering</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Confirm equipment can prevent quality issues; </a:t>
                      </a:r>
                      <a:r>
                        <a:rPr kumimoji="0" lang="en-US" alt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inform Program Management, and escalate if unresolved by the BIQ Leader.</a:t>
                      </a: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Explain further the risks encountered and potential issues.</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30113">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5</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Manufacturing/ Process Engineer</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 Ensure </a:t>
                      </a: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Alignment of  Statement of Work (SOW)  - QAM and E</a:t>
                      </a:r>
                      <a:r>
                        <a:rPr kumimoji="0" lang="pl-PL" altLang="en-US" sz="1000" b="0" i="0" u="none" strike="noStrike" kern="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rror</a:t>
                      </a:r>
                      <a:r>
                        <a:rPr kumimoji="0" lang="pl-PL"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Proof </a:t>
                      </a: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t>
                      </a:r>
                      <a:r>
                        <a:rPr kumimoji="0" lang="en-US" alt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 Poka-yokes list to ensure that the machine or equipment being installed achieves that desired quality care to prevent issues with customers. Decision to invest less than required will lead to a Red Status in Quality for the program management dashboard reviews.</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30113">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6</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Perform MQ1  from BIQ perspective, ensure that all items in QAM are evaluated versus SOW, ensure that the Dashboard for APQP is updated with your information.</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30113">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7</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If the process can prevent, detect, and monitor quality issues (including critical characteristics), proceed to Step 8; if not, document gaps in the KIM, inform Program Management, and escalate if unresolved by the BIQ Leader.</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530113">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8a</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Approve MQ1 from BIQ perspective if QAM is in compliance at the point when the machine is assessed by quality at supplier of machinery site. Follow the MQ1 checklist with required approval from BIQ leader.</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530113">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8b</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Industrial Engineering or </a:t>
                      </a:r>
                      <a:r>
                        <a:rPr kumimoji="0" lang="en-US" sz="1000" b="0" i="0" u="none" strike="noStrike" kern="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Mfg</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Engineering</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Document PFMEA based on critical characteristics, potential failure modes and process controls with support of the </a:t>
                      </a:r>
                      <a:r>
                        <a:rPr kumimoji="0" lang="en-GB" sz="1000" b="1" i="0" u="none" strike="noStrike" cap="none" normalizeH="0" baseline="0" dirty="0">
                          <a:ln>
                            <a:noFill/>
                          </a:ln>
                          <a:solidFill>
                            <a:schemeClr val="tx1">
                              <a:lumMod val="65000"/>
                              <a:lumOff val="35000"/>
                            </a:schemeClr>
                          </a:solidFill>
                          <a:effectLst/>
                          <a:latin typeface="Arial"/>
                        </a:rPr>
                        <a:t>BIQ Leader</a:t>
                      </a:r>
                      <a:endParaRPr kumimoji="0" lang="pl-PL"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327028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CDC28-1509-9970-BBBE-C5B693E0B21A}"/>
            </a:ext>
          </a:extLst>
        </p:cNvPr>
        <p:cNvGrpSpPr/>
        <p:nvPr/>
      </p:nvGrpSpPr>
      <p:grpSpPr>
        <a:xfrm>
          <a:off x="0" y="0"/>
          <a:ext cx="0" cy="0"/>
          <a:chOff x="0" y="0"/>
          <a:chExt cx="0" cy="0"/>
        </a:xfrm>
      </p:grpSpPr>
      <p:graphicFrame>
        <p:nvGraphicFramePr>
          <p:cNvPr id="4" name="Group 70">
            <a:extLst>
              <a:ext uri="{FF2B5EF4-FFF2-40B4-BE49-F238E27FC236}">
                <a16:creationId xmlns:a16="http://schemas.microsoft.com/office/drawing/2014/main" id="{E62B70D2-F851-2CC3-D2D1-6C009D7D0155}"/>
              </a:ext>
            </a:extLst>
          </p:cNvPr>
          <p:cNvGraphicFramePr>
            <a:graphicFrameLocks/>
          </p:cNvGraphicFramePr>
          <p:nvPr>
            <p:extLst>
              <p:ext uri="{D42A27DB-BD31-4B8C-83A1-F6EECF244321}">
                <p14:modId xmlns:p14="http://schemas.microsoft.com/office/powerpoint/2010/main" val="3731730159"/>
              </p:ext>
            </p:extLst>
          </p:nvPr>
        </p:nvGraphicFramePr>
        <p:xfrm>
          <a:off x="228599" y="838200"/>
          <a:ext cx="8610601" cy="5645078"/>
        </p:xfrm>
        <a:graphic>
          <a:graphicData uri="http://schemas.openxmlformats.org/drawingml/2006/table">
            <a:tbl>
              <a:tblPr/>
              <a:tblGrid>
                <a:gridCol w="879753">
                  <a:extLst>
                    <a:ext uri="{9D8B030D-6E8A-4147-A177-3AD203B41FA5}">
                      <a16:colId xmlns:a16="http://schemas.microsoft.com/office/drawing/2014/main" val="20000"/>
                    </a:ext>
                  </a:extLst>
                </a:gridCol>
                <a:gridCol w="1634848">
                  <a:extLst>
                    <a:ext uri="{9D8B030D-6E8A-4147-A177-3AD203B41FA5}">
                      <a16:colId xmlns:a16="http://schemas.microsoft.com/office/drawing/2014/main" val="20001"/>
                    </a:ext>
                  </a:extLst>
                </a:gridCol>
                <a:gridCol w="6096000">
                  <a:extLst>
                    <a:ext uri="{9D8B030D-6E8A-4147-A177-3AD203B41FA5}">
                      <a16:colId xmlns:a16="http://schemas.microsoft.com/office/drawing/2014/main" val="20002"/>
                    </a:ext>
                  </a:extLst>
                </a:gridCol>
              </a:tblGrid>
              <a:tr h="447614">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a:rPr>
                        <a:t>Owner</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a:rPr>
                        <a:t>Requirements and/or Additional Details</a:t>
                      </a:r>
                    </a:p>
                  </a:txBody>
                  <a:tcPr marL="85864" marR="85864" marT="42117" marB="421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490600">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9</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ME/ IE</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Document PFMEA  with focus on Critical Characteristics with High Severity impact, potential failure modes associated and process controls already identified in QAM format with support of </a:t>
                      </a: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75668545"/>
                  </a:ext>
                </a:extLst>
              </a:tr>
              <a:tr h="490600">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10</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GB" sz="1000" b="1" i="0" u="none" strike="noStrike" cap="none" normalizeH="0" baseline="0" dirty="0">
                          <a:ln>
                            <a:noFill/>
                          </a:ln>
                          <a:solidFill>
                            <a:schemeClr val="tx1">
                              <a:lumMod val="65000"/>
                              <a:lumOff val="35000"/>
                            </a:schemeClr>
                          </a:solidFill>
                          <a:effectLst/>
                          <a:latin typeface="Arial"/>
                        </a:rPr>
                        <a:t>BIQ Leader </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Quality Manager</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Perform MQ2 revision from BIQ perspective &amp; Approve MQ2 by  Plant Quality </a:t>
                      </a:r>
                      <a:r>
                        <a:rPr kumimoji="0" lang="en-US" altLang="en-US" sz="1000" b="0" i="0" u="none" strike="noStrike" kern="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Mgr</a:t>
                      </a: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endParaRPr kumimoji="0" lang="pl-PL"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3011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11</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If the process can prevent and detect quality issues (including critical characteristics), proceed to Step 12; if not, document gaps in the KIM and inform the Plant Quality Manager and Regional Quality Director about the risks of not meeting required controls for specific KPCs or other critical features.</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3011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12</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GB" sz="1000" b="1" i="0" u="none" strike="noStrike" cap="none" normalizeH="0" baseline="0" dirty="0">
                          <a:ln>
                            <a:noFill/>
                          </a:ln>
                          <a:solidFill>
                            <a:schemeClr val="tx1">
                              <a:lumMod val="65000"/>
                              <a:lumOff val="35000"/>
                            </a:schemeClr>
                          </a:solidFill>
                          <a:effectLst/>
                          <a:latin typeface="Arial"/>
                        </a:rPr>
                        <a:t>BIQ Leader </a:t>
                      </a:r>
                      <a:r>
                        <a:rPr kumimoji="0" 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Quality Manager</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Approve MQ2 form BIQ perspective</a:t>
                      </a:r>
                      <a:endParaRPr kumimoji="0" lang="pl-PL"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3011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13</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Create the Control Plan using PFMEA, MQs, and QAM inputs. It may be phased, but must be completed before launch. The BIQ Leader should hold reviews until all key QAM and KIM issues are addressed with defined controls in the plan.</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3011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14</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Prepare a safe launch plan according to the customer requirement and document it in the control plan</a:t>
                      </a:r>
                      <a:endParaRPr kumimoji="0" lang="pl-PL"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30113">
                <a:tc>
                  <a:txBody>
                    <a:bodyPr/>
                    <a:lstStyle/>
                    <a:p>
                      <a:pPr marL="0" marR="0" lvl="0" indent="0" algn="ctr" rtl="0">
                        <a:lnSpc>
                          <a:spcPct val="87000"/>
                        </a:lnSpc>
                        <a:spcBef>
                          <a:spcPct val="30000"/>
                        </a:spcBef>
                        <a:spcAft>
                          <a:spcPct val="0"/>
                        </a:spcAft>
                        <a:buSzTx/>
                        <a:buFont typeface="Monotype Sorts" pitchFamily="2" charset="2"/>
                        <a:buNone/>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15</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GB"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Plant PPAP Engineer or Technician</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Submit the PPAP package with support from the multidisciplinary team. Coordination is the Program Manager’s responsibility, not Quality or the BIQ Leader.</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3011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16</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Did we get Full PPAP Approval and no safe launch issues in 90 days then go to step 17, if we didn’t, document the open items in the KIM</a:t>
                      </a:r>
                    </a:p>
                    <a:p>
                      <a:pPr marL="171450" marR="0" lvl="0" indent="-17145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50547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rPr>
                        <a:t>17</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a:lnSpc>
                          <a:spcPct val="87000"/>
                        </a:lnSpc>
                        <a:spcBef>
                          <a:spcPct val="30000"/>
                        </a:spcBef>
                        <a:spcAft>
                          <a:spcPct val="0"/>
                        </a:spcAft>
                        <a:buNone/>
                      </a:pPr>
                      <a:r>
                        <a:rPr kumimoji="0" lang="en-GB"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Plant Quality Engineering</a:t>
                      </a: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Plant takes control of the program</a:t>
                      </a:r>
                      <a:endParaRPr kumimoji="0" lang="pl-PL" altLang="en-US" sz="1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000" b="0" i="0" u="none" strike="noStrike" kern="0" cap="none" spc="0" normalizeH="0" baseline="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53011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kern="0" cap="none" spc="0" normalizeH="0" baseline="0" dirty="0">
                          <a:ln>
                            <a:noFill/>
                          </a:ln>
                          <a:solidFill>
                            <a:srgbClr val="000000"/>
                          </a:solidFill>
                          <a:effectLst/>
                          <a:uLnTx/>
                          <a:uFillTx/>
                          <a:latin typeface="+mn-lt"/>
                          <a:ea typeface="+mn-ea"/>
                          <a:cs typeface="+mn-cs"/>
                        </a:rPr>
                        <a:t>18</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14400" rtl="0" eaLnBrk="1" fontAlgn="auto" latinLnBrk="0" hangingPunct="1">
                        <a:lnSpc>
                          <a:spcPct val="87000"/>
                        </a:lnSpc>
                        <a:spcBef>
                          <a:spcPct val="30000"/>
                        </a:spcBef>
                        <a:spcAft>
                          <a:spcPct val="0"/>
                        </a:spcAft>
                        <a:buClrTx/>
                        <a:buSzTx/>
                        <a:buFontTx/>
                        <a:buNone/>
                        <a:tabLst/>
                        <a:defRPr/>
                      </a:pPr>
                      <a:r>
                        <a:rPr kumimoji="0" lang="en-GB" sz="1000" b="1" i="0" u="none" strike="noStrike" cap="none" normalizeH="0" baseline="0" dirty="0">
                          <a:ln>
                            <a:noFill/>
                          </a:ln>
                          <a:solidFill>
                            <a:schemeClr val="tx1">
                              <a:lumMod val="65000"/>
                              <a:lumOff val="35000"/>
                            </a:schemeClr>
                          </a:solidFill>
                          <a:effectLst/>
                          <a:latin typeface="Arial"/>
                        </a:rPr>
                        <a:t>BIQ Leader </a:t>
                      </a:r>
                      <a:endParaRPr kumimoji="0" lang="en-US" sz="1000" b="0" i="0" u="none" strike="noStrike" kern="0" cap="none" spc="0" normalizeH="0" baseline="0" noProof="0" dirty="0">
                        <a:ln>
                          <a:noFill/>
                        </a:ln>
                        <a:solidFill>
                          <a:srgbClr val="000000"/>
                        </a:solidFill>
                        <a:effectLst/>
                        <a:uLnTx/>
                        <a:uFillTx/>
                        <a:latin typeface="+mn-lt"/>
                        <a:ea typeface="+mn-ea"/>
                        <a:cs typeface="+mn-cs"/>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r>
                        <a:rPr kumimoji="0" lang="en-US"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Document action item in the KIM until closure with Multi- disciplinary team.</a:t>
                      </a:r>
                      <a:endParaRPr kumimoji="0" lang="pl-PL" altLang="en-US" sz="10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69166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0FCE870-9D02-3C2C-77AD-DFC4663FF925}"/>
              </a:ext>
            </a:extLst>
          </p:cNvPr>
          <p:cNvGraphicFramePr>
            <a:graphicFrameLocks noGrp="1"/>
          </p:cNvGraphicFramePr>
          <p:nvPr>
            <p:extLst>
              <p:ext uri="{D42A27DB-BD31-4B8C-83A1-F6EECF244321}">
                <p14:modId xmlns:p14="http://schemas.microsoft.com/office/powerpoint/2010/main" val="1883610745"/>
              </p:ext>
            </p:extLst>
          </p:nvPr>
        </p:nvGraphicFramePr>
        <p:xfrm>
          <a:off x="362198" y="1039091"/>
          <a:ext cx="8229595" cy="3014934"/>
        </p:xfrm>
        <a:graphic>
          <a:graphicData uri="http://schemas.openxmlformats.org/drawingml/2006/table">
            <a:tbl>
              <a:tblPr>
                <a:tableStyleId>{5940675A-B579-460E-94D1-54222C63F5DA}</a:tableStyleId>
              </a:tblPr>
              <a:tblGrid>
                <a:gridCol w="2599304">
                  <a:extLst>
                    <a:ext uri="{9D8B030D-6E8A-4147-A177-3AD203B41FA5}">
                      <a16:colId xmlns:a16="http://schemas.microsoft.com/office/drawing/2014/main" val="2712038222"/>
                    </a:ext>
                  </a:extLst>
                </a:gridCol>
                <a:gridCol w="2599304">
                  <a:extLst>
                    <a:ext uri="{9D8B030D-6E8A-4147-A177-3AD203B41FA5}">
                      <a16:colId xmlns:a16="http://schemas.microsoft.com/office/drawing/2014/main" val="692364507"/>
                    </a:ext>
                  </a:extLst>
                </a:gridCol>
                <a:gridCol w="468426">
                  <a:extLst>
                    <a:ext uri="{9D8B030D-6E8A-4147-A177-3AD203B41FA5}">
                      <a16:colId xmlns:a16="http://schemas.microsoft.com/office/drawing/2014/main" val="2275608330"/>
                    </a:ext>
                  </a:extLst>
                </a:gridCol>
                <a:gridCol w="284729">
                  <a:extLst>
                    <a:ext uri="{9D8B030D-6E8A-4147-A177-3AD203B41FA5}">
                      <a16:colId xmlns:a16="http://schemas.microsoft.com/office/drawing/2014/main" val="2161963989"/>
                    </a:ext>
                  </a:extLst>
                </a:gridCol>
                <a:gridCol w="284729">
                  <a:extLst>
                    <a:ext uri="{9D8B030D-6E8A-4147-A177-3AD203B41FA5}">
                      <a16:colId xmlns:a16="http://schemas.microsoft.com/office/drawing/2014/main" val="2196848293"/>
                    </a:ext>
                  </a:extLst>
                </a:gridCol>
                <a:gridCol w="284729">
                  <a:extLst>
                    <a:ext uri="{9D8B030D-6E8A-4147-A177-3AD203B41FA5}">
                      <a16:colId xmlns:a16="http://schemas.microsoft.com/office/drawing/2014/main" val="4212422772"/>
                    </a:ext>
                  </a:extLst>
                </a:gridCol>
                <a:gridCol w="284729">
                  <a:extLst>
                    <a:ext uri="{9D8B030D-6E8A-4147-A177-3AD203B41FA5}">
                      <a16:colId xmlns:a16="http://schemas.microsoft.com/office/drawing/2014/main" val="3373779520"/>
                    </a:ext>
                  </a:extLst>
                </a:gridCol>
                <a:gridCol w="284729">
                  <a:extLst>
                    <a:ext uri="{9D8B030D-6E8A-4147-A177-3AD203B41FA5}">
                      <a16:colId xmlns:a16="http://schemas.microsoft.com/office/drawing/2014/main" val="3156521842"/>
                    </a:ext>
                  </a:extLst>
                </a:gridCol>
                <a:gridCol w="284729">
                  <a:extLst>
                    <a:ext uri="{9D8B030D-6E8A-4147-A177-3AD203B41FA5}">
                      <a16:colId xmlns:a16="http://schemas.microsoft.com/office/drawing/2014/main" val="473081544"/>
                    </a:ext>
                  </a:extLst>
                </a:gridCol>
                <a:gridCol w="284729">
                  <a:extLst>
                    <a:ext uri="{9D8B030D-6E8A-4147-A177-3AD203B41FA5}">
                      <a16:colId xmlns:a16="http://schemas.microsoft.com/office/drawing/2014/main" val="1409337624"/>
                    </a:ext>
                  </a:extLst>
                </a:gridCol>
                <a:gridCol w="284729">
                  <a:extLst>
                    <a:ext uri="{9D8B030D-6E8A-4147-A177-3AD203B41FA5}">
                      <a16:colId xmlns:a16="http://schemas.microsoft.com/office/drawing/2014/main" val="1286773550"/>
                    </a:ext>
                  </a:extLst>
                </a:gridCol>
                <a:gridCol w="284729">
                  <a:extLst>
                    <a:ext uri="{9D8B030D-6E8A-4147-A177-3AD203B41FA5}">
                      <a16:colId xmlns:a16="http://schemas.microsoft.com/office/drawing/2014/main" val="1418912380"/>
                    </a:ext>
                  </a:extLst>
                </a:gridCol>
              </a:tblGrid>
              <a:tr h="490946">
                <a:tc>
                  <a:txBody>
                    <a:bodyPr/>
                    <a:lstStyle/>
                    <a:p>
                      <a:pPr algn="ctr" fontAlgn="b"/>
                      <a:r>
                        <a:rPr lang="en-US" sz="1200" b="1" u="none" strike="noStrike" dirty="0">
                          <a:effectLst/>
                          <a:latin typeface="Arial" panose="020B0604020202020204" pitchFamily="34" charset="0"/>
                          <a:cs typeface="Arial" panose="020B0604020202020204" pitchFamily="34" charset="0"/>
                        </a:rPr>
                        <a:t>EMEA RASIC Task</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1200" b="1" u="none" strike="noStrike" dirty="0">
                          <a:effectLst/>
                          <a:latin typeface="Arial" panose="020B0604020202020204" pitchFamily="34" charset="0"/>
                          <a:cs typeface="Arial" panose="020B0604020202020204" pitchFamily="34" charset="0"/>
                        </a:rPr>
                        <a:t>APQP RASIC Global Procedure</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1000" u="none" strike="noStrike" dirty="0">
                          <a:effectLst/>
                          <a:latin typeface="Arial" panose="020B0604020202020204" pitchFamily="34" charset="0"/>
                          <a:cs typeface="Arial" panose="020B0604020202020204" pitchFamily="34" charset="0"/>
                        </a:rPr>
                        <a:t>Task Owner</a:t>
                      </a:r>
                      <a:endParaRPr lang="en-US" sz="10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ctr"/>
                      <a:r>
                        <a:rPr lang="en-US" sz="600" u="none" strike="noStrike">
                          <a:effectLst/>
                          <a:latin typeface="Arial" panose="020B0604020202020204" pitchFamily="34" charset="0"/>
                          <a:cs typeface="Arial" panose="020B0604020202020204" pitchFamily="34" charset="0"/>
                        </a:rPr>
                        <a:t>Program Management</a:t>
                      </a:r>
                      <a:endParaRPr lang="en-US" sz="600" b="1" i="0" u="none" strike="noStrike">
                        <a:solidFill>
                          <a:srgbClr val="000000"/>
                        </a:solidFill>
                        <a:effectLst/>
                        <a:latin typeface="Arial" panose="020B0604020202020204" pitchFamily="34" charset="0"/>
                        <a:cs typeface="Arial" panose="020B0604020202020204" pitchFamily="34" charset="0"/>
                      </a:endParaRPr>
                    </a:p>
                  </a:txBody>
                  <a:tcPr marL="0" marR="0" marT="0" marB="0" vert="vert270" anchor="ctr"/>
                </a:tc>
                <a:tc>
                  <a:txBody>
                    <a:bodyPr/>
                    <a:lstStyle/>
                    <a:p>
                      <a:pPr algn="ctr" fontAlgn="ctr"/>
                      <a:r>
                        <a:rPr lang="en-US" sz="600" u="none" strike="noStrike">
                          <a:effectLst/>
                          <a:latin typeface="Arial" panose="020B0604020202020204" pitchFamily="34" charset="0"/>
                          <a:cs typeface="Arial" panose="020B0604020202020204" pitchFamily="34" charset="0"/>
                        </a:rPr>
                        <a:t>Sales</a:t>
                      </a:r>
                      <a:endParaRPr lang="en-US" sz="600" b="1" i="0" u="none" strike="noStrike">
                        <a:solidFill>
                          <a:srgbClr val="000000"/>
                        </a:solidFill>
                        <a:effectLst/>
                        <a:latin typeface="Arial" panose="020B0604020202020204" pitchFamily="34" charset="0"/>
                        <a:cs typeface="Arial" panose="020B0604020202020204" pitchFamily="34" charset="0"/>
                      </a:endParaRPr>
                    </a:p>
                  </a:txBody>
                  <a:tcPr marL="0" marR="0" marT="0" marB="0" vert="vert270" anchor="ctr"/>
                </a:tc>
                <a:tc>
                  <a:txBody>
                    <a:bodyPr/>
                    <a:lstStyle/>
                    <a:p>
                      <a:pPr algn="ctr" fontAlgn="ctr"/>
                      <a:r>
                        <a:rPr lang="en-US" sz="600" u="none" strike="noStrike" dirty="0">
                          <a:effectLst/>
                          <a:latin typeface="Arial" panose="020B0604020202020204" pitchFamily="34" charset="0"/>
                          <a:cs typeface="Arial" panose="020B0604020202020204" pitchFamily="34" charset="0"/>
                        </a:rPr>
                        <a:t>Customer Satisfaction</a:t>
                      </a:r>
                      <a:endParaRPr lang="en-US" sz="6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vert="vert270" anchor="ctr">
                    <a:solidFill>
                      <a:schemeClr val="accent3">
                        <a:lumMod val="40000"/>
                        <a:lumOff val="60000"/>
                      </a:schemeClr>
                    </a:solidFill>
                  </a:tcPr>
                </a:tc>
                <a:tc>
                  <a:txBody>
                    <a:bodyPr/>
                    <a:lstStyle/>
                    <a:p>
                      <a:pPr algn="ctr" fontAlgn="ctr"/>
                      <a:r>
                        <a:rPr lang="en-US" sz="600" u="none" strike="noStrike">
                          <a:effectLst/>
                          <a:latin typeface="Arial" panose="020B0604020202020204" pitchFamily="34" charset="0"/>
                          <a:cs typeface="Arial" panose="020B0604020202020204" pitchFamily="34" charset="0"/>
                        </a:rPr>
                        <a:t>Manufacturing Engineering</a:t>
                      </a:r>
                      <a:endParaRPr lang="en-US" sz="600" b="1" i="0" u="none" strike="noStrike">
                        <a:solidFill>
                          <a:srgbClr val="000000"/>
                        </a:solidFill>
                        <a:effectLst/>
                        <a:latin typeface="Arial" panose="020B0604020202020204" pitchFamily="34" charset="0"/>
                        <a:cs typeface="Arial" panose="020B0604020202020204" pitchFamily="34" charset="0"/>
                      </a:endParaRPr>
                    </a:p>
                  </a:txBody>
                  <a:tcPr marL="0" marR="0" marT="0" marB="0" vert="vert270" anchor="ctr"/>
                </a:tc>
                <a:tc>
                  <a:txBody>
                    <a:bodyPr/>
                    <a:lstStyle/>
                    <a:p>
                      <a:pPr algn="ctr" fontAlgn="ctr"/>
                      <a:r>
                        <a:rPr lang="en-US" sz="600" u="none" strike="noStrike">
                          <a:effectLst/>
                          <a:latin typeface="Arial" panose="020B0604020202020204" pitchFamily="34" charset="0"/>
                          <a:cs typeface="Arial" panose="020B0604020202020204" pitchFamily="34" charset="0"/>
                        </a:rPr>
                        <a:t>Product Engineering</a:t>
                      </a:r>
                      <a:endParaRPr lang="en-US" sz="600" b="1" i="0" u="none" strike="noStrike">
                        <a:solidFill>
                          <a:srgbClr val="000000"/>
                        </a:solidFill>
                        <a:effectLst/>
                        <a:latin typeface="Arial" panose="020B0604020202020204" pitchFamily="34" charset="0"/>
                        <a:cs typeface="Arial" panose="020B0604020202020204" pitchFamily="34" charset="0"/>
                      </a:endParaRPr>
                    </a:p>
                  </a:txBody>
                  <a:tcPr marL="0" marR="0" marT="0" marB="0" vert="vert270" anchor="ctr"/>
                </a:tc>
                <a:tc>
                  <a:txBody>
                    <a:bodyPr/>
                    <a:lstStyle/>
                    <a:p>
                      <a:pPr algn="ctr" fontAlgn="ctr"/>
                      <a:r>
                        <a:rPr lang="en-US" sz="600" u="none" strike="noStrike">
                          <a:effectLst/>
                          <a:latin typeface="Arial" panose="020B0604020202020204" pitchFamily="34" charset="0"/>
                          <a:cs typeface="Arial" panose="020B0604020202020204" pitchFamily="34" charset="0"/>
                        </a:rPr>
                        <a:t>Humarn Resources</a:t>
                      </a:r>
                      <a:endParaRPr lang="en-US" sz="600" b="1" i="0" u="none" strike="noStrike">
                        <a:solidFill>
                          <a:srgbClr val="000000"/>
                        </a:solidFill>
                        <a:effectLst/>
                        <a:latin typeface="Arial" panose="020B0604020202020204" pitchFamily="34" charset="0"/>
                        <a:cs typeface="Arial" panose="020B0604020202020204" pitchFamily="34" charset="0"/>
                      </a:endParaRPr>
                    </a:p>
                  </a:txBody>
                  <a:tcPr marL="0" marR="0" marT="0" marB="0" vert="vert270" anchor="ctr"/>
                </a:tc>
                <a:tc>
                  <a:txBody>
                    <a:bodyPr/>
                    <a:lstStyle/>
                    <a:p>
                      <a:pPr algn="ctr" fontAlgn="ctr"/>
                      <a:r>
                        <a:rPr lang="en-US" sz="600" u="none" strike="noStrike">
                          <a:effectLst/>
                          <a:latin typeface="Arial" panose="020B0604020202020204" pitchFamily="34" charset="0"/>
                          <a:cs typeface="Arial" panose="020B0604020202020204" pitchFamily="34" charset="0"/>
                        </a:rPr>
                        <a:t>Supply chain Management</a:t>
                      </a:r>
                      <a:endParaRPr lang="en-US" sz="600" b="1" i="0" u="none" strike="noStrike">
                        <a:solidFill>
                          <a:srgbClr val="000000"/>
                        </a:solidFill>
                        <a:effectLst/>
                        <a:latin typeface="Arial" panose="020B0604020202020204" pitchFamily="34" charset="0"/>
                        <a:cs typeface="Arial" panose="020B0604020202020204" pitchFamily="34" charset="0"/>
                      </a:endParaRPr>
                    </a:p>
                  </a:txBody>
                  <a:tcPr marL="0" marR="0" marT="0" marB="0" vert="vert270" anchor="ctr"/>
                </a:tc>
                <a:tc>
                  <a:txBody>
                    <a:bodyPr/>
                    <a:lstStyle/>
                    <a:p>
                      <a:pPr algn="ctr" fontAlgn="ctr"/>
                      <a:r>
                        <a:rPr lang="en-US" sz="600" u="none" strike="noStrike">
                          <a:effectLst/>
                          <a:latin typeface="Arial" panose="020B0604020202020204" pitchFamily="34" charset="0"/>
                          <a:cs typeface="Arial" panose="020B0604020202020204" pitchFamily="34" charset="0"/>
                        </a:rPr>
                        <a:t>Production Control               ( PC&amp;L)</a:t>
                      </a:r>
                      <a:endParaRPr lang="en-US" sz="600" b="1" i="0" u="none" strike="noStrike">
                        <a:solidFill>
                          <a:srgbClr val="000000"/>
                        </a:solidFill>
                        <a:effectLst/>
                        <a:latin typeface="Arial" panose="020B0604020202020204" pitchFamily="34" charset="0"/>
                        <a:cs typeface="Arial" panose="020B0604020202020204" pitchFamily="34" charset="0"/>
                      </a:endParaRPr>
                    </a:p>
                  </a:txBody>
                  <a:tcPr marL="0" marR="0" marT="0" marB="0" vert="vert270" anchor="ctr"/>
                </a:tc>
                <a:tc>
                  <a:txBody>
                    <a:bodyPr/>
                    <a:lstStyle/>
                    <a:p>
                      <a:pPr algn="ctr" fontAlgn="ctr"/>
                      <a:r>
                        <a:rPr lang="en-US" sz="600" u="none" strike="noStrike">
                          <a:effectLst/>
                          <a:latin typeface="Arial" panose="020B0604020202020204" pitchFamily="34" charset="0"/>
                          <a:cs typeface="Arial" panose="020B0604020202020204" pitchFamily="34" charset="0"/>
                        </a:rPr>
                        <a:t>Manufacturing</a:t>
                      </a:r>
                      <a:endParaRPr lang="en-US" sz="600" b="1" i="0" u="none" strike="noStrike">
                        <a:solidFill>
                          <a:srgbClr val="000000"/>
                        </a:solidFill>
                        <a:effectLst/>
                        <a:latin typeface="Arial" panose="020B0604020202020204" pitchFamily="34" charset="0"/>
                        <a:cs typeface="Arial" panose="020B0604020202020204" pitchFamily="34" charset="0"/>
                      </a:endParaRPr>
                    </a:p>
                  </a:txBody>
                  <a:tcPr marL="0" marR="0" marT="0" marB="0" vert="vert270" anchor="ctr"/>
                </a:tc>
                <a:extLst>
                  <a:ext uri="{0D108BD9-81ED-4DB2-BD59-A6C34878D82A}">
                    <a16:rowId xmlns:a16="http://schemas.microsoft.com/office/drawing/2014/main" val="2701445263"/>
                  </a:ext>
                </a:extLst>
              </a:tr>
              <a:tr h="143283">
                <a:tc>
                  <a:txBody>
                    <a:bodyPr/>
                    <a:lstStyle/>
                    <a:p>
                      <a:pPr algn="ctr" fontAlgn="ctr"/>
                      <a:r>
                        <a:rPr lang="en-US" sz="900" u="none" strike="noStrike">
                          <a:effectLst/>
                          <a:latin typeface="Arial" panose="020B0604020202020204" pitchFamily="34" charset="0"/>
                          <a:cs typeface="Arial" panose="020B0604020202020204" pitchFamily="34" charset="0"/>
                        </a:rPr>
                        <a:t> Lessons Learned / Problem Solving</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US" sz="900" u="none" strike="noStrike">
                          <a:effectLst/>
                          <a:latin typeface="Arial" panose="020B0604020202020204" pitchFamily="34" charset="0"/>
                          <a:cs typeface="Arial" panose="020B0604020202020204" pitchFamily="34" charset="0"/>
                        </a:rPr>
                        <a:t>KIM Format (Step 1a)</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US" sz="900" u="none" strike="noStrike" dirty="0">
                          <a:effectLst/>
                          <a:latin typeface="Arial" panose="020B0604020202020204" pitchFamily="34" charset="0"/>
                          <a:cs typeface="Arial" panose="020B0604020202020204" pitchFamily="34" charset="0"/>
                        </a:rPr>
                        <a:t>CS</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R</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3664390080"/>
                  </a:ext>
                </a:extLst>
              </a:tr>
              <a:tr h="143283">
                <a:tc>
                  <a:txBody>
                    <a:bodyPr/>
                    <a:lstStyle/>
                    <a:p>
                      <a:pPr algn="ctr" fontAlgn="ctr"/>
                      <a:r>
                        <a:rPr lang="en-US" sz="900" u="none" strike="noStrike">
                          <a:effectLst/>
                          <a:latin typeface="Arial" panose="020B0604020202020204" pitchFamily="34" charset="0"/>
                          <a:cs typeface="Arial" panose="020B0604020202020204" pitchFamily="34" charset="0"/>
                        </a:rPr>
                        <a:t>Prototype Control Plan </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US" sz="900" u="none" strike="noStrike">
                          <a:effectLst/>
                          <a:latin typeface="Arial" panose="020B0604020202020204" pitchFamily="34" charset="0"/>
                          <a:cs typeface="Arial" panose="020B0604020202020204" pitchFamily="34" charset="0"/>
                        </a:rPr>
                        <a:t>Process Control Plan deployment with QAM/KIM</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US" sz="900" u="none" strike="noStrike">
                          <a:effectLst/>
                          <a:latin typeface="Arial" panose="020B0604020202020204" pitchFamily="34" charset="0"/>
                          <a:cs typeface="Arial" panose="020B0604020202020204" pitchFamily="34" charset="0"/>
                        </a:rPr>
                        <a:t>CS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R</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27660294"/>
                  </a:ext>
                </a:extLst>
              </a:tr>
              <a:tr h="143283">
                <a:tc>
                  <a:txBody>
                    <a:bodyPr/>
                    <a:lstStyle/>
                    <a:p>
                      <a:pPr algn="ctr" fontAlgn="b"/>
                      <a:r>
                        <a:rPr lang="en-US" sz="900" u="none" strike="noStrike">
                          <a:effectLst/>
                          <a:latin typeface="Arial" panose="020B0604020202020204" pitchFamily="34" charset="0"/>
                          <a:cs typeface="Arial" panose="020B0604020202020204" pitchFamily="34" charset="0"/>
                        </a:rPr>
                        <a:t>Training on Customer specific Requirements </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Customer Specific Requirements Step 1b</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CS</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R</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1123748522"/>
                  </a:ext>
                </a:extLst>
              </a:tr>
              <a:tr h="286566">
                <a:tc>
                  <a:txBody>
                    <a:bodyPr/>
                    <a:lstStyle/>
                    <a:p>
                      <a:pPr algn="ctr" fontAlgn="b"/>
                      <a:r>
                        <a:rPr lang="en-US" sz="900" u="none" strike="noStrike" dirty="0">
                          <a:effectLst/>
                          <a:latin typeface="Arial" panose="020B0604020202020204" pitchFamily="34" charset="0"/>
                          <a:cs typeface="Arial" panose="020B0604020202020204" pitchFamily="34" charset="0"/>
                        </a:rPr>
                        <a:t>Develop Incoming Control</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Step 2 and Step 13 -QAM Format and development of process control plan</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CS</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R</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C</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3222531749"/>
                  </a:ext>
                </a:extLst>
              </a:tr>
              <a:tr h="143283">
                <a:tc>
                  <a:txBody>
                    <a:bodyPr/>
                    <a:lstStyle/>
                    <a:p>
                      <a:pPr algn="ctr" fontAlgn="ctr"/>
                      <a:r>
                        <a:rPr lang="en-US" sz="900" u="none" strike="noStrike">
                          <a:effectLst/>
                          <a:latin typeface="Arial" panose="020B0604020202020204" pitchFamily="34" charset="0"/>
                          <a:cs typeface="Arial" panose="020B0604020202020204" pitchFamily="34" charset="0"/>
                        </a:rPr>
                        <a:t>Pre-Launch Control Plan</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US" sz="900" u="none" strike="noStrike">
                          <a:effectLst/>
                          <a:latin typeface="Arial" panose="020B0604020202020204" pitchFamily="34" charset="0"/>
                          <a:cs typeface="Arial" panose="020B0604020202020204" pitchFamily="34" charset="0"/>
                        </a:rPr>
                        <a:t>Step 13- Process Control Plan deployment with QAM/KIM</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US" sz="900" u="none" strike="noStrike" dirty="0">
                          <a:effectLst/>
                          <a:latin typeface="Arial" panose="020B0604020202020204" pitchFamily="34" charset="0"/>
                          <a:cs typeface="Arial" panose="020B0604020202020204" pitchFamily="34" charset="0"/>
                        </a:rPr>
                        <a:t>CS</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R</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3224250910"/>
                  </a:ext>
                </a:extLst>
              </a:tr>
              <a:tr h="143283">
                <a:tc>
                  <a:txBody>
                    <a:bodyPr/>
                    <a:lstStyle/>
                    <a:p>
                      <a:pPr algn="ctr" fontAlgn="b"/>
                      <a:r>
                        <a:rPr lang="en-US" sz="900" u="none" strike="noStrike">
                          <a:effectLst/>
                          <a:latin typeface="Arial" panose="020B0604020202020204" pitchFamily="34" charset="0"/>
                          <a:cs typeface="Arial" panose="020B0604020202020204" pitchFamily="34" charset="0"/>
                        </a:rPr>
                        <a:t>Early Containment plan &amp; CSE coverage</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Step 14 - Safe Launch Plan</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CS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R</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178482898"/>
                  </a:ext>
                </a:extLst>
              </a:tr>
              <a:tr h="143283">
                <a:tc>
                  <a:txBody>
                    <a:bodyPr/>
                    <a:lstStyle/>
                    <a:p>
                      <a:pPr algn="ctr" fontAlgn="ctr"/>
                      <a:r>
                        <a:rPr lang="en-US" sz="900" u="none" strike="noStrike">
                          <a:effectLst/>
                          <a:latin typeface="Arial" panose="020B0604020202020204" pitchFamily="34" charset="0"/>
                          <a:cs typeface="Arial" panose="020B0604020202020204" pitchFamily="34" charset="0"/>
                        </a:rPr>
                        <a:t>Production Control Plan / Control Plan</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US" sz="900" u="none" strike="noStrike">
                          <a:effectLst/>
                          <a:latin typeface="Arial" panose="020B0604020202020204" pitchFamily="34" charset="0"/>
                          <a:cs typeface="Arial" panose="020B0604020202020204" pitchFamily="34" charset="0"/>
                        </a:rPr>
                        <a:t>Step 13- Process Control Plan deployment with QAM/KIM</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US" sz="900" u="none" strike="noStrike" dirty="0">
                          <a:effectLst/>
                          <a:latin typeface="Arial" panose="020B0604020202020204" pitchFamily="34" charset="0"/>
                          <a:cs typeface="Arial" panose="020B0604020202020204" pitchFamily="34" charset="0"/>
                        </a:rPr>
                        <a:t>CS</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R</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4214576782"/>
                  </a:ext>
                </a:extLst>
              </a:tr>
              <a:tr h="143283">
                <a:tc>
                  <a:txBody>
                    <a:bodyPr/>
                    <a:lstStyle/>
                    <a:p>
                      <a:pPr algn="ctr" fontAlgn="ctr"/>
                      <a:r>
                        <a:rPr lang="en-US" sz="900" u="none" strike="noStrike">
                          <a:effectLst/>
                          <a:latin typeface="Arial" panose="020B0604020202020204" pitchFamily="34" charset="0"/>
                          <a:cs typeface="Arial" panose="020B0604020202020204" pitchFamily="34" charset="0"/>
                        </a:rPr>
                        <a:t>Produce and Release Master Sample for PPAP</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US" sz="900" u="none" strike="noStrike">
                          <a:effectLst/>
                          <a:latin typeface="Arial" panose="020B0604020202020204" pitchFamily="34" charset="0"/>
                          <a:cs typeface="Arial" panose="020B0604020202020204" pitchFamily="34" charset="0"/>
                        </a:rPr>
                        <a:t>Step 13- Process Control Plan deployment with QAM/KIM</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US" sz="900" u="none" strike="noStrike" dirty="0">
                          <a:effectLst/>
                          <a:latin typeface="Arial" panose="020B0604020202020204" pitchFamily="34" charset="0"/>
                          <a:cs typeface="Arial" panose="020B0604020202020204" pitchFamily="34" charset="0"/>
                        </a:rPr>
                        <a:t>CS</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R</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solidFill>
                      <a:schemeClr val="accent3">
                        <a:lumMod val="40000"/>
                        <a:lumOff val="60000"/>
                      </a:schemeClr>
                    </a:solidFill>
                  </a:tcPr>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I</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707713891"/>
                  </a:ext>
                </a:extLst>
              </a:tr>
              <a:tr h="286566">
                <a:tc>
                  <a:txBody>
                    <a:bodyPr/>
                    <a:lstStyle/>
                    <a:p>
                      <a:pPr algn="ctr" fontAlgn="ctr"/>
                      <a:r>
                        <a:rPr lang="en-US" sz="900" u="none" strike="noStrike">
                          <a:effectLst/>
                          <a:latin typeface="Arial" panose="020B0604020202020204" pitchFamily="34" charset="0"/>
                          <a:cs typeface="Arial" panose="020B0604020202020204" pitchFamily="34" charset="0"/>
                        </a:rPr>
                        <a:t>Part Submission Warrant (PSW)/ Production Part Approval Process (PPAP)</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ctr"/>
                      <a:r>
                        <a:rPr lang="en-US" sz="900" u="none" strike="noStrike">
                          <a:effectLst/>
                          <a:latin typeface="Arial" panose="020B0604020202020204" pitchFamily="34" charset="0"/>
                          <a:cs typeface="Arial" panose="020B0604020202020204" pitchFamily="34" charset="0"/>
                        </a:rPr>
                        <a:t>Part Submission Warrant (PSW)/ Production Part Approval Process (PPAP)- Step 15 of APQP procedure</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ctr"/>
                </a:tc>
                <a:tc>
                  <a:txBody>
                    <a:bodyPr/>
                    <a:lstStyle/>
                    <a:p>
                      <a:pPr algn="ctr" fontAlgn="b"/>
                      <a:r>
                        <a:rPr lang="en-US" sz="900" u="none" strike="noStrike" dirty="0">
                          <a:effectLst/>
                          <a:latin typeface="Arial" panose="020B0604020202020204" pitchFamily="34" charset="0"/>
                          <a:cs typeface="Arial" panose="020B0604020202020204" pitchFamily="34" charset="0"/>
                        </a:rPr>
                        <a:t>PM</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A</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R</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R</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R</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R</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R</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R</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542882328"/>
                  </a:ext>
                </a:extLst>
              </a:tr>
              <a:tr h="429850">
                <a:tc>
                  <a:txBody>
                    <a:bodyPr/>
                    <a:lstStyle/>
                    <a:p>
                      <a:pPr algn="ctr" fontAlgn="b"/>
                      <a:r>
                        <a:rPr lang="en-US" sz="900" u="none" strike="noStrike" dirty="0">
                          <a:effectLst/>
                          <a:latin typeface="Arial" panose="020B0604020202020204" pitchFamily="34" charset="0"/>
                          <a:cs typeface="Arial" panose="020B0604020202020204" pitchFamily="34" charset="0"/>
                        </a:rPr>
                        <a:t> </a:t>
                      </a:r>
                      <a:r>
                        <a:rPr lang="en-US" sz="900" b="1" u="none" strike="noStrike" dirty="0">
                          <a:effectLst/>
                          <a:latin typeface="Arial" panose="020B0604020202020204" pitchFamily="34" charset="0"/>
                          <a:cs typeface="Arial" panose="020B0604020202020204" pitchFamily="34" charset="0"/>
                        </a:rPr>
                        <a:t>***</a:t>
                      </a:r>
                      <a:r>
                        <a:rPr lang="en-US" sz="900" u="none" strike="noStrike" dirty="0">
                          <a:effectLst/>
                          <a:latin typeface="Arial" panose="020B0604020202020204" pitchFamily="34" charset="0"/>
                          <a:cs typeface="Arial" panose="020B0604020202020204" pitchFamily="34" charset="0"/>
                        </a:rPr>
                        <a:t>Production Readiness Assessment</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b="0" i="0" u="none" strike="noStrike" dirty="0">
                          <a:solidFill>
                            <a:srgbClr val="000000"/>
                          </a:solidFill>
                          <a:effectLst/>
                          <a:latin typeface="Arial" panose="020B0604020202020204" pitchFamily="34" charset="0"/>
                          <a:cs typeface="Arial" panose="020B0604020202020204" pitchFamily="34" charset="0"/>
                        </a:rPr>
                        <a:t>Plant Quality </a:t>
                      </a:r>
                    </a:p>
                  </a:txBody>
                  <a:tcPr marL="0" marR="0" marT="0" marB="0" anchor="b"/>
                </a:tc>
                <a:tc>
                  <a:txBody>
                    <a:bodyPr/>
                    <a:lstStyle/>
                    <a:p>
                      <a:pPr algn="ctr" fontAlgn="b"/>
                      <a:r>
                        <a:rPr lang="en-US" sz="900" b="0" i="0" u="none" strike="noStrike" dirty="0">
                          <a:solidFill>
                            <a:srgbClr val="000000"/>
                          </a:solidFill>
                          <a:effectLst/>
                          <a:latin typeface="Arial" panose="020B0604020202020204" pitchFamily="34" charset="0"/>
                          <a:cs typeface="Arial" panose="020B0604020202020204" pitchFamily="34" charset="0"/>
                        </a:rPr>
                        <a:t>S</a:t>
                      </a: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S</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b="0" i="0" u="none" strike="noStrike" dirty="0">
                          <a:solidFill>
                            <a:srgbClr val="000000"/>
                          </a:solidFill>
                          <a:effectLst/>
                          <a:latin typeface="Arial" panose="020B0604020202020204" pitchFamily="34" charset="0"/>
                          <a:cs typeface="Arial" panose="020B0604020202020204" pitchFamily="34" charset="0"/>
                        </a:rPr>
                        <a:t>R</a:t>
                      </a: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a:effectLst/>
                          <a:latin typeface="Arial" panose="020B0604020202020204" pitchFamily="34" charset="0"/>
                          <a:cs typeface="Arial" panose="020B0604020202020204" pitchFamily="34" charset="0"/>
                        </a:rPr>
                        <a:t>S</a:t>
                      </a:r>
                      <a:endParaRPr lang="en-US" sz="900" b="0" i="0" u="none" strike="noStrike">
                        <a:solidFill>
                          <a:srgbClr val="000000"/>
                        </a:solidFill>
                        <a:effectLst/>
                        <a:latin typeface="Arial" panose="020B0604020202020204" pitchFamily="34" charset="0"/>
                        <a:cs typeface="Arial" panose="020B0604020202020204" pitchFamily="34" charset="0"/>
                      </a:endParaRPr>
                    </a:p>
                  </a:txBody>
                  <a:tcPr marL="0" marR="0" marT="0" marB="0" anchor="b"/>
                </a:tc>
                <a:tc>
                  <a:txBody>
                    <a:bodyPr/>
                    <a:lstStyle/>
                    <a:p>
                      <a:pPr algn="ctr" fontAlgn="b"/>
                      <a:r>
                        <a:rPr lang="en-US" sz="900" u="none" strike="noStrike" dirty="0">
                          <a:effectLst/>
                          <a:latin typeface="Arial" panose="020B0604020202020204" pitchFamily="34" charset="0"/>
                          <a:cs typeface="Arial" panose="020B0604020202020204" pitchFamily="34" charset="0"/>
                        </a:rPr>
                        <a:t>S</a:t>
                      </a:r>
                      <a:endParaRPr lang="en-US" sz="900" b="0"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87963370"/>
                  </a:ext>
                </a:extLst>
              </a:tr>
            </a:tbl>
          </a:graphicData>
        </a:graphic>
      </p:graphicFrame>
      <p:sp>
        <p:nvSpPr>
          <p:cNvPr id="5" name="TextBox 4">
            <a:extLst>
              <a:ext uri="{FF2B5EF4-FFF2-40B4-BE49-F238E27FC236}">
                <a16:creationId xmlns:a16="http://schemas.microsoft.com/office/drawing/2014/main" id="{8CE6F2E0-BF40-F8D4-8A6D-85D9367B2F7E}"/>
              </a:ext>
            </a:extLst>
          </p:cNvPr>
          <p:cNvSpPr txBox="1"/>
          <p:nvPr/>
        </p:nvSpPr>
        <p:spPr>
          <a:xfrm>
            <a:off x="138732" y="528452"/>
            <a:ext cx="886653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RASIC Chart to clarify R- responsibilities for specific Quality related tasks in PM book</a:t>
            </a:r>
          </a:p>
        </p:txBody>
      </p:sp>
      <p:graphicFrame>
        <p:nvGraphicFramePr>
          <p:cNvPr id="8" name="Table 7">
            <a:extLst>
              <a:ext uri="{FF2B5EF4-FFF2-40B4-BE49-F238E27FC236}">
                <a16:creationId xmlns:a16="http://schemas.microsoft.com/office/drawing/2014/main" id="{94E9CCB7-046D-3CCF-99CD-9C518C2E1297}"/>
              </a:ext>
            </a:extLst>
          </p:cNvPr>
          <p:cNvGraphicFramePr>
            <a:graphicFrameLocks noGrp="1"/>
          </p:cNvGraphicFramePr>
          <p:nvPr>
            <p:extLst>
              <p:ext uri="{D42A27DB-BD31-4B8C-83A1-F6EECF244321}">
                <p14:modId xmlns:p14="http://schemas.microsoft.com/office/powerpoint/2010/main" val="3560144366"/>
              </p:ext>
            </p:extLst>
          </p:nvPr>
        </p:nvGraphicFramePr>
        <p:xfrm>
          <a:off x="5427024" y="4195332"/>
          <a:ext cx="3360712" cy="2286000"/>
        </p:xfrm>
        <a:graphic>
          <a:graphicData uri="http://schemas.openxmlformats.org/drawingml/2006/table">
            <a:tbl>
              <a:tblPr>
                <a:tableStyleId>{2D5ABB26-0587-4C30-8999-92F81FD0307C}</a:tableStyleId>
              </a:tblPr>
              <a:tblGrid>
                <a:gridCol w="3360712">
                  <a:extLst>
                    <a:ext uri="{9D8B030D-6E8A-4147-A177-3AD203B41FA5}">
                      <a16:colId xmlns:a16="http://schemas.microsoft.com/office/drawing/2014/main" val="2864287098"/>
                    </a:ext>
                  </a:extLst>
                </a:gridCol>
              </a:tblGrid>
              <a:tr h="198120">
                <a:tc>
                  <a:txBody>
                    <a:bodyPr/>
                    <a:lstStyle/>
                    <a:p>
                      <a:pPr algn="l" fontAlgn="b"/>
                      <a:r>
                        <a:rPr lang="en-US" sz="900" b="1" u="none" strike="noStrike" dirty="0">
                          <a:effectLst/>
                          <a:latin typeface="Arial" panose="020B0604020202020204" pitchFamily="34" charset="0"/>
                          <a:cs typeface="Arial" panose="020B0604020202020204" pitchFamily="34" charset="0"/>
                        </a:rPr>
                        <a:t>Responsible</a:t>
                      </a:r>
                      <a:r>
                        <a:rPr lang="en-US" sz="900" u="none" strike="noStrike" dirty="0">
                          <a:effectLst/>
                          <a:latin typeface="Arial" panose="020B0604020202020204" pitchFamily="34" charset="0"/>
                          <a:cs typeface="Arial" panose="020B0604020202020204" pitchFamily="34" charset="0"/>
                        </a:rPr>
                        <a:t> - Those who do the work to achieve the task.</a:t>
                      </a:r>
                      <a:endParaRPr lang="en-US" sz="9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857859550"/>
                  </a:ext>
                </a:extLst>
              </a:tr>
              <a:tr h="52578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b="1" u="none" strike="noStrike" dirty="0">
                          <a:effectLst/>
                          <a:latin typeface="Arial" panose="020B0604020202020204" pitchFamily="34" charset="0"/>
                          <a:cs typeface="Arial" panose="020B0604020202020204" pitchFamily="34" charset="0"/>
                        </a:rPr>
                        <a:t>Approval </a:t>
                      </a:r>
                      <a:r>
                        <a:rPr lang="en-US" sz="900" u="none" strike="noStrike" dirty="0">
                          <a:effectLst/>
                          <a:latin typeface="Arial" panose="020B0604020202020204" pitchFamily="34" charset="0"/>
                          <a:cs typeface="Arial" panose="020B0604020202020204" pitchFamily="34" charset="0"/>
                        </a:rPr>
                        <a:t>- Those who are ultimately accountable for the correct and thorough completion of the deliverable or task, and the one to whom Responsible is accountable. or Accountable  In other words, an Accountable must sign off (Approve) on work that Responsible provides.</a:t>
                      </a:r>
                      <a:endParaRPr lang="en-US" sz="9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225430148"/>
                  </a:ext>
                </a:extLst>
              </a:tr>
              <a:tr h="525780">
                <a:tc>
                  <a:txBody>
                    <a:bodyPr/>
                    <a:lstStyle/>
                    <a:p>
                      <a:pPr algn="l" fontAlgn="b"/>
                      <a:r>
                        <a:rPr lang="en-US" sz="900" b="1" u="none" strike="noStrike" dirty="0">
                          <a:effectLst/>
                          <a:latin typeface="Arial" panose="020B0604020202020204" pitchFamily="34" charset="0"/>
                          <a:cs typeface="Arial" panose="020B0604020202020204" pitchFamily="34" charset="0"/>
                        </a:rPr>
                        <a:t>Support</a:t>
                      </a:r>
                      <a:r>
                        <a:rPr lang="en-US" sz="900" u="none" strike="noStrike" dirty="0">
                          <a:effectLst/>
                          <a:latin typeface="Arial" panose="020B0604020202020204" pitchFamily="34" charset="0"/>
                          <a:cs typeface="Arial" panose="020B0604020202020204" pitchFamily="34" charset="0"/>
                        </a:rPr>
                        <a:t> - Resources allocated to Responsible. Unlike Consulted, who may provide input to the task, Support will assist in completing the task</a:t>
                      </a:r>
                      <a:endParaRPr lang="en-US" sz="9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4152248596"/>
                  </a:ext>
                </a:extLst>
              </a:tr>
              <a:tr h="525780">
                <a:tc>
                  <a:txBody>
                    <a:bodyPr/>
                    <a:lstStyle/>
                    <a:p>
                      <a:pPr algn="l" fontAlgn="b"/>
                      <a:r>
                        <a:rPr lang="en-US" sz="900" b="1" u="none" strike="noStrike" dirty="0">
                          <a:effectLst/>
                          <a:latin typeface="Arial" panose="020B0604020202020204" pitchFamily="34" charset="0"/>
                          <a:cs typeface="Arial" panose="020B0604020202020204" pitchFamily="34" charset="0"/>
                        </a:rPr>
                        <a:t>Inform </a:t>
                      </a:r>
                      <a:r>
                        <a:rPr lang="en-US" sz="900" u="none" strike="noStrike" dirty="0">
                          <a:effectLst/>
                          <a:latin typeface="Arial" panose="020B0604020202020204" pitchFamily="34" charset="0"/>
                          <a:cs typeface="Arial" panose="020B0604020202020204" pitchFamily="34" charset="0"/>
                        </a:rPr>
                        <a:t>- Those who are kept up-to-date on progress, often only on completion of the task or deliverable; and with whom there is just one-way communication.</a:t>
                      </a:r>
                      <a:endParaRPr lang="en-US" sz="9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893432648"/>
                  </a:ext>
                </a:extLst>
              </a:tr>
              <a:tr h="350520">
                <a:tc>
                  <a:txBody>
                    <a:bodyPr/>
                    <a:lstStyle/>
                    <a:p>
                      <a:pPr algn="l" fontAlgn="b"/>
                      <a:r>
                        <a:rPr lang="en-US" sz="900" b="1" u="none" strike="noStrike" dirty="0">
                          <a:effectLst/>
                          <a:latin typeface="Arial" panose="020B0604020202020204" pitchFamily="34" charset="0"/>
                          <a:cs typeface="Arial" panose="020B0604020202020204" pitchFamily="34" charset="0"/>
                        </a:rPr>
                        <a:t>Consult</a:t>
                      </a:r>
                      <a:r>
                        <a:rPr lang="en-US" sz="900" u="none" strike="noStrike" dirty="0">
                          <a:effectLst/>
                          <a:latin typeface="Arial" panose="020B0604020202020204" pitchFamily="34" charset="0"/>
                          <a:cs typeface="Arial" panose="020B0604020202020204" pitchFamily="34" charset="0"/>
                        </a:rPr>
                        <a:t> - Those whose opinions are sought; and with whom there is two-way communication.</a:t>
                      </a:r>
                      <a:endParaRPr lang="en-US" sz="900" b="1" i="0" u="none" strike="noStrike" dirty="0">
                        <a:solidFill>
                          <a:srgbClr val="000000"/>
                        </a:solidFill>
                        <a:effectLst/>
                        <a:latin typeface="Arial" panose="020B0604020202020204" pitchFamily="34" charset="0"/>
                        <a:cs typeface="Arial" panose="020B0604020202020204" pitchFamily="34" charset="0"/>
                      </a:endParaRPr>
                    </a:p>
                  </a:txBody>
                  <a:tcPr marL="0" marR="0" marT="0" marB="0" anchor="b"/>
                </a:tc>
                <a:extLst>
                  <a:ext uri="{0D108BD9-81ED-4DB2-BD59-A6C34878D82A}">
                    <a16:rowId xmlns:a16="http://schemas.microsoft.com/office/drawing/2014/main" val="2837262067"/>
                  </a:ext>
                </a:extLst>
              </a:tr>
            </a:tbl>
          </a:graphicData>
        </a:graphic>
      </p:graphicFrame>
      <p:sp>
        <p:nvSpPr>
          <p:cNvPr id="3" name="TextBox 2">
            <a:extLst>
              <a:ext uri="{FF2B5EF4-FFF2-40B4-BE49-F238E27FC236}">
                <a16:creationId xmlns:a16="http://schemas.microsoft.com/office/drawing/2014/main" id="{4B1DA2B7-71E9-9C9C-0AF1-4A1F592261E4}"/>
              </a:ext>
            </a:extLst>
          </p:cNvPr>
          <p:cNvSpPr txBox="1"/>
          <p:nvPr/>
        </p:nvSpPr>
        <p:spPr>
          <a:xfrm>
            <a:off x="356264" y="4054023"/>
            <a:ext cx="3190297" cy="854080"/>
          </a:xfrm>
          <a:prstGeom prst="rect">
            <a:avLst/>
          </a:prstGeom>
          <a:noFill/>
        </p:spPr>
        <p:txBody>
          <a:bodyPr wrap="none" rtlCol="0">
            <a:spAutoFit/>
          </a:bodyPr>
          <a:lstStyle/>
          <a:p>
            <a:r>
              <a:rPr lang="en-US" sz="1050" b="1" u="none" strike="noStrike" dirty="0">
                <a:effectLst/>
                <a:latin typeface="Arial" panose="020B0604020202020204" pitchFamily="34" charset="0"/>
                <a:cs typeface="Arial" panose="020B0604020202020204" pitchFamily="34" charset="0"/>
              </a:rPr>
              <a:t>***</a:t>
            </a:r>
            <a:r>
              <a:rPr lang="en-US" sz="1050" u="none" strike="noStrike" dirty="0">
                <a:effectLst/>
                <a:latin typeface="Arial" panose="020B0604020202020204" pitchFamily="34" charset="0"/>
                <a:cs typeface="Arial" panose="020B0604020202020204" pitchFamily="34" charset="0"/>
              </a:rPr>
              <a:t>Production readiness assessment currently </a:t>
            </a:r>
          </a:p>
          <a:p>
            <a:r>
              <a:rPr lang="en-US" sz="1050" dirty="0">
                <a:latin typeface="Arial" panose="020B0604020202020204" pitchFamily="34" charset="0"/>
                <a:cs typeface="Arial" panose="020B0604020202020204" pitchFamily="34" charset="0"/>
              </a:rPr>
              <a:t>Part of Plant Quality responsibilities in EMEA only.</a:t>
            </a:r>
            <a:endParaRPr lang="en-US" sz="1050" u="none" strike="noStrike" dirty="0">
              <a:effectLst/>
              <a:latin typeface="Arial" panose="020B0604020202020204" pitchFamily="34" charset="0"/>
              <a:cs typeface="Arial" panose="020B0604020202020204" pitchFamily="34" charset="0"/>
            </a:endParaRPr>
          </a:p>
          <a:p>
            <a:endParaRPr lang="en-US" sz="1050" i="0" u="none" strike="noStrike" dirty="0">
              <a:solidFill>
                <a:srgbClr val="000000"/>
              </a:solidFill>
              <a:effectLst/>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834335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0DC3B8-53C9-CE6F-BAB3-FEB86331C98A}"/>
              </a:ext>
            </a:extLst>
          </p:cNvPr>
          <p:cNvSpPr>
            <a:spLocks noGrp="1"/>
          </p:cNvSpPr>
          <p:nvPr>
            <p:ph type="title"/>
          </p:nvPr>
        </p:nvSpPr>
        <p:spPr>
          <a:xfrm>
            <a:off x="458532" y="318680"/>
            <a:ext cx="8226935" cy="692940"/>
          </a:xfrm>
        </p:spPr>
        <p:txBody>
          <a:bodyPr/>
          <a:lstStyle/>
          <a:p>
            <a:r>
              <a:rPr lang="en-US" sz="2400" i="1" u="sng" dirty="0"/>
              <a:t>Reference Only </a:t>
            </a:r>
            <a:r>
              <a:rPr lang="en-US" sz="2400" dirty="0"/>
              <a:t>-BIQ Procedure – One Page Summary</a:t>
            </a:r>
          </a:p>
        </p:txBody>
      </p:sp>
      <p:sp>
        <p:nvSpPr>
          <p:cNvPr id="5" name="Slide Number Placeholder 4">
            <a:extLst>
              <a:ext uri="{FF2B5EF4-FFF2-40B4-BE49-F238E27FC236}">
                <a16:creationId xmlns:a16="http://schemas.microsoft.com/office/drawing/2014/main" id="{55C18287-E0B4-9F6D-1487-246A7025613E}"/>
              </a:ext>
            </a:extLst>
          </p:cNvPr>
          <p:cNvSpPr>
            <a:spLocks noGrp="1"/>
          </p:cNvSpPr>
          <p:nvPr>
            <p:ph type="sldNum" sz="quarter" idx="18"/>
          </p:nvPr>
        </p:nvSpPr>
        <p:spPr/>
        <p:txBody>
          <a:bodyPr/>
          <a:lstStyle/>
          <a:p>
            <a:fld id="{B6D1532F-61F1-B941-ACDF-6BC65E0B4055}" type="slidenum">
              <a:rPr lang="en-US" smtClean="0"/>
              <a:pPr/>
              <a:t>8</a:t>
            </a:fld>
            <a:endParaRPr lang="en-US" dirty="0"/>
          </a:p>
        </p:txBody>
      </p:sp>
      <p:graphicFrame>
        <p:nvGraphicFramePr>
          <p:cNvPr id="6" name="Diagram 5">
            <a:extLst>
              <a:ext uri="{FF2B5EF4-FFF2-40B4-BE49-F238E27FC236}">
                <a16:creationId xmlns:a16="http://schemas.microsoft.com/office/drawing/2014/main" id="{1FCF95CB-3C06-3CE0-D66F-7742ADA74597}"/>
              </a:ext>
            </a:extLst>
          </p:cNvPr>
          <p:cNvGraphicFramePr/>
          <p:nvPr>
            <p:extLst>
              <p:ext uri="{D42A27DB-BD31-4B8C-83A1-F6EECF244321}">
                <p14:modId xmlns:p14="http://schemas.microsoft.com/office/powerpoint/2010/main" val="2284487264"/>
              </p:ext>
            </p:extLst>
          </p:nvPr>
        </p:nvGraphicFramePr>
        <p:xfrm>
          <a:off x="-639367" y="1523689"/>
          <a:ext cx="6096000" cy="387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hlinkClick r:id="" action="ppaction://noaction"/>
            <a:extLst>
              <a:ext uri="{FF2B5EF4-FFF2-40B4-BE49-F238E27FC236}">
                <a16:creationId xmlns:a16="http://schemas.microsoft.com/office/drawing/2014/main" id="{EFD58DB9-75D2-CC17-B137-AA61517F4FC3}"/>
              </a:ext>
            </a:extLst>
          </p:cNvPr>
          <p:cNvSpPr txBox="1"/>
          <p:nvPr/>
        </p:nvSpPr>
        <p:spPr>
          <a:xfrm>
            <a:off x="1883783" y="2076397"/>
            <a:ext cx="843501" cy="400110"/>
          </a:xfrm>
          <a:prstGeom prst="rect">
            <a:avLst/>
          </a:prstGeom>
          <a:noFill/>
        </p:spPr>
        <p:txBody>
          <a:bodyPr wrap="none" rtlCol="0">
            <a:spAutoFit/>
          </a:bodyPr>
          <a:lstStyle/>
          <a:p>
            <a:r>
              <a:rPr lang="en-US" sz="500" b="1" dirty="0">
                <a:latin typeface="Arial" panose="020B0604020202020204" pitchFamily="34" charset="0"/>
                <a:cs typeface="Arial" panose="020B0604020202020204" pitchFamily="34" charset="0"/>
              </a:rPr>
              <a:t>KIM</a:t>
            </a:r>
            <a:r>
              <a:rPr lang="en-US" sz="500" dirty="0">
                <a:latin typeface="Arial" panose="020B0604020202020204" pitchFamily="34" charset="0"/>
                <a:cs typeface="Arial" panose="020B0604020202020204" pitchFamily="34" charset="0"/>
              </a:rPr>
              <a:t> = Known Issues</a:t>
            </a:r>
          </a:p>
          <a:p>
            <a:r>
              <a:rPr lang="en-US" sz="500" dirty="0">
                <a:latin typeface="Arial" panose="020B0604020202020204" pitchFamily="34" charset="0"/>
                <a:cs typeface="Arial" panose="020B0604020202020204" pitchFamily="34" charset="0"/>
              </a:rPr>
              <a:t>In </a:t>
            </a:r>
            <a:r>
              <a:rPr lang="en-US" sz="500" dirty="0" err="1">
                <a:latin typeface="Arial" panose="020B0604020202020204" pitchFamily="34" charset="0"/>
                <a:cs typeface="Arial" panose="020B0604020202020204" pitchFamily="34" charset="0"/>
              </a:rPr>
              <a:t>Mfg</a:t>
            </a:r>
            <a:r>
              <a:rPr lang="en-US" sz="500" dirty="0">
                <a:latin typeface="Arial" panose="020B0604020202020204" pitchFamily="34" charset="0"/>
                <a:cs typeface="Arial" panose="020B0604020202020204" pitchFamily="34" charset="0"/>
              </a:rPr>
              <a:t> (Warranty, </a:t>
            </a:r>
          </a:p>
          <a:p>
            <a:r>
              <a:rPr lang="en-US" sz="500" dirty="0">
                <a:latin typeface="Arial" panose="020B0604020202020204" pitchFamily="34" charset="0"/>
                <a:cs typeface="Arial" panose="020B0604020202020204" pitchFamily="34" charset="0"/>
              </a:rPr>
              <a:t>escalations, complaints</a:t>
            </a:r>
          </a:p>
          <a:p>
            <a:r>
              <a:rPr lang="en-US" sz="500" dirty="0">
                <a:latin typeface="Arial" panose="020B0604020202020204" pitchFamily="34" charset="0"/>
                <a:cs typeface="Arial" panose="020B0604020202020204" pitchFamily="34" charset="0"/>
              </a:rPr>
              <a:t>Lessons learned)</a:t>
            </a:r>
          </a:p>
        </p:txBody>
      </p:sp>
      <p:sp>
        <p:nvSpPr>
          <p:cNvPr id="12" name="TextBox 11">
            <a:hlinkClick r:id="" action="ppaction://noaction"/>
            <a:extLst>
              <a:ext uri="{FF2B5EF4-FFF2-40B4-BE49-F238E27FC236}">
                <a16:creationId xmlns:a16="http://schemas.microsoft.com/office/drawing/2014/main" id="{F4DFA9C1-33C9-08D6-1B9D-8CECD76F465B}"/>
              </a:ext>
            </a:extLst>
          </p:cNvPr>
          <p:cNvSpPr txBox="1"/>
          <p:nvPr/>
        </p:nvSpPr>
        <p:spPr>
          <a:xfrm>
            <a:off x="3917925" y="4174204"/>
            <a:ext cx="1459293" cy="246221"/>
          </a:xfrm>
          <a:prstGeom prst="rect">
            <a:avLst/>
          </a:prstGeom>
          <a:noFill/>
        </p:spPr>
        <p:txBody>
          <a:bodyPr wrap="square" rtlCol="0">
            <a:spAutoFit/>
          </a:bodyPr>
          <a:lstStyle/>
          <a:p>
            <a:r>
              <a:rPr lang="en-US" sz="500" b="1" dirty="0">
                <a:latin typeface="Arial" panose="020B0604020202020204" pitchFamily="34" charset="0"/>
                <a:cs typeface="Arial" panose="020B0604020202020204" pitchFamily="34" charset="0"/>
              </a:rPr>
              <a:t>QAM </a:t>
            </a:r>
            <a:r>
              <a:rPr lang="en-US" sz="500" dirty="0">
                <a:latin typeface="Arial" panose="020B0604020202020204" pitchFamily="34" charset="0"/>
                <a:cs typeface="Arial" panose="020B0604020202020204" pitchFamily="34" charset="0"/>
              </a:rPr>
              <a:t>= Quality Assurance</a:t>
            </a:r>
          </a:p>
          <a:p>
            <a:r>
              <a:rPr lang="en-US" sz="500" dirty="0">
                <a:latin typeface="Arial" panose="020B0604020202020204" pitchFamily="34" charset="0"/>
                <a:cs typeface="Arial" panose="020B0604020202020204" pitchFamily="34" charset="0"/>
              </a:rPr>
              <a:t>Matrix (Example: SCCAF)</a:t>
            </a:r>
          </a:p>
        </p:txBody>
      </p:sp>
      <p:sp>
        <p:nvSpPr>
          <p:cNvPr id="13" name="TextBox 12">
            <a:hlinkClick r:id="" action="ppaction://noaction"/>
            <a:extLst>
              <a:ext uri="{FF2B5EF4-FFF2-40B4-BE49-F238E27FC236}">
                <a16:creationId xmlns:a16="http://schemas.microsoft.com/office/drawing/2014/main" id="{0CE56A8C-4326-8CC7-E62B-CD1F762845AB}"/>
              </a:ext>
            </a:extLst>
          </p:cNvPr>
          <p:cNvSpPr txBox="1"/>
          <p:nvPr/>
        </p:nvSpPr>
        <p:spPr>
          <a:xfrm>
            <a:off x="2600736" y="5377038"/>
            <a:ext cx="1806905" cy="276999"/>
          </a:xfrm>
          <a:prstGeom prst="rect">
            <a:avLst/>
          </a:prstGeom>
          <a:noFill/>
        </p:spPr>
        <p:txBody>
          <a:bodyPr wrap="none" rtlCol="0">
            <a:spAutoFit/>
          </a:bodyPr>
          <a:lstStyle/>
          <a:p>
            <a:r>
              <a:rPr lang="en-US" sz="600" dirty="0">
                <a:latin typeface="Arial" panose="020B0604020202020204" pitchFamily="34" charset="0"/>
                <a:cs typeface="Arial" panose="020B0604020202020204" pitchFamily="34" charset="0"/>
              </a:rPr>
              <a:t>SOW – Statement of Work prior to PO order!</a:t>
            </a:r>
          </a:p>
          <a:p>
            <a:r>
              <a:rPr lang="en-US" sz="600" dirty="0">
                <a:latin typeface="Arial" panose="020B0604020202020204" pitchFamily="34" charset="0"/>
                <a:cs typeface="Arial" panose="020B0604020202020204" pitchFamily="34" charset="0"/>
              </a:rPr>
              <a:t>Purpose: Align KPC’s to Error Proof list in SOW</a:t>
            </a:r>
          </a:p>
        </p:txBody>
      </p:sp>
      <p:sp>
        <p:nvSpPr>
          <p:cNvPr id="4" name="TextBox 3">
            <a:extLst>
              <a:ext uri="{FF2B5EF4-FFF2-40B4-BE49-F238E27FC236}">
                <a16:creationId xmlns:a16="http://schemas.microsoft.com/office/drawing/2014/main" id="{D5D5D72A-4A14-3653-BBBC-32623A70F0FB}"/>
              </a:ext>
            </a:extLst>
          </p:cNvPr>
          <p:cNvSpPr txBox="1"/>
          <p:nvPr/>
        </p:nvSpPr>
        <p:spPr>
          <a:xfrm>
            <a:off x="525909" y="5432949"/>
            <a:ext cx="1989647" cy="246221"/>
          </a:xfrm>
          <a:prstGeom prst="rect">
            <a:avLst/>
          </a:prstGeom>
          <a:noFill/>
        </p:spPr>
        <p:txBody>
          <a:bodyPr wrap="none" rtlCol="0">
            <a:spAutoFit/>
          </a:bodyPr>
          <a:lstStyle/>
          <a:p>
            <a:r>
              <a:rPr lang="en-US" sz="500" b="1" dirty="0">
                <a:latin typeface="Arial" panose="020B0604020202020204" pitchFamily="34" charset="0"/>
                <a:cs typeface="Arial" panose="020B0604020202020204" pitchFamily="34" charset="0"/>
              </a:rPr>
              <a:t>Add extra budget for Newly design </a:t>
            </a:r>
          </a:p>
          <a:p>
            <a:r>
              <a:rPr lang="en-US" sz="500" dirty="0">
                <a:latin typeface="Arial" panose="020B0604020202020204" pitchFamily="34" charset="0"/>
                <a:cs typeface="Arial" panose="020B0604020202020204" pitchFamily="34" charset="0"/>
              </a:rPr>
              <a:t>*Added investment related to Customer Critical Functional items</a:t>
            </a:r>
          </a:p>
        </p:txBody>
      </p:sp>
      <p:graphicFrame>
        <p:nvGraphicFramePr>
          <p:cNvPr id="9" name="Diagram 8">
            <a:extLst>
              <a:ext uri="{FF2B5EF4-FFF2-40B4-BE49-F238E27FC236}">
                <a16:creationId xmlns:a16="http://schemas.microsoft.com/office/drawing/2014/main" id="{01DA2E74-4238-AEF9-E6D9-3B6F1CE985F2}"/>
              </a:ext>
            </a:extLst>
          </p:cNvPr>
          <p:cNvGraphicFramePr/>
          <p:nvPr>
            <p:extLst>
              <p:ext uri="{D42A27DB-BD31-4B8C-83A1-F6EECF244321}">
                <p14:modId xmlns:p14="http://schemas.microsoft.com/office/powerpoint/2010/main" val="2783300753"/>
              </p:ext>
            </p:extLst>
          </p:nvPr>
        </p:nvGraphicFramePr>
        <p:xfrm>
          <a:off x="1703485" y="2803532"/>
          <a:ext cx="1470713" cy="13675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0" name="Picture 9">
            <a:extLst>
              <a:ext uri="{FF2B5EF4-FFF2-40B4-BE49-F238E27FC236}">
                <a16:creationId xmlns:a16="http://schemas.microsoft.com/office/drawing/2014/main" id="{D9A93CF2-1F2F-F366-1409-667143FD64A0}"/>
              </a:ext>
            </a:extLst>
          </p:cNvPr>
          <p:cNvPicPr>
            <a:picLocks noChangeAspect="1"/>
          </p:cNvPicPr>
          <p:nvPr/>
        </p:nvPicPr>
        <p:blipFill>
          <a:blip r:embed="rId12"/>
          <a:stretch>
            <a:fillRect/>
          </a:stretch>
        </p:blipFill>
        <p:spPr>
          <a:xfrm>
            <a:off x="5066838" y="3938890"/>
            <a:ext cx="3943815" cy="1586875"/>
          </a:xfrm>
          <a:prstGeom prst="rect">
            <a:avLst/>
          </a:prstGeom>
          <a:ln>
            <a:noFill/>
          </a:ln>
        </p:spPr>
      </p:pic>
      <p:sp>
        <p:nvSpPr>
          <p:cNvPr id="18" name="TextBox 17">
            <a:extLst>
              <a:ext uri="{FF2B5EF4-FFF2-40B4-BE49-F238E27FC236}">
                <a16:creationId xmlns:a16="http://schemas.microsoft.com/office/drawing/2014/main" id="{4B8E928A-17CD-DA31-2513-12878C0CD999}"/>
              </a:ext>
            </a:extLst>
          </p:cNvPr>
          <p:cNvSpPr txBox="1"/>
          <p:nvPr/>
        </p:nvSpPr>
        <p:spPr>
          <a:xfrm>
            <a:off x="5723452" y="4818276"/>
            <a:ext cx="582211" cy="334835"/>
          </a:xfrm>
          <a:prstGeom prst="rect">
            <a:avLst/>
          </a:prstGeom>
          <a:noFill/>
        </p:spPr>
        <p:txBody>
          <a:bodyPr wrap="none" rtlCol="0">
            <a:spAutoFit/>
          </a:bodyPr>
          <a:lstStyle/>
          <a:p>
            <a:pPr algn="ctr"/>
            <a:r>
              <a:rPr lang="en-US" sz="788" b="1" dirty="0">
                <a:solidFill>
                  <a:srgbClr val="00B0F0"/>
                </a:solidFill>
                <a:latin typeface="Arial Narrow" panose="020B0606020202030204" pitchFamily="34" charset="0"/>
              </a:rPr>
              <a:t>Improved </a:t>
            </a:r>
          </a:p>
          <a:p>
            <a:pPr algn="ctr"/>
            <a:r>
              <a:rPr lang="en-US" sz="788" b="1" dirty="0">
                <a:solidFill>
                  <a:srgbClr val="00B0F0"/>
                </a:solidFill>
                <a:latin typeface="Arial Narrow" panose="020B0606020202030204" pitchFamily="34" charset="0"/>
              </a:rPr>
              <a:t>SOW</a:t>
            </a:r>
          </a:p>
        </p:txBody>
      </p:sp>
      <p:sp>
        <p:nvSpPr>
          <p:cNvPr id="19" name="TextBox 18">
            <a:extLst>
              <a:ext uri="{FF2B5EF4-FFF2-40B4-BE49-F238E27FC236}">
                <a16:creationId xmlns:a16="http://schemas.microsoft.com/office/drawing/2014/main" id="{7AE333B7-E069-D137-FF06-1A42F30E89E6}"/>
              </a:ext>
            </a:extLst>
          </p:cNvPr>
          <p:cNvSpPr txBox="1"/>
          <p:nvPr/>
        </p:nvSpPr>
        <p:spPr>
          <a:xfrm>
            <a:off x="5812211" y="5297922"/>
            <a:ext cx="437940" cy="507831"/>
          </a:xfrm>
          <a:prstGeom prst="rect">
            <a:avLst/>
          </a:prstGeom>
          <a:noFill/>
        </p:spPr>
        <p:txBody>
          <a:bodyPr wrap="none" rtlCol="0">
            <a:spAutoFit/>
          </a:bodyPr>
          <a:lstStyle/>
          <a:p>
            <a:endParaRPr lang="en-US" sz="1350" dirty="0">
              <a:solidFill>
                <a:srgbClr val="002060"/>
              </a:solidFill>
              <a:latin typeface="Arial Narrow" panose="020B0606020202030204" pitchFamily="34" charset="0"/>
            </a:endParaRPr>
          </a:p>
          <a:p>
            <a:r>
              <a:rPr lang="en-US" sz="1350" dirty="0">
                <a:solidFill>
                  <a:srgbClr val="002060"/>
                </a:solidFill>
                <a:latin typeface="Arial Narrow" panose="020B0606020202030204" pitchFamily="34" charset="0"/>
              </a:rPr>
              <a:t>KIM</a:t>
            </a:r>
          </a:p>
        </p:txBody>
      </p:sp>
      <p:sp>
        <p:nvSpPr>
          <p:cNvPr id="20" name="TextBox 19">
            <a:extLst>
              <a:ext uri="{FF2B5EF4-FFF2-40B4-BE49-F238E27FC236}">
                <a16:creationId xmlns:a16="http://schemas.microsoft.com/office/drawing/2014/main" id="{4C81247E-C44E-8DDA-F674-C4436BED17DC}"/>
              </a:ext>
            </a:extLst>
          </p:cNvPr>
          <p:cNvSpPr txBox="1"/>
          <p:nvPr/>
        </p:nvSpPr>
        <p:spPr>
          <a:xfrm>
            <a:off x="5776745" y="5144839"/>
            <a:ext cx="508473" cy="300082"/>
          </a:xfrm>
          <a:prstGeom prst="rect">
            <a:avLst/>
          </a:prstGeom>
          <a:noFill/>
        </p:spPr>
        <p:txBody>
          <a:bodyPr wrap="none" rtlCol="0">
            <a:spAutoFit/>
          </a:bodyPr>
          <a:lstStyle/>
          <a:p>
            <a:r>
              <a:rPr lang="en-US" sz="1350" dirty="0">
                <a:solidFill>
                  <a:srgbClr val="002060"/>
                </a:solidFill>
                <a:latin typeface="Arial Narrow" panose="020B0606020202030204" pitchFamily="34" charset="0"/>
              </a:rPr>
              <a:t>QAM</a:t>
            </a:r>
          </a:p>
        </p:txBody>
      </p:sp>
      <p:cxnSp>
        <p:nvCxnSpPr>
          <p:cNvPr id="22" name="Straight Arrow Connector 21">
            <a:extLst>
              <a:ext uri="{FF2B5EF4-FFF2-40B4-BE49-F238E27FC236}">
                <a16:creationId xmlns:a16="http://schemas.microsoft.com/office/drawing/2014/main" id="{DB95052A-669C-D688-C8D0-BEFA3EF7A721}"/>
              </a:ext>
            </a:extLst>
          </p:cNvPr>
          <p:cNvCxnSpPr>
            <a:cxnSpLocks/>
          </p:cNvCxnSpPr>
          <p:nvPr/>
        </p:nvCxnSpPr>
        <p:spPr>
          <a:xfrm flipV="1">
            <a:off x="6006789" y="5090092"/>
            <a:ext cx="0" cy="1094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ED5FDC7-9D6C-5345-F87A-003B460F7A5D}"/>
              </a:ext>
            </a:extLst>
          </p:cNvPr>
          <p:cNvSpPr txBox="1"/>
          <p:nvPr/>
        </p:nvSpPr>
        <p:spPr>
          <a:xfrm>
            <a:off x="4807090" y="4976285"/>
            <a:ext cx="1002197" cy="577081"/>
          </a:xfrm>
          <a:prstGeom prst="rect">
            <a:avLst/>
          </a:prstGeom>
          <a:solidFill>
            <a:schemeClr val="bg1"/>
          </a:solidFill>
        </p:spPr>
        <p:txBody>
          <a:bodyPr wrap="none" rtlCol="0">
            <a:spAutoFit/>
          </a:bodyPr>
          <a:lstStyle/>
          <a:p>
            <a:r>
              <a:rPr lang="en-US" sz="525" dirty="0">
                <a:solidFill>
                  <a:schemeClr val="tx2"/>
                </a:solidFill>
                <a:latin typeface="Arial Narrow" panose="020B0606020202030204" pitchFamily="34" charset="0"/>
              </a:rPr>
              <a:t>Qty of KPC’s and Tolerances</a:t>
            </a:r>
          </a:p>
          <a:p>
            <a:r>
              <a:rPr lang="en-US" sz="525" dirty="0">
                <a:solidFill>
                  <a:schemeClr val="tx2"/>
                </a:solidFill>
                <a:latin typeface="Arial Narrow" panose="020B0606020202030204" pitchFamily="34" charset="0"/>
              </a:rPr>
              <a:t>Qty of QCI’s and tolerances</a:t>
            </a:r>
          </a:p>
          <a:p>
            <a:r>
              <a:rPr lang="en-US" sz="525" dirty="0">
                <a:solidFill>
                  <a:schemeClr val="tx2"/>
                </a:solidFill>
                <a:latin typeface="Arial Narrow" panose="020B0606020202030204" pitchFamily="34" charset="0"/>
              </a:rPr>
              <a:t>Plan for measurement equipment</a:t>
            </a:r>
          </a:p>
          <a:p>
            <a:r>
              <a:rPr lang="en-US" sz="525" dirty="0">
                <a:solidFill>
                  <a:schemeClr val="tx2"/>
                </a:solidFill>
                <a:latin typeface="Arial Narrow" panose="020B0606020202030204" pitchFamily="34" charset="0"/>
              </a:rPr>
              <a:t>F/F – Plan for Testing equipment</a:t>
            </a:r>
          </a:p>
          <a:p>
            <a:r>
              <a:rPr lang="en-US" sz="525" dirty="0">
                <a:solidFill>
                  <a:schemeClr val="tx2"/>
                </a:solidFill>
                <a:latin typeface="Arial Narrow" panose="020B0606020202030204" pitchFamily="34" charset="0"/>
              </a:rPr>
              <a:t>Plan for Robust Quality Control </a:t>
            </a:r>
          </a:p>
          <a:p>
            <a:r>
              <a:rPr lang="en-US" sz="525" dirty="0">
                <a:solidFill>
                  <a:schemeClr val="tx2"/>
                </a:solidFill>
                <a:latin typeface="Arial Narrow" panose="020B0606020202030204" pitchFamily="34" charset="0"/>
              </a:rPr>
              <a:t>=</a:t>
            </a:r>
          </a:p>
        </p:txBody>
      </p:sp>
      <p:sp>
        <p:nvSpPr>
          <p:cNvPr id="25" name="Left Brace 24">
            <a:extLst>
              <a:ext uri="{FF2B5EF4-FFF2-40B4-BE49-F238E27FC236}">
                <a16:creationId xmlns:a16="http://schemas.microsoft.com/office/drawing/2014/main" id="{2EFECAC2-08DD-AA79-B72D-E898C14418FA}"/>
              </a:ext>
            </a:extLst>
          </p:cNvPr>
          <p:cNvSpPr/>
          <p:nvPr/>
        </p:nvSpPr>
        <p:spPr>
          <a:xfrm flipH="1">
            <a:off x="5727159" y="5112571"/>
            <a:ext cx="36764" cy="297012"/>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solidFill>
                <a:schemeClr val="tx1">
                  <a:lumMod val="50000"/>
                  <a:lumOff val="50000"/>
                </a:schemeClr>
              </a:solidFill>
            </a:endParaRPr>
          </a:p>
        </p:txBody>
      </p:sp>
      <p:sp>
        <p:nvSpPr>
          <p:cNvPr id="26" name="TextBox 25">
            <a:extLst>
              <a:ext uri="{FF2B5EF4-FFF2-40B4-BE49-F238E27FC236}">
                <a16:creationId xmlns:a16="http://schemas.microsoft.com/office/drawing/2014/main" id="{E6D3AD73-B84B-B13C-D4EC-2B0BF0223E77}"/>
              </a:ext>
            </a:extLst>
          </p:cNvPr>
          <p:cNvSpPr txBox="1"/>
          <p:nvPr/>
        </p:nvSpPr>
        <p:spPr>
          <a:xfrm>
            <a:off x="4743037" y="5412609"/>
            <a:ext cx="1106393" cy="334707"/>
          </a:xfrm>
          <a:prstGeom prst="rect">
            <a:avLst/>
          </a:prstGeom>
          <a:solidFill>
            <a:schemeClr val="bg1"/>
          </a:solidFill>
        </p:spPr>
        <p:txBody>
          <a:bodyPr wrap="none" rtlCol="0">
            <a:spAutoFit/>
          </a:bodyPr>
          <a:lstStyle/>
          <a:p>
            <a:endParaRPr lang="en-US" sz="525" dirty="0">
              <a:solidFill>
                <a:schemeClr val="tx2"/>
              </a:solidFill>
              <a:latin typeface="Arial Narrow" panose="020B0606020202030204" pitchFamily="34" charset="0"/>
            </a:endParaRPr>
          </a:p>
          <a:p>
            <a:r>
              <a:rPr lang="en-US" sz="525" dirty="0">
                <a:solidFill>
                  <a:schemeClr val="tx2"/>
                </a:solidFill>
                <a:latin typeface="Arial Narrow" panose="020B0606020202030204" pitchFamily="34" charset="0"/>
              </a:rPr>
              <a:t>Warranty, Escalations, OEM Issues</a:t>
            </a:r>
          </a:p>
          <a:p>
            <a:r>
              <a:rPr lang="en-US" sz="525" dirty="0">
                <a:solidFill>
                  <a:schemeClr val="tx2"/>
                </a:solidFill>
                <a:latin typeface="Arial Narrow" panose="020B0606020202030204" pitchFamily="34" charset="0"/>
              </a:rPr>
              <a:t>Cost claim impacts, Mfg Plant issues.</a:t>
            </a:r>
          </a:p>
        </p:txBody>
      </p:sp>
      <p:sp>
        <p:nvSpPr>
          <p:cNvPr id="27" name="Left Brace 26">
            <a:extLst>
              <a:ext uri="{FF2B5EF4-FFF2-40B4-BE49-F238E27FC236}">
                <a16:creationId xmlns:a16="http://schemas.microsoft.com/office/drawing/2014/main" id="{3E0D1541-CEB9-6121-0EC9-99786C7E997C}"/>
              </a:ext>
            </a:extLst>
          </p:cNvPr>
          <p:cNvSpPr/>
          <p:nvPr/>
        </p:nvSpPr>
        <p:spPr>
          <a:xfrm flipH="1">
            <a:off x="5735802" y="5517491"/>
            <a:ext cx="34289" cy="181784"/>
          </a:xfrm>
          <a:prstGeom prst="lef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highlight>
                <a:srgbClr val="C0C0C0"/>
              </a:highlight>
            </a:endParaRPr>
          </a:p>
        </p:txBody>
      </p:sp>
      <p:sp>
        <p:nvSpPr>
          <p:cNvPr id="28" name="Isosceles Triangle 27">
            <a:extLst>
              <a:ext uri="{FF2B5EF4-FFF2-40B4-BE49-F238E27FC236}">
                <a16:creationId xmlns:a16="http://schemas.microsoft.com/office/drawing/2014/main" id="{33F6E151-04FF-90CA-DACE-A675A18F82DF}"/>
              </a:ext>
            </a:extLst>
          </p:cNvPr>
          <p:cNvSpPr/>
          <p:nvPr/>
        </p:nvSpPr>
        <p:spPr>
          <a:xfrm>
            <a:off x="5950040" y="4717568"/>
            <a:ext cx="127589" cy="129869"/>
          </a:xfrm>
          <a:prstGeom prst="triangle">
            <a:avLst/>
          </a:prstGeom>
          <a:solidFill>
            <a:srgbClr val="00B0F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cxnSp>
        <p:nvCxnSpPr>
          <p:cNvPr id="30" name="Straight Connector 29">
            <a:extLst>
              <a:ext uri="{FF2B5EF4-FFF2-40B4-BE49-F238E27FC236}">
                <a16:creationId xmlns:a16="http://schemas.microsoft.com/office/drawing/2014/main" id="{D5B4D5A4-CF4B-057A-1A9D-A0A6F8817F03}"/>
              </a:ext>
            </a:extLst>
          </p:cNvPr>
          <p:cNvCxnSpPr/>
          <p:nvPr/>
        </p:nvCxnSpPr>
        <p:spPr>
          <a:xfrm>
            <a:off x="9144000" y="5496464"/>
            <a:ext cx="4319739"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4FEAE9ED-1376-512C-B4C4-FFE6AC006312}"/>
              </a:ext>
            </a:extLst>
          </p:cNvPr>
          <p:cNvCxnSpPr>
            <a:cxnSpLocks/>
          </p:cNvCxnSpPr>
          <p:nvPr/>
        </p:nvCxnSpPr>
        <p:spPr>
          <a:xfrm flipV="1">
            <a:off x="6007330" y="5356821"/>
            <a:ext cx="0" cy="1834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Diamond 32">
            <a:extLst>
              <a:ext uri="{FF2B5EF4-FFF2-40B4-BE49-F238E27FC236}">
                <a16:creationId xmlns:a16="http://schemas.microsoft.com/office/drawing/2014/main" id="{6632C130-C78B-21C6-4AEF-D06EDBDE4475}"/>
              </a:ext>
            </a:extLst>
          </p:cNvPr>
          <p:cNvSpPr/>
          <p:nvPr/>
        </p:nvSpPr>
        <p:spPr>
          <a:xfrm>
            <a:off x="7267403" y="4664732"/>
            <a:ext cx="250672" cy="229198"/>
          </a:xfrm>
          <a:prstGeom prst="diamond">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5" name="TextBox 34">
            <a:extLst>
              <a:ext uri="{FF2B5EF4-FFF2-40B4-BE49-F238E27FC236}">
                <a16:creationId xmlns:a16="http://schemas.microsoft.com/office/drawing/2014/main" id="{56820A4F-C4AD-064A-6D9F-EF66935E7D9B}"/>
              </a:ext>
            </a:extLst>
          </p:cNvPr>
          <p:cNvSpPr txBox="1"/>
          <p:nvPr/>
        </p:nvSpPr>
        <p:spPr>
          <a:xfrm>
            <a:off x="7214743" y="4881075"/>
            <a:ext cx="436338" cy="438582"/>
          </a:xfrm>
          <a:prstGeom prst="rect">
            <a:avLst/>
          </a:prstGeom>
          <a:noFill/>
        </p:spPr>
        <p:txBody>
          <a:bodyPr wrap="none" rtlCol="0">
            <a:spAutoFit/>
          </a:bodyPr>
          <a:lstStyle/>
          <a:p>
            <a:r>
              <a:rPr lang="en-US" sz="750" dirty="0"/>
              <a:t>QAM</a:t>
            </a:r>
          </a:p>
          <a:p>
            <a:r>
              <a:rPr lang="en-US" sz="750" dirty="0"/>
              <a:t>Audit</a:t>
            </a:r>
          </a:p>
          <a:p>
            <a:r>
              <a:rPr lang="en-US" sz="750" dirty="0"/>
              <a:t>(MQ1)</a:t>
            </a:r>
          </a:p>
        </p:txBody>
      </p:sp>
      <p:sp>
        <p:nvSpPr>
          <p:cNvPr id="36" name="TextBox 35">
            <a:extLst>
              <a:ext uri="{FF2B5EF4-FFF2-40B4-BE49-F238E27FC236}">
                <a16:creationId xmlns:a16="http://schemas.microsoft.com/office/drawing/2014/main" id="{AE41BEDC-63CA-6B07-BA4A-4A2767D52770}"/>
              </a:ext>
            </a:extLst>
          </p:cNvPr>
          <p:cNvSpPr txBox="1"/>
          <p:nvPr/>
        </p:nvSpPr>
        <p:spPr>
          <a:xfrm>
            <a:off x="7777822" y="4869942"/>
            <a:ext cx="436338" cy="438582"/>
          </a:xfrm>
          <a:prstGeom prst="rect">
            <a:avLst/>
          </a:prstGeom>
          <a:noFill/>
        </p:spPr>
        <p:txBody>
          <a:bodyPr wrap="none" rtlCol="0">
            <a:spAutoFit/>
          </a:bodyPr>
          <a:lstStyle/>
          <a:p>
            <a:r>
              <a:rPr lang="en-US" sz="750" dirty="0"/>
              <a:t>QAM</a:t>
            </a:r>
          </a:p>
          <a:p>
            <a:r>
              <a:rPr lang="en-US" sz="750" dirty="0"/>
              <a:t>Audit</a:t>
            </a:r>
          </a:p>
          <a:p>
            <a:r>
              <a:rPr lang="en-US" sz="750" dirty="0"/>
              <a:t>(MQ2)</a:t>
            </a:r>
          </a:p>
        </p:txBody>
      </p:sp>
      <p:sp>
        <p:nvSpPr>
          <p:cNvPr id="37" name="Diamond 36">
            <a:extLst>
              <a:ext uri="{FF2B5EF4-FFF2-40B4-BE49-F238E27FC236}">
                <a16:creationId xmlns:a16="http://schemas.microsoft.com/office/drawing/2014/main" id="{40A1F2E3-BF60-523D-C504-12E22AE8BE6E}"/>
              </a:ext>
            </a:extLst>
          </p:cNvPr>
          <p:cNvSpPr/>
          <p:nvPr/>
        </p:nvSpPr>
        <p:spPr>
          <a:xfrm>
            <a:off x="7816831" y="4664732"/>
            <a:ext cx="250672" cy="229198"/>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1" name="Arrow: Right 40">
            <a:extLst>
              <a:ext uri="{FF2B5EF4-FFF2-40B4-BE49-F238E27FC236}">
                <a16:creationId xmlns:a16="http://schemas.microsoft.com/office/drawing/2014/main" id="{520F63BD-135A-A87A-A9D5-5405FC786E49}"/>
              </a:ext>
            </a:extLst>
          </p:cNvPr>
          <p:cNvSpPr/>
          <p:nvPr/>
        </p:nvSpPr>
        <p:spPr>
          <a:xfrm>
            <a:off x="6195066" y="4976285"/>
            <a:ext cx="1019678" cy="34289"/>
          </a:xfrm>
          <a:prstGeom prst="rightArrow">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2" name="TextBox 41">
            <a:extLst>
              <a:ext uri="{FF2B5EF4-FFF2-40B4-BE49-F238E27FC236}">
                <a16:creationId xmlns:a16="http://schemas.microsoft.com/office/drawing/2014/main" id="{32743EDD-4E7D-CD5B-A7A4-3BB36B8D4E21}"/>
              </a:ext>
            </a:extLst>
          </p:cNvPr>
          <p:cNvSpPr txBox="1"/>
          <p:nvPr/>
        </p:nvSpPr>
        <p:spPr>
          <a:xfrm>
            <a:off x="5779018" y="4491201"/>
            <a:ext cx="734496" cy="230832"/>
          </a:xfrm>
          <a:prstGeom prst="rect">
            <a:avLst/>
          </a:prstGeom>
          <a:noFill/>
        </p:spPr>
        <p:txBody>
          <a:bodyPr wrap="none" rtlCol="0">
            <a:spAutoFit/>
          </a:bodyPr>
          <a:lstStyle/>
          <a:p>
            <a:r>
              <a:rPr lang="en-US" sz="450" b="1" dirty="0">
                <a:solidFill>
                  <a:schemeClr val="accent1"/>
                </a:solidFill>
                <a:latin typeface="Aptos" panose="020B0004020202020204" pitchFamily="34" charset="0"/>
              </a:rPr>
              <a:t>Equipment P.O. </a:t>
            </a:r>
            <a:r>
              <a:rPr lang="en-US" sz="450" b="1" u="sng" dirty="0">
                <a:solidFill>
                  <a:schemeClr val="accent1"/>
                </a:solidFill>
                <a:latin typeface="Aptos" panose="020B0004020202020204" pitchFamily="34" charset="0"/>
              </a:rPr>
              <a:t>with</a:t>
            </a:r>
            <a:r>
              <a:rPr lang="en-US" sz="450" b="1" dirty="0">
                <a:solidFill>
                  <a:schemeClr val="accent1"/>
                </a:solidFill>
                <a:latin typeface="Aptos" panose="020B0004020202020204" pitchFamily="34" charset="0"/>
              </a:rPr>
              <a:t> </a:t>
            </a:r>
          </a:p>
          <a:p>
            <a:r>
              <a:rPr lang="en-US" sz="450" b="1" dirty="0">
                <a:solidFill>
                  <a:schemeClr val="accent1"/>
                </a:solidFill>
                <a:latin typeface="Aptos" panose="020B0004020202020204" pitchFamily="34" charset="0"/>
              </a:rPr>
              <a:t>SOW improvements</a:t>
            </a:r>
          </a:p>
        </p:txBody>
      </p:sp>
      <p:sp>
        <p:nvSpPr>
          <p:cNvPr id="43" name="Isosceles Triangle 42">
            <a:extLst>
              <a:ext uri="{FF2B5EF4-FFF2-40B4-BE49-F238E27FC236}">
                <a16:creationId xmlns:a16="http://schemas.microsoft.com/office/drawing/2014/main" id="{A6083F26-E085-BC1E-7EE5-322F96829BA4}"/>
              </a:ext>
            </a:extLst>
          </p:cNvPr>
          <p:cNvSpPr/>
          <p:nvPr/>
        </p:nvSpPr>
        <p:spPr>
          <a:xfrm rot="10800000">
            <a:off x="6024305" y="4667071"/>
            <a:ext cx="110729" cy="93639"/>
          </a:xfrm>
          <a:prstGeom prst="triangl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45" name="Picture 44">
            <a:extLst>
              <a:ext uri="{FF2B5EF4-FFF2-40B4-BE49-F238E27FC236}">
                <a16:creationId xmlns:a16="http://schemas.microsoft.com/office/drawing/2014/main" id="{8F76F08F-C9D7-6C19-29C8-BCA264979064}"/>
              </a:ext>
            </a:extLst>
          </p:cNvPr>
          <p:cNvPicPr>
            <a:picLocks noChangeAspect="1"/>
          </p:cNvPicPr>
          <p:nvPr/>
        </p:nvPicPr>
        <p:blipFill>
          <a:blip r:embed="rId13"/>
          <a:stretch>
            <a:fillRect/>
          </a:stretch>
        </p:blipFill>
        <p:spPr>
          <a:xfrm>
            <a:off x="5089297" y="1948493"/>
            <a:ext cx="3226067" cy="555120"/>
          </a:xfrm>
          <a:prstGeom prst="rect">
            <a:avLst/>
          </a:prstGeom>
          <a:ln>
            <a:solidFill>
              <a:schemeClr val="tx1"/>
            </a:solidFill>
          </a:ln>
        </p:spPr>
      </p:pic>
      <p:cxnSp>
        <p:nvCxnSpPr>
          <p:cNvPr id="47" name="Straight Arrow Connector 46">
            <a:extLst>
              <a:ext uri="{FF2B5EF4-FFF2-40B4-BE49-F238E27FC236}">
                <a16:creationId xmlns:a16="http://schemas.microsoft.com/office/drawing/2014/main" id="{8FBE03C8-8BBB-2B23-A0AC-1D3360FD4921}"/>
              </a:ext>
            </a:extLst>
          </p:cNvPr>
          <p:cNvCxnSpPr>
            <a:cxnSpLocks/>
          </p:cNvCxnSpPr>
          <p:nvPr/>
        </p:nvCxnSpPr>
        <p:spPr>
          <a:xfrm>
            <a:off x="6161567" y="2503612"/>
            <a:ext cx="0" cy="1525463"/>
          </a:xfrm>
          <a:prstGeom prst="straightConnector1">
            <a:avLst/>
          </a:prstGeom>
          <a:ln w="19050">
            <a:solidFill>
              <a:schemeClr val="tx1"/>
            </a:solidFill>
            <a:tailEnd type="triangle"/>
          </a:ln>
        </p:spPr>
        <p:style>
          <a:lnRef idx="1">
            <a:schemeClr val="accent5"/>
          </a:lnRef>
          <a:fillRef idx="0">
            <a:schemeClr val="accent5"/>
          </a:fillRef>
          <a:effectRef idx="0">
            <a:schemeClr val="accent5"/>
          </a:effectRef>
          <a:fontRef idx="minor">
            <a:schemeClr val="tx1"/>
          </a:fontRef>
        </p:style>
      </p:cxnSp>
      <p:pic>
        <p:nvPicPr>
          <p:cNvPr id="51" name="Picture 50">
            <a:extLst>
              <a:ext uri="{FF2B5EF4-FFF2-40B4-BE49-F238E27FC236}">
                <a16:creationId xmlns:a16="http://schemas.microsoft.com/office/drawing/2014/main" id="{23166883-CF88-FAE9-2170-A149430057CA}"/>
              </a:ext>
            </a:extLst>
          </p:cNvPr>
          <p:cNvPicPr>
            <a:picLocks noChangeAspect="1"/>
          </p:cNvPicPr>
          <p:nvPr/>
        </p:nvPicPr>
        <p:blipFill>
          <a:blip r:embed="rId14"/>
          <a:stretch>
            <a:fillRect/>
          </a:stretch>
        </p:blipFill>
        <p:spPr>
          <a:xfrm>
            <a:off x="6200609" y="2641432"/>
            <a:ext cx="2683634" cy="468209"/>
          </a:xfrm>
          <a:prstGeom prst="rect">
            <a:avLst/>
          </a:prstGeom>
          <a:ln>
            <a:solidFill>
              <a:schemeClr val="tx1"/>
            </a:solidFill>
          </a:ln>
        </p:spPr>
      </p:pic>
      <p:cxnSp>
        <p:nvCxnSpPr>
          <p:cNvPr id="52" name="Straight Arrow Connector 51">
            <a:extLst>
              <a:ext uri="{FF2B5EF4-FFF2-40B4-BE49-F238E27FC236}">
                <a16:creationId xmlns:a16="http://schemas.microsoft.com/office/drawing/2014/main" id="{561E99E2-E239-6604-CF76-FDD1BC10A8BE}"/>
              </a:ext>
            </a:extLst>
          </p:cNvPr>
          <p:cNvCxnSpPr>
            <a:cxnSpLocks/>
          </p:cNvCxnSpPr>
          <p:nvPr/>
        </p:nvCxnSpPr>
        <p:spPr>
          <a:xfrm>
            <a:off x="7384169" y="3109641"/>
            <a:ext cx="0" cy="919434"/>
          </a:xfrm>
          <a:prstGeom prst="straightConnector1">
            <a:avLst/>
          </a:prstGeom>
          <a:ln w="19050">
            <a:solidFill>
              <a:schemeClr val="tx1"/>
            </a:solidFill>
            <a:tailEnd type="triangle"/>
          </a:ln>
        </p:spPr>
        <p:style>
          <a:lnRef idx="1">
            <a:schemeClr val="accent5"/>
          </a:lnRef>
          <a:fillRef idx="0">
            <a:schemeClr val="accent5"/>
          </a:fillRef>
          <a:effectRef idx="0">
            <a:schemeClr val="accent5"/>
          </a:effectRef>
          <a:fontRef idx="minor">
            <a:schemeClr val="tx1"/>
          </a:fontRef>
        </p:style>
      </p:cxnSp>
      <p:cxnSp>
        <p:nvCxnSpPr>
          <p:cNvPr id="54" name="Straight Arrow Connector 53">
            <a:extLst>
              <a:ext uri="{FF2B5EF4-FFF2-40B4-BE49-F238E27FC236}">
                <a16:creationId xmlns:a16="http://schemas.microsoft.com/office/drawing/2014/main" id="{287D3ED9-A5D3-838D-C6EF-28F4A11B4F3E}"/>
              </a:ext>
            </a:extLst>
          </p:cNvPr>
          <p:cNvCxnSpPr>
            <a:cxnSpLocks/>
          </p:cNvCxnSpPr>
          <p:nvPr/>
        </p:nvCxnSpPr>
        <p:spPr>
          <a:xfrm>
            <a:off x="7384169" y="3109641"/>
            <a:ext cx="416113" cy="919434"/>
          </a:xfrm>
          <a:prstGeom prst="straightConnector1">
            <a:avLst/>
          </a:prstGeom>
          <a:ln w="19050">
            <a:solidFill>
              <a:schemeClr val="tx1"/>
            </a:solidFill>
            <a:tailEnd type="triangle"/>
          </a:ln>
        </p:spPr>
        <p:style>
          <a:lnRef idx="1">
            <a:schemeClr val="accent5"/>
          </a:lnRef>
          <a:fillRef idx="0">
            <a:schemeClr val="accent5"/>
          </a:fillRef>
          <a:effectRef idx="0">
            <a:schemeClr val="accent5"/>
          </a:effectRef>
          <a:fontRef idx="minor">
            <a:schemeClr val="tx1"/>
          </a:fontRef>
        </p:style>
      </p:cxnSp>
      <p:sp>
        <p:nvSpPr>
          <p:cNvPr id="61" name="TextBox 60">
            <a:extLst>
              <a:ext uri="{FF2B5EF4-FFF2-40B4-BE49-F238E27FC236}">
                <a16:creationId xmlns:a16="http://schemas.microsoft.com/office/drawing/2014/main" id="{71F17EBD-EFD6-E66D-03D9-307602974079}"/>
              </a:ext>
            </a:extLst>
          </p:cNvPr>
          <p:cNvSpPr txBox="1"/>
          <p:nvPr/>
        </p:nvSpPr>
        <p:spPr>
          <a:xfrm>
            <a:off x="4997857" y="1654440"/>
            <a:ext cx="3278398" cy="300082"/>
          </a:xfrm>
          <a:prstGeom prst="rect">
            <a:avLst/>
          </a:prstGeom>
          <a:noFill/>
        </p:spPr>
        <p:txBody>
          <a:bodyPr wrap="none" rtlCol="0">
            <a:spAutoFit/>
          </a:bodyPr>
          <a:lstStyle/>
          <a:p>
            <a:r>
              <a:rPr lang="en-US" sz="1350" dirty="0"/>
              <a:t>APQP Dashboard Metris added per Program</a:t>
            </a:r>
          </a:p>
        </p:txBody>
      </p:sp>
      <p:sp>
        <p:nvSpPr>
          <p:cNvPr id="15" name="TextBox 14">
            <a:extLst>
              <a:ext uri="{FF2B5EF4-FFF2-40B4-BE49-F238E27FC236}">
                <a16:creationId xmlns:a16="http://schemas.microsoft.com/office/drawing/2014/main" id="{DA43F00B-3D28-F26C-739A-32DA06A2E7D5}"/>
              </a:ext>
            </a:extLst>
          </p:cNvPr>
          <p:cNvSpPr txBox="1"/>
          <p:nvPr/>
        </p:nvSpPr>
        <p:spPr>
          <a:xfrm>
            <a:off x="1410500" y="3109641"/>
            <a:ext cx="671979" cy="323165"/>
          </a:xfrm>
          <a:prstGeom prst="rect">
            <a:avLst/>
          </a:prstGeom>
          <a:noFill/>
        </p:spPr>
        <p:txBody>
          <a:bodyPr wrap="none" rtlCol="0">
            <a:spAutoFit/>
          </a:bodyPr>
          <a:lstStyle/>
          <a:p>
            <a:r>
              <a:rPr lang="en-US" sz="500" dirty="0">
                <a:latin typeface="Arial" panose="020B0604020202020204" pitchFamily="34" charset="0"/>
                <a:cs typeface="Arial" panose="020B0604020202020204" pitchFamily="34" charset="0"/>
              </a:rPr>
              <a:t>Quality team to </a:t>
            </a:r>
          </a:p>
          <a:p>
            <a:r>
              <a:rPr lang="en-US" sz="500" dirty="0">
                <a:latin typeface="Arial" panose="020B0604020202020204" pitchFamily="34" charset="0"/>
                <a:cs typeface="Arial" panose="020B0604020202020204" pitchFamily="34" charset="0"/>
              </a:rPr>
              <a:t>actively engage </a:t>
            </a:r>
          </a:p>
          <a:p>
            <a:r>
              <a:rPr lang="en-US" sz="500" dirty="0">
                <a:latin typeface="Arial" panose="020B0604020202020204" pitchFamily="34" charset="0"/>
                <a:cs typeface="Arial" panose="020B0604020202020204" pitchFamily="34" charset="0"/>
              </a:rPr>
              <a:t>in the F4 process</a:t>
            </a:r>
          </a:p>
        </p:txBody>
      </p:sp>
      <p:sp>
        <p:nvSpPr>
          <p:cNvPr id="17" name="TextBox 16">
            <a:extLst>
              <a:ext uri="{FF2B5EF4-FFF2-40B4-BE49-F238E27FC236}">
                <a16:creationId xmlns:a16="http://schemas.microsoft.com/office/drawing/2014/main" id="{8AEE67A6-53DE-D03C-626E-70C1F6FB1C11}"/>
              </a:ext>
            </a:extLst>
          </p:cNvPr>
          <p:cNvSpPr txBox="1"/>
          <p:nvPr/>
        </p:nvSpPr>
        <p:spPr>
          <a:xfrm>
            <a:off x="1233795" y="1288747"/>
            <a:ext cx="2563522" cy="184666"/>
          </a:xfrm>
          <a:prstGeom prst="rect">
            <a:avLst/>
          </a:prstGeom>
          <a:noFill/>
        </p:spPr>
        <p:txBody>
          <a:bodyPr wrap="none" rtlCol="0">
            <a:spAutoFit/>
          </a:bodyPr>
          <a:lstStyle/>
          <a:p>
            <a:r>
              <a:rPr lang="en-US" sz="600" dirty="0">
                <a:latin typeface="Arial" panose="020B0604020202020204" pitchFamily="34" charset="0"/>
                <a:cs typeface="Arial" panose="020B0604020202020204" pitchFamily="34" charset="0"/>
              </a:rPr>
              <a:t>KIM – Capture </a:t>
            </a:r>
            <a:r>
              <a:rPr lang="en-US" sz="600" dirty="0" err="1">
                <a:latin typeface="Arial" panose="020B0604020202020204" pitchFamily="34" charset="0"/>
                <a:cs typeface="Arial" panose="020B0604020202020204" pitchFamily="34" charset="0"/>
              </a:rPr>
              <a:t>Mfg</a:t>
            </a:r>
            <a:r>
              <a:rPr lang="en-US" sz="600" dirty="0">
                <a:latin typeface="Arial" panose="020B0604020202020204" pitchFamily="34" charset="0"/>
                <a:cs typeface="Arial" panose="020B0604020202020204" pitchFamily="34" charset="0"/>
              </a:rPr>
              <a:t> lessons learned from OEM (warranty, escalations)</a:t>
            </a:r>
          </a:p>
        </p:txBody>
      </p:sp>
    </p:spTree>
    <p:extLst>
      <p:ext uri="{BB962C8B-B14F-4D97-AF65-F5344CB8AC3E}">
        <p14:creationId xmlns:p14="http://schemas.microsoft.com/office/powerpoint/2010/main" val="2894429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0DC3B8-53C9-CE6F-BAB3-FEB86331C98A}"/>
              </a:ext>
            </a:extLst>
          </p:cNvPr>
          <p:cNvSpPr>
            <a:spLocks noGrp="1"/>
          </p:cNvSpPr>
          <p:nvPr>
            <p:ph type="title"/>
          </p:nvPr>
        </p:nvSpPr>
        <p:spPr>
          <a:xfrm>
            <a:off x="458532" y="318680"/>
            <a:ext cx="8226935" cy="692940"/>
          </a:xfrm>
        </p:spPr>
        <p:txBody>
          <a:bodyPr/>
          <a:lstStyle/>
          <a:p>
            <a:r>
              <a:rPr lang="en-US" sz="2400" i="1" u="sng" dirty="0"/>
              <a:t>BIQ Leader (CS)- Roles and Responsibilities (Reference Only)</a:t>
            </a:r>
            <a:endParaRPr lang="en-US" sz="2400" dirty="0"/>
          </a:p>
        </p:txBody>
      </p:sp>
      <p:sp>
        <p:nvSpPr>
          <p:cNvPr id="5" name="Slide Number Placeholder 4">
            <a:extLst>
              <a:ext uri="{FF2B5EF4-FFF2-40B4-BE49-F238E27FC236}">
                <a16:creationId xmlns:a16="http://schemas.microsoft.com/office/drawing/2014/main" id="{55C18287-E0B4-9F6D-1487-246A7025613E}"/>
              </a:ext>
            </a:extLst>
          </p:cNvPr>
          <p:cNvSpPr>
            <a:spLocks noGrp="1"/>
          </p:cNvSpPr>
          <p:nvPr>
            <p:ph type="sldNum" sz="quarter" idx="18"/>
          </p:nvPr>
        </p:nvSpPr>
        <p:spPr/>
        <p:txBody>
          <a:bodyPr/>
          <a:lstStyle/>
          <a:p>
            <a:fld id="{B6D1532F-61F1-B941-ACDF-6BC65E0B4055}" type="slidenum">
              <a:rPr lang="en-US" smtClean="0"/>
              <a:pPr/>
              <a:t>9</a:t>
            </a:fld>
            <a:endParaRPr lang="en-US" dirty="0"/>
          </a:p>
        </p:txBody>
      </p:sp>
      <p:cxnSp>
        <p:nvCxnSpPr>
          <p:cNvPr id="30" name="Straight Connector 29">
            <a:extLst>
              <a:ext uri="{FF2B5EF4-FFF2-40B4-BE49-F238E27FC236}">
                <a16:creationId xmlns:a16="http://schemas.microsoft.com/office/drawing/2014/main" id="{D5B4D5A4-CF4B-057A-1A9D-A0A6F8817F03}"/>
              </a:ext>
            </a:extLst>
          </p:cNvPr>
          <p:cNvCxnSpPr/>
          <p:nvPr/>
        </p:nvCxnSpPr>
        <p:spPr>
          <a:xfrm>
            <a:off x="9144000" y="5496464"/>
            <a:ext cx="4319739" cy="0"/>
          </a:xfrm>
          <a:prstGeom prst="line">
            <a:avLst/>
          </a:prstGeom>
          <a:ln w="76200"/>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73A69688-AACA-8B20-9C54-2C87A866ABB3}"/>
              </a:ext>
            </a:extLst>
          </p:cNvPr>
          <p:cNvSpPr txBox="1"/>
          <p:nvPr/>
        </p:nvSpPr>
        <p:spPr>
          <a:xfrm>
            <a:off x="458532" y="1258000"/>
            <a:ext cx="7999668" cy="4778231"/>
          </a:xfrm>
          <a:prstGeom prst="rect">
            <a:avLst/>
          </a:prstGeom>
          <a:noFill/>
        </p:spPr>
        <p:txBody>
          <a:bodyPr wrap="square" rtlCol="0">
            <a:spAutoFit/>
          </a:bodyPr>
          <a:lstStyle/>
          <a:p>
            <a:r>
              <a:rPr lang="en-US" sz="1100" b="1" dirty="0">
                <a:highlight>
                  <a:srgbClr val="B7D1CF"/>
                </a:highlight>
                <a:latin typeface="Arial" panose="020B0604020202020204" pitchFamily="34" charset="0"/>
                <a:cs typeface="Arial" panose="020B0604020202020204" pitchFamily="34" charset="0"/>
              </a:rPr>
              <a:t>1. Update APQP Dashboard metrics as programs assigned are monitored </a:t>
            </a:r>
          </a:p>
          <a:p>
            <a:r>
              <a:rPr lang="en-US" sz="1100" b="1" dirty="0">
                <a:highlight>
                  <a:srgbClr val="B7D1CF"/>
                </a:highlight>
                <a:latin typeface="Arial" panose="020B0604020202020204" pitchFamily="34" charset="0"/>
                <a:cs typeface="Arial" panose="020B0604020202020204" pitchFamily="34" charset="0"/>
              </a:rPr>
              <a:t>2. Knowledge &amp; Risk Management</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Create and maintain the </a:t>
            </a:r>
            <a:r>
              <a:rPr lang="en-US" sz="1050" b="1" dirty="0">
                <a:latin typeface="Arial" panose="020B0604020202020204" pitchFamily="34" charset="0"/>
                <a:cs typeface="Arial" panose="020B0604020202020204" pitchFamily="34" charset="0"/>
              </a:rPr>
              <a:t>Known Issues Matrix (KIM)</a:t>
            </a:r>
            <a:r>
              <a:rPr lang="en-US" sz="1050" dirty="0">
                <a:latin typeface="Arial" panose="020B0604020202020204" pitchFamily="34" charset="0"/>
                <a:cs typeface="Arial" panose="020B0604020202020204" pitchFamily="34" charset="0"/>
              </a:rPr>
              <a:t> using historical data (Warranty, 0km, PORs, PCRs, FFMs).</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Identify and document </a:t>
            </a:r>
            <a:r>
              <a:rPr lang="en-US" sz="1050" b="1" dirty="0">
                <a:latin typeface="Arial" panose="020B0604020202020204" pitchFamily="34" charset="0"/>
                <a:cs typeface="Arial" panose="020B0604020202020204" pitchFamily="34" charset="0"/>
              </a:rPr>
              <a:t>critical characteristics</a:t>
            </a:r>
            <a:r>
              <a:rPr lang="en-US" sz="1050" dirty="0">
                <a:latin typeface="Arial" panose="020B0604020202020204" pitchFamily="34" charset="0"/>
                <a:cs typeface="Arial" panose="020B0604020202020204" pitchFamily="34" charset="0"/>
              </a:rPr>
              <a:t> in the </a:t>
            </a:r>
            <a:r>
              <a:rPr lang="en-US" sz="1050" b="1" dirty="0">
                <a:latin typeface="Arial" panose="020B0604020202020204" pitchFamily="34" charset="0"/>
                <a:cs typeface="Arial" panose="020B0604020202020204" pitchFamily="34" charset="0"/>
              </a:rPr>
              <a:t>Quality Assurance Matrix (QAM)</a:t>
            </a:r>
            <a:r>
              <a:rPr lang="en-US" sz="1050" dirty="0">
                <a:latin typeface="Arial" panose="020B0604020202020204" pitchFamily="34" charset="0"/>
                <a:cs typeface="Arial" panose="020B0604020202020204" pitchFamily="34" charset="0"/>
              </a:rPr>
              <a:t>.</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Review historical product issues to define customer-specific requirements and expectations.</a:t>
            </a:r>
          </a:p>
          <a:p>
            <a:r>
              <a:rPr lang="en-US" sz="1100" b="1" dirty="0">
                <a:highlight>
                  <a:srgbClr val="B7D1CF"/>
                </a:highlight>
                <a:latin typeface="Arial" panose="020B0604020202020204" pitchFamily="34" charset="0"/>
                <a:cs typeface="Arial" panose="020B0604020202020204" pitchFamily="34" charset="0"/>
              </a:rPr>
              <a:t>3. Product Review and Characterization </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Review </a:t>
            </a:r>
            <a:r>
              <a:rPr lang="en-US" sz="1050" b="1" dirty="0">
                <a:latin typeface="Arial" panose="020B0604020202020204" pitchFamily="34" charset="0"/>
                <a:cs typeface="Arial" panose="020B0604020202020204" pitchFamily="34" charset="0"/>
              </a:rPr>
              <a:t>KPCs, QCIs, </a:t>
            </a:r>
            <a:r>
              <a:rPr lang="en-US" sz="1050" dirty="0">
                <a:latin typeface="Arial" panose="020B0604020202020204" pitchFamily="34" charset="0"/>
                <a:cs typeface="Arial" panose="020B0604020202020204" pitchFamily="34" charset="0"/>
              </a:rPr>
              <a:t>fit/function characteristics, and assess equipment capability to meet tolerances.</a:t>
            </a:r>
          </a:p>
          <a:p>
            <a:r>
              <a:rPr lang="en-US" sz="1100" b="1" dirty="0">
                <a:highlight>
                  <a:srgbClr val="B7D1CF"/>
                </a:highlight>
                <a:latin typeface="Arial" panose="020B0604020202020204" pitchFamily="34" charset="0"/>
                <a:cs typeface="Arial" panose="020B0604020202020204" pitchFamily="34" charset="0"/>
              </a:rPr>
              <a:t>4. Print Requirements Alignment to SOW (Equipment &amp; </a:t>
            </a:r>
            <a:r>
              <a:rPr lang="en-US" sz="1100" b="1" dirty="0" err="1">
                <a:highlight>
                  <a:srgbClr val="B7D1CF"/>
                </a:highlight>
                <a:latin typeface="Arial" panose="020B0604020202020204" pitchFamily="34" charset="0"/>
                <a:cs typeface="Arial" panose="020B0604020202020204" pitchFamily="34" charset="0"/>
              </a:rPr>
              <a:t>Pokayokes</a:t>
            </a:r>
            <a:r>
              <a:rPr lang="en-US" sz="1100" b="1" dirty="0">
                <a:highlight>
                  <a:srgbClr val="B7D1CF"/>
                </a:highlight>
                <a:latin typeface="Arial" panose="020B0604020202020204" pitchFamily="34" charset="0"/>
                <a:cs typeface="Arial" panose="020B0604020202020204" pitchFamily="34" charset="0"/>
              </a:rPr>
              <a:t>) and QAM</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Ensure alignment of the </a:t>
            </a:r>
            <a:r>
              <a:rPr lang="en-US" sz="1050" b="1" dirty="0">
                <a:latin typeface="Arial" panose="020B0604020202020204" pitchFamily="34" charset="0"/>
                <a:cs typeface="Arial" panose="020B0604020202020204" pitchFamily="34" charset="0"/>
              </a:rPr>
              <a:t>Statement of Work (SOW)</a:t>
            </a:r>
            <a:r>
              <a:rPr lang="en-US" sz="1050" dirty="0">
                <a:latin typeface="Arial" panose="020B0604020202020204" pitchFamily="34" charset="0"/>
                <a:cs typeface="Arial" panose="020B0604020202020204" pitchFamily="34" charset="0"/>
              </a:rPr>
              <a:t> with the </a:t>
            </a:r>
            <a:r>
              <a:rPr lang="en-US" sz="1050" b="1" dirty="0">
                <a:latin typeface="Arial" panose="020B0604020202020204" pitchFamily="34" charset="0"/>
                <a:cs typeface="Arial" panose="020B0604020202020204" pitchFamily="34" charset="0"/>
              </a:rPr>
              <a:t>QAM</a:t>
            </a:r>
            <a:r>
              <a:rPr lang="en-US" sz="1050" dirty="0">
                <a:latin typeface="Arial" panose="020B0604020202020204" pitchFamily="34" charset="0"/>
                <a:cs typeface="Arial" panose="020B0604020202020204" pitchFamily="34" charset="0"/>
              </a:rPr>
              <a:t> and </a:t>
            </a:r>
            <a:r>
              <a:rPr lang="en-US" sz="1050" b="1" dirty="0">
                <a:latin typeface="Arial" panose="020B0604020202020204" pitchFamily="34" charset="0"/>
                <a:cs typeface="Arial" panose="020B0604020202020204" pitchFamily="34" charset="0"/>
              </a:rPr>
              <a:t>Poka-yoke/Error Proofing</a:t>
            </a:r>
            <a:r>
              <a:rPr lang="en-US" sz="1050" dirty="0">
                <a:latin typeface="Arial" panose="020B0604020202020204" pitchFamily="34" charset="0"/>
                <a:cs typeface="Arial" panose="020B0604020202020204" pitchFamily="34" charset="0"/>
              </a:rPr>
              <a:t> measures.</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Confirm the availability and capability of equipment to prevent quality issues.</a:t>
            </a:r>
          </a:p>
          <a:p>
            <a:r>
              <a:rPr lang="en-US" sz="1100" b="1" dirty="0">
                <a:highlight>
                  <a:srgbClr val="B7D1CF"/>
                </a:highlight>
                <a:latin typeface="Arial" panose="020B0604020202020204" pitchFamily="34" charset="0"/>
                <a:cs typeface="Arial" panose="020B0604020202020204" pitchFamily="34" charset="0"/>
              </a:rPr>
              <a:t>5. Machine Qualification (MQ) Assessments with Quality Assurance Matrix</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Perform </a:t>
            </a:r>
            <a:r>
              <a:rPr lang="en-US" sz="1050" b="1" dirty="0">
                <a:latin typeface="Arial" panose="020B0604020202020204" pitchFamily="34" charset="0"/>
                <a:cs typeface="Arial" panose="020B0604020202020204" pitchFamily="34" charset="0"/>
              </a:rPr>
              <a:t>MQ1</a:t>
            </a:r>
            <a:r>
              <a:rPr lang="en-US" sz="1050" dirty="0">
                <a:latin typeface="Arial" panose="020B0604020202020204" pitchFamily="34" charset="0"/>
                <a:cs typeface="Arial" panose="020B0604020202020204" pitchFamily="34" charset="0"/>
              </a:rPr>
              <a:t> and </a:t>
            </a:r>
            <a:r>
              <a:rPr lang="en-US" sz="1050" b="1" dirty="0">
                <a:latin typeface="Arial" panose="020B0604020202020204" pitchFamily="34" charset="0"/>
                <a:cs typeface="Arial" panose="020B0604020202020204" pitchFamily="34" charset="0"/>
              </a:rPr>
              <a:t>MQ2</a:t>
            </a:r>
            <a:r>
              <a:rPr lang="en-US" sz="1050" dirty="0">
                <a:latin typeface="Arial" panose="020B0604020202020204" pitchFamily="34" charset="0"/>
                <a:cs typeface="Arial" panose="020B0604020202020204" pitchFamily="34" charset="0"/>
              </a:rPr>
              <a:t> assessments from a BIQ perspective.</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Approve MQ1 and MQ2 readiness and escalate open issues when necessary.</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Determine process capability to </a:t>
            </a:r>
            <a:r>
              <a:rPr lang="en-US" sz="1050" b="1" dirty="0">
                <a:latin typeface="Arial" panose="020B0604020202020204" pitchFamily="34" charset="0"/>
                <a:cs typeface="Arial" panose="020B0604020202020204" pitchFamily="34" charset="0"/>
              </a:rPr>
              <a:t>detect and prevent</a:t>
            </a:r>
            <a:r>
              <a:rPr lang="en-US" sz="1050" dirty="0">
                <a:latin typeface="Arial" panose="020B0604020202020204" pitchFamily="34" charset="0"/>
                <a:cs typeface="Arial" panose="020B0604020202020204" pitchFamily="34" charset="0"/>
              </a:rPr>
              <a:t> quality issues.</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Document any open gaps or issues in the </a:t>
            </a:r>
            <a:r>
              <a:rPr lang="en-US" sz="1050" b="1" dirty="0">
                <a:latin typeface="Arial" panose="020B0604020202020204" pitchFamily="34" charset="0"/>
                <a:cs typeface="Arial" panose="020B0604020202020204" pitchFamily="34" charset="0"/>
              </a:rPr>
              <a:t>KIM</a:t>
            </a:r>
            <a:r>
              <a:rPr lang="en-US" sz="1050" dirty="0">
                <a:latin typeface="Arial" panose="020B0604020202020204" pitchFamily="34" charset="0"/>
                <a:cs typeface="Arial" panose="020B0604020202020204" pitchFamily="34" charset="0"/>
              </a:rPr>
              <a:t>.</a:t>
            </a:r>
          </a:p>
          <a:p>
            <a:r>
              <a:rPr lang="en-US" sz="1100" b="1" dirty="0">
                <a:highlight>
                  <a:srgbClr val="B7D1CF"/>
                </a:highlight>
                <a:latin typeface="Arial" panose="020B0604020202020204" pitchFamily="34" charset="0"/>
                <a:cs typeface="Arial" panose="020B0604020202020204" pitchFamily="34" charset="0"/>
              </a:rPr>
              <a:t>6. Support Process Failure Mode and Effects Analysis (PFMEA) development</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Support the documentation of </a:t>
            </a:r>
            <a:r>
              <a:rPr lang="en-US" sz="1050" b="1" dirty="0">
                <a:latin typeface="Arial" panose="020B0604020202020204" pitchFamily="34" charset="0"/>
                <a:cs typeface="Arial" panose="020B0604020202020204" pitchFamily="34" charset="0"/>
              </a:rPr>
              <a:t>PFMEA</a:t>
            </a:r>
            <a:r>
              <a:rPr lang="en-US" sz="105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050" dirty="0">
                <a:latin typeface="Arial" panose="020B0604020202020204" pitchFamily="34" charset="0"/>
                <a:cs typeface="Arial" panose="020B0604020202020204" pitchFamily="34" charset="0"/>
              </a:rPr>
              <a:t>Focus on </a:t>
            </a:r>
            <a:r>
              <a:rPr lang="en-US" sz="1050" b="1" dirty="0">
                <a:latin typeface="Arial" panose="020B0604020202020204" pitchFamily="34" charset="0"/>
                <a:cs typeface="Arial" panose="020B0604020202020204" pitchFamily="34" charset="0"/>
              </a:rPr>
              <a:t>critical characteristics</a:t>
            </a:r>
            <a:r>
              <a:rPr lang="en-US" sz="1050" dirty="0">
                <a:latin typeface="Arial" panose="020B0604020202020204" pitchFamily="34" charset="0"/>
                <a:cs typeface="Arial" panose="020B0604020202020204" pitchFamily="34" charset="0"/>
              </a:rPr>
              <a:t> with high severity.</a:t>
            </a:r>
          </a:p>
          <a:p>
            <a:pPr marL="742950" lvl="1" indent="-285750">
              <a:buFont typeface="Arial" panose="020B0604020202020204" pitchFamily="34" charset="0"/>
              <a:buChar char="•"/>
            </a:pPr>
            <a:r>
              <a:rPr lang="en-US" sz="1050" dirty="0">
                <a:latin typeface="Arial" panose="020B0604020202020204" pitchFamily="34" charset="0"/>
                <a:cs typeface="Arial" panose="020B0604020202020204" pitchFamily="34" charset="0"/>
              </a:rPr>
              <a:t>Link failure modes and controls to QAM and MQ learnings.</a:t>
            </a:r>
          </a:p>
          <a:p>
            <a:r>
              <a:rPr lang="en-US" sz="1100" b="1" dirty="0">
                <a:highlight>
                  <a:srgbClr val="B7D1CF"/>
                </a:highlight>
                <a:latin typeface="Arial" panose="020B0604020202020204" pitchFamily="34" charset="0"/>
                <a:cs typeface="Arial" panose="020B0604020202020204" pitchFamily="34" charset="0"/>
              </a:rPr>
              <a:t>7. Process Control Plan &amp; Launch Readiness</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Support creation of the </a:t>
            </a:r>
            <a:r>
              <a:rPr lang="en-US" sz="1050" b="1" dirty="0">
                <a:latin typeface="Arial" panose="020B0604020202020204" pitchFamily="34" charset="0"/>
                <a:cs typeface="Arial" panose="020B0604020202020204" pitchFamily="34" charset="0"/>
              </a:rPr>
              <a:t>Control Plan</a:t>
            </a:r>
            <a:r>
              <a:rPr lang="en-US" sz="1050" dirty="0">
                <a:latin typeface="Arial" panose="020B0604020202020204" pitchFamily="34" charset="0"/>
                <a:cs typeface="Arial" panose="020B0604020202020204" pitchFamily="34" charset="0"/>
              </a:rPr>
              <a:t> based on PFMEA, MQs, and QAM.</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Prepare and document a </a:t>
            </a:r>
            <a:r>
              <a:rPr lang="en-US" sz="1050" b="1" dirty="0">
                <a:latin typeface="Arial" panose="020B0604020202020204" pitchFamily="34" charset="0"/>
                <a:cs typeface="Arial" panose="020B0604020202020204" pitchFamily="34" charset="0"/>
              </a:rPr>
              <a:t>Safe Launch Plan</a:t>
            </a:r>
            <a:r>
              <a:rPr lang="en-US" sz="1050" dirty="0">
                <a:latin typeface="Arial" panose="020B0604020202020204" pitchFamily="34" charset="0"/>
                <a:cs typeface="Arial" panose="020B0604020202020204" pitchFamily="34" charset="0"/>
              </a:rPr>
              <a:t> per customer requirements.</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Confirm full </a:t>
            </a:r>
            <a:r>
              <a:rPr lang="en-US" sz="1050" b="1" dirty="0">
                <a:latin typeface="Arial" panose="020B0604020202020204" pitchFamily="34" charset="0"/>
                <a:cs typeface="Arial" panose="020B0604020202020204" pitchFamily="34" charset="0"/>
              </a:rPr>
              <a:t>PPAP Approval</a:t>
            </a:r>
            <a:r>
              <a:rPr lang="en-US" sz="1050" dirty="0">
                <a:latin typeface="Arial" panose="020B0604020202020204" pitchFamily="34" charset="0"/>
                <a:cs typeface="Arial" panose="020B0604020202020204" pitchFamily="34" charset="0"/>
              </a:rPr>
              <a:t> and monitor for issues during the safe launch phase.</a:t>
            </a:r>
          </a:p>
          <a:p>
            <a:r>
              <a:rPr lang="en-US" sz="1100" b="1" dirty="0">
                <a:highlight>
                  <a:srgbClr val="B7D1CF"/>
                </a:highlight>
                <a:latin typeface="Arial" panose="020B0604020202020204" pitchFamily="34" charset="0"/>
                <a:cs typeface="Arial" panose="020B0604020202020204" pitchFamily="34" charset="0"/>
              </a:rPr>
              <a:t>8. Program Handoff &amp; Continuous Monitoring</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Ensure all issues are documented in KIM until full closure.</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Collaborate with multi-disciplinary teams to close actions.</a:t>
            </a:r>
          </a:p>
          <a:p>
            <a:pPr>
              <a:buFont typeface="Arial" panose="020B0604020202020204" pitchFamily="34" charset="0"/>
              <a:buChar char="•"/>
            </a:pPr>
            <a:r>
              <a:rPr lang="en-US" sz="1050" dirty="0">
                <a:latin typeface="Arial" panose="020B0604020202020204" pitchFamily="34" charset="0"/>
                <a:cs typeface="Arial" panose="020B0604020202020204" pitchFamily="34" charset="0"/>
              </a:rPr>
              <a:t>Ensure a clean </a:t>
            </a:r>
            <a:r>
              <a:rPr lang="en-US" sz="1050" b="1" dirty="0">
                <a:latin typeface="Arial" panose="020B0604020202020204" pitchFamily="34" charset="0"/>
                <a:cs typeface="Arial" panose="020B0604020202020204" pitchFamily="34" charset="0"/>
              </a:rPr>
              <a:t>handover to the plant</a:t>
            </a:r>
            <a:r>
              <a:rPr lang="en-US" sz="1050" dirty="0">
                <a:latin typeface="Arial" panose="020B0604020202020204" pitchFamily="34" charset="0"/>
                <a:cs typeface="Arial" panose="020B0604020202020204" pitchFamily="34" charset="0"/>
              </a:rPr>
              <a:t> upon successful PPAP and safe launch.</a:t>
            </a:r>
          </a:p>
          <a:p>
            <a:endParaRPr lang="en-US" sz="1100" dirty="0"/>
          </a:p>
        </p:txBody>
      </p:sp>
      <p:graphicFrame>
        <p:nvGraphicFramePr>
          <p:cNvPr id="8" name="Object 7">
            <a:extLst>
              <a:ext uri="{FF2B5EF4-FFF2-40B4-BE49-F238E27FC236}">
                <a16:creationId xmlns:a16="http://schemas.microsoft.com/office/drawing/2014/main" id="{AD3CA3AC-0B84-F52E-FB0C-CD827C4F4274}"/>
              </a:ext>
            </a:extLst>
          </p:cNvPr>
          <p:cNvGraphicFramePr>
            <a:graphicFrameLocks noChangeAspect="1"/>
          </p:cNvGraphicFramePr>
          <p:nvPr>
            <p:extLst>
              <p:ext uri="{D42A27DB-BD31-4B8C-83A1-F6EECF244321}">
                <p14:modId xmlns:p14="http://schemas.microsoft.com/office/powerpoint/2010/main" val="424874276"/>
              </p:ext>
            </p:extLst>
          </p:nvPr>
        </p:nvGraphicFramePr>
        <p:xfrm>
          <a:off x="7543800" y="1011620"/>
          <a:ext cx="914400" cy="792163"/>
        </p:xfrm>
        <a:graphic>
          <a:graphicData uri="http://schemas.openxmlformats.org/presentationml/2006/ole">
            <mc:AlternateContent xmlns:mc="http://schemas.openxmlformats.org/markup-compatibility/2006">
              <mc:Choice xmlns:v="urn:schemas-microsoft-com:vml" Requires="v">
                <p:oleObj name="Document" showAsIcon="1" r:id="rId2" imgW="914649" imgH="792535" progId="Word.Document.12">
                  <p:embed/>
                </p:oleObj>
              </mc:Choice>
              <mc:Fallback>
                <p:oleObj name="Document" showAsIcon="1" r:id="rId2" imgW="914649" imgH="792535" progId="Word.Document.12">
                  <p:embed/>
                  <p:pic>
                    <p:nvPicPr>
                      <p:cNvPr id="8" name="Object 7">
                        <a:extLst>
                          <a:ext uri="{FF2B5EF4-FFF2-40B4-BE49-F238E27FC236}">
                            <a16:creationId xmlns:a16="http://schemas.microsoft.com/office/drawing/2014/main" id="{AD3CA3AC-0B84-F52E-FB0C-CD827C4F4274}"/>
                          </a:ext>
                        </a:extLst>
                      </p:cNvPr>
                      <p:cNvPicPr/>
                      <p:nvPr/>
                    </p:nvPicPr>
                    <p:blipFill>
                      <a:blip r:embed="rId3"/>
                      <a:stretch>
                        <a:fillRect/>
                      </a:stretch>
                    </p:blipFill>
                    <p:spPr>
                      <a:xfrm>
                        <a:off x="7543800" y="1011620"/>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312081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92B41-0FD8-456B-D78D-779C657A4B4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B573FC3-5B51-16DA-E4A3-02A1CCBFBEE7}"/>
              </a:ext>
            </a:extLst>
          </p:cNvPr>
          <p:cNvSpPr>
            <a:spLocks noGrp="1"/>
          </p:cNvSpPr>
          <p:nvPr>
            <p:ph type="sldNum" sz="quarter" idx="18"/>
          </p:nvPr>
        </p:nvSpPr>
        <p:spPr/>
        <p:txBody>
          <a:bodyPr/>
          <a:lstStyle/>
          <a:p>
            <a:fld id="{B6D1532F-61F1-B941-ACDF-6BC65E0B4055}" type="slidenum">
              <a:rPr lang="en-US" smtClean="0"/>
              <a:pPr/>
              <a:t>10</a:t>
            </a:fld>
            <a:endParaRPr lang="en-US" dirty="0"/>
          </a:p>
        </p:txBody>
      </p:sp>
      <p:cxnSp>
        <p:nvCxnSpPr>
          <p:cNvPr id="30" name="Straight Connector 29">
            <a:extLst>
              <a:ext uri="{FF2B5EF4-FFF2-40B4-BE49-F238E27FC236}">
                <a16:creationId xmlns:a16="http://schemas.microsoft.com/office/drawing/2014/main" id="{E188D1B0-E811-077C-4DA6-958E811472BF}"/>
              </a:ext>
            </a:extLst>
          </p:cNvPr>
          <p:cNvCxnSpPr/>
          <p:nvPr/>
        </p:nvCxnSpPr>
        <p:spPr>
          <a:xfrm>
            <a:off x="9144000" y="5496464"/>
            <a:ext cx="4319739" cy="0"/>
          </a:xfrm>
          <a:prstGeom prst="line">
            <a:avLst/>
          </a:prstGeom>
          <a:ln w="76200"/>
        </p:spPr>
        <p:style>
          <a:lnRef idx="1">
            <a:schemeClr val="dk1"/>
          </a:lnRef>
          <a:fillRef idx="0">
            <a:schemeClr val="dk1"/>
          </a:fillRef>
          <a:effectRef idx="0">
            <a:schemeClr val="dk1"/>
          </a:effectRef>
          <a:fontRef idx="minor">
            <a:schemeClr val="tx1"/>
          </a:fontRef>
        </p:style>
      </p:cxnSp>
      <p:graphicFrame>
        <p:nvGraphicFramePr>
          <p:cNvPr id="10" name="Group 135">
            <a:extLst>
              <a:ext uri="{FF2B5EF4-FFF2-40B4-BE49-F238E27FC236}">
                <a16:creationId xmlns:a16="http://schemas.microsoft.com/office/drawing/2014/main" id="{2B72394E-2202-4FBC-CD2A-A2FED871CB41}"/>
              </a:ext>
            </a:extLst>
          </p:cNvPr>
          <p:cNvGraphicFramePr>
            <a:graphicFrameLocks/>
          </p:cNvGraphicFramePr>
          <p:nvPr>
            <p:extLst>
              <p:ext uri="{D42A27DB-BD31-4B8C-83A1-F6EECF244321}">
                <p14:modId xmlns:p14="http://schemas.microsoft.com/office/powerpoint/2010/main" val="2469467568"/>
              </p:ext>
            </p:extLst>
          </p:nvPr>
        </p:nvGraphicFramePr>
        <p:xfrm>
          <a:off x="152399" y="914400"/>
          <a:ext cx="8686800" cy="3283993"/>
        </p:xfrm>
        <a:graphic>
          <a:graphicData uri="http://schemas.openxmlformats.org/drawingml/2006/table">
            <a:tbl>
              <a:tblPr/>
              <a:tblGrid>
                <a:gridCol w="1265505">
                  <a:extLst>
                    <a:ext uri="{9D8B030D-6E8A-4147-A177-3AD203B41FA5}">
                      <a16:colId xmlns:a16="http://schemas.microsoft.com/office/drawing/2014/main" val="20000"/>
                    </a:ext>
                  </a:extLst>
                </a:gridCol>
                <a:gridCol w="1265505">
                  <a:extLst>
                    <a:ext uri="{9D8B030D-6E8A-4147-A177-3AD203B41FA5}">
                      <a16:colId xmlns:a16="http://schemas.microsoft.com/office/drawing/2014/main" val="20001"/>
                    </a:ext>
                  </a:extLst>
                </a:gridCol>
                <a:gridCol w="4190245">
                  <a:extLst>
                    <a:ext uri="{9D8B030D-6E8A-4147-A177-3AD203B41FA5}">
                      <a16:colId xmlns:a16="http://schemas.microsoft.com/office/drawing/2014/main" val="20002"/>
                    </a:ext>
                  </a:extLst>
                </a:gridCol>
                <a:gridCol w="1965545">
                  <a:extLst>
                    <a:ext uri="{9D8B030D-6E8A-4147-A177-3AD203B41FA5}">
                      <a16:colId xmlns:a16="http://schemas.microsoft.com/office/drawing/2014/main" val="20003"/>
                    </a:ext>
                  </a:extLst>
                </a:gridCol>
              </a:tblGrid>
              <a:tr h="304800">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Release Date</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DCR Number</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Revision</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Requester /</a:t>
                      </a:r>
                    </a:p>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Document Owner</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50203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2025-11-21</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hlinkClick r:id="rId2"/>
                        </a:rPr>
                        <a:t>DCR 4093</a:t>
                      </a:r>
                      <a:endParaRPr kumimoji="0" lang="en-US" sz="1100" b="0" i="0" u="none" strike="noStrike" cap="none" normalizeH="0" baseline="0" dirty="0">
                        <a:ln>
                          <a:noFill/>
                        </a:ln>
                        <a:solidFill>
                          <a:schemeClr val="tx1"/>
                        </a:solidFill>
                        <a:effectLst/>
                        <a:latin typeface="Arial" charset="0"/>
                      </a:endParaRP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None/>
                        <a:tabLst/>
                      </a:pPr>
                      <a:r>
                        <a:rPr kumimoji="0" lang="en-US" sz="1100" b="0" i="0" u="none" strike="noStrike" cap="none" normalizeH="0" baseline="0" dirty="0">
                          <a:ln>
                            <a:noFill/>
                          </a:ln>
                          <a:solidFill>
                            <a:schemeClr val="tx1">
                              <a:lumMod val="95000"/>
                              <a:lumOff val="5000"/>
                            </a:schemeClr>
                          </a:solidFill>
                          <a:effectLst/>
                          <a:latin typeface="Arial" charset="0"/>
                        </a:rPr>
                        <a:t>Initial Release of the Procedure</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Ciro Martinez</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0881">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3407">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None/>
                        <a:tabLst/>
                        <a:defRPr/>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53407">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1" name="TextBox 10">
            <a:extLst>
              <a:ext uri="{FF2B5EF4-FFF2-40B4-BE49-F238E27FC236}">
                <a16:creationId xmlns:a16="http://schemas.microsoft.com/office/drawing/2014/main" id="{08F56A27-08AD-5615-1790-7DC2BCDEAEA2}"/>
              </a:ext>
            </a:extLst>
          </p:cNvPr>
          <p:cNvSpPr txBox="1"/>
          <p:nvPr/>
        </p:nvSpPr>
        <p:spPr>
          <a:xfrm>
            <a:off x="228598" y="425924"/>
            <a:ext cx="42481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PROCEDURE REVISION RECORD</a:t>
            </a:r>
          </a:p>
        </p:txBody>
      </p:sp>
    </p:spTree>
    <p:extLst>
      <p:ext uri="{BB962C8B-B14F-4D97-AF65-F5344CB8AC3E}">
        <p14:creationId xmlns:p14="http://schemas.microsoft.com/office/powerpoint/2010/main" val="280705712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9f8ee6ba-22ae-4b18-a96b-b6990d3e2b67" ContentTypeId="0x01" PreviousValue="false"/>
</file>

<file path=customXml/item3.xml><?xml version="1.0" encoding="utf-8"?>
<p:properties xmlns:p="http://schemas.microsoft.com/office/2006/metadata/properties" xmlns:xsi="http://www.w3.org/2001/XMLSchema-instance" xmlns:pc="http://schemas.microsoft.com/office/infopath/2007/PartnerControls">
  <documentManagement>
    <TaxCatchAll xmlns="0c36092b-8ec2-40bd-b469-d1fe4f1e7785">
      <Value>538</Value>
      <Value>539</Value>
      <Value>555</Value>
      <Value>503</Value>
      <Value>501</Value>
      <Value>499</Value>
      <Value>550</Value>
      <Value>561</Value>
      <Value>714</Value>
    </TaxCatchAll>
    <ka0759a5942f41c695b775aef8208f3e xmlns="0c36092b-8ec2-40bd-b469-d1fe4f1e7785">
      <Terms xmlns="http://schemas.microsoft.com/office/infopath/2007/PartnerControls"/>
    </ka0759a5942f41c695b775aef8208f3e>
    <le32960acc2343b2a783ebfbeb256c3d xmlns="0c36092b-8ec2-40bd-b469-d1fe4f1e7785">
      <Terms xmlns="http://schemas.microsoft.com/office/infopath/2007/PartnerControls"/>
    </le32960acc2343b2a783ebfbeb256c3d>
    <fddf08f74f1e4eb0b4a866c10db37afa xmlns="0c36092b-8ec2-40bd-b469-d1fe4f1e7785">
      <Terms xmlns="http://schemas.microsoft.com/office/infopath/2007/PartnerControls"/>
    </fddf08f74f1e4eb0b4a866c10db37afa>
    <TaxCatchAllLabel xmlns="0c36092b-8ec2-40bd-b469-d1fe4f1e7785" xsi:nil="true"/>
    <_Version xmlns="http://schemas.microsoft.com/sharepoint/v3/fields" xsi:nil="true"/>
    <m65c1b3ed9cd4a9daeead227122b534d xmlns="c5c844fb-3a05-4f74-8301-eb572a8a1932">
      <Terms xmlns="http://schemas.microsoft.com/office/infopath/2007/PartnerControls"/>
    </m65c1b3ed9cd4a9daeead227122b534d>
    <f2da7fc86df14e80848c715a582a09fc xmlns="c5c844fb-3a05-4f74-8301-eb572a8a1932">
      <Terms xmlns="http://schemas.microsoft.com/office/infopath/2007/PartnerControls"/>
    </f2da7fc86df14e80848c715a582a09fc>
    <SecondaryDocSeriesNum xmlns="c5c844fb-3a05-4f74-8301-eb572a8a1932">03</SecondaryDocSeriesNum>
    <Replaces xmlns="c5c844fb-3a05-4f74-8301-eb572a8a1932" xsi:nil="true"/>
    <b91eb8078c9543538bce35d45c081f79 xmlns="c5c844fb-3a05-4f74-8301-eb572a8a1932">
      <Terms xmlns="http://schemas.microsoft.com/office/infopath/2007/PartnerControls">
        <TermInfo xmlns="http://schemas.microsoft.com/office/infopath/2007/PartnerControls">
          <TermName xmlns="http://schemas.microsoft.com/office/infopath/2007/PartnerControls">North America</TermName>
          <TermId xmlns="http://schemas.microsoft.com/office/infopath/2007/PartnerControls">e58979b1-7ce2-4218-b06b-014e158041ed</TermId>
        </TermInfo>
      </Terms>
    </b91eb8078c9543538bce35d45c081f79>
    <DocumentOwner xmlns="c5c844fb-3a05-4f74-8301-eb572a8a1932">
      <UserInfo>
        <DisplayName>Martinez, Ciro G.</DisplayName>
        <AccountId>29</AccountId>
        <AccountType/>
      </UserInfo>
    </DocumentOwner>
    <ReplacedBy xmlns="c5c844fb-3a05-4f74-8301-eb572a8a1932" xsi:nil="true"/>
    <m3e5d886d5834254918a02334e296b76 xmlns="c5c844fb-3a05-4f74-8301-eb572a8a1932">
      <Terms xmlns="http://schemas.microsoft.com/office/infopath/2007/PartnerControls"/>
    </m3e5d886d5834254918a02334e296b76>
    <OptionalIdentifier xmlns="c5c844fb-3a05-4f74-8301-eb572a8a1932" xsi:nil="true"/>
    <NeedsReprocessing xmlns="625c0035-64ec-47d2-a762-d0754ebed9f3">false</NeedsReprocessing>
    <DCRInfo xmlns="c5c844fb-3a05-4f74-8301-eb572a8a1932">DCR 4093</DCRInfo>
    <ndde19fd7ef1483493a8f1c53b1b6b1a xmlns="c5c844fb-3a05-4f74-8301-eb572a8a1932">
      <Terms xmlns="http://schemas.microsoft.com/office/infopath/2007/PartnerControls">
        <TermInfo xmlns="http://schemas.microsoft.com/office/infopath/2007/PartnerControls">
          <TermName xmlns="http://schemas.microsoft.com/office/infopath/2007/PartnerControls">4-1 Define Project Requirements</TermName>
          <TermId xmlns="http://schemas.microsoft.com/office/infopath/2007/PartnerControls">fedda4d3-d7df-4423-b56a-8858c2e52866</TermId>
        </TermInfo>
      </Terms>
    </ndde19fd7ef1483493a8f1c53b1b6b1a>
    <ObsoleteDate xmlns="c5c844fb-3a05-4f74-8301-eb572a8a1932">2026-04-27T04:00:00+00:00</ObsoleteDate>
    <f8d7a6658cea4a10a51d8a3a11a6b803 xmlns="c5c844fb-3a05-4f74-8301-eb572a8a1932">
      <Terms xmlns="http://schemas.microsoft.com/office/infopath/2007/PartnerControls">
        <TermInfo xmlns="http://schemas.microsoft.com/office/infopath/2007/PartnerControls">
          <TermName xmlns="http://schemas.microsoft.com/office/infopath/2007/PartnerControls">Customer Satisfaction</TermName>
          <TermId xmlns="http://schemas.microsoft.com/office/infopath/2007/PartnerControls">4e4a150a-86cc-4af1-87dc-2768392eab49</TermId>
        </TermInfo>
        <TermInfo xmlns="http://schemas.microsoft.com/office/infopath/2007/PartnerControls">
          <TermName xmlns="http://schemas.microsoft.com/office/infopath/2007/PartnerControls">Manufacturing Engineering</TermName>
          <TermId xmlns="http://schemas.microsoft.com/office/infopath/2007/PartnerControls">2c7fde2e-2037-427d-b5f4-38db5502efb0</TermId>
        </TermInfo>
        <TermInfo xmlns="http://schemas.microsoft.com/office/infopath/2007/PartnerControls">
          <TermName xmlns="http://schemas.microsoft.com/office/infopath/2007/PartnerControls">Product Engineering</TermName>
          <TermId xmlns="http://schemas.microsoft.com/office/infopath/2007/PartnerControls">621db317-de40-4d80-aa65-b89afbc5c530</TermId>
        </TermInfo>
        <TermInfo xmlns="http://schemas.microsoft.com/office/infopath/2007/PartnerControls">
          <TermName xmlns="http://schemas.microsoft.com/office/infopath/2007/PartnerControls">Program Management</TermName>
          <TermId xmlns="http://schemas.microsoft.com/office/infopath/2007/PartnerControls">8494c4b4-b55b-4d26-b280-1af9525a0432</TermId>
        </TermInfo>
      </Terms>
    </f8d7a6658cea4a10a51d8a3a11a6b803>
    <h2fe4d1c038e45e8889eb5b7cd50c800 xmlns="c5c844fb-3a05-4f74-8301-eb572a8a1932">
      <Terms xmlns="http://schemas.microsoft.com/office/infopath/2007/PartnerControls">
        <TermInfo xmlns="http://schemas.microsoft.com/office/infopath/2007/PartnerControls">
          <TermName xmlns="http://schemas.microsoft.com/office/infopath/2007/PartnerControls">Procedure</TermName>
          <TermId xmlns="http://schemas.microsoft.com/office/infopath/2007/PartnerControls">64e15cbe-4824-438d-8b65-1d27b336f011</TermId>
        </TermInfo>
      </Terms>
    </h2fe4d1c038e45e8889eb5b7cd50c800>
    <b936ac81c11149c28abe10623a36d336 xmlns="c5c844fb-3a05-4f74-8301-eb572a8a1932">
      <Terms xmlns="http://schemas.microsoft.com/office/infopath/2007/PartnerControls">
        <TermInfo xmlns="http://schemas.microsoft.com/office/infopath/2007/PartnerControls">
          <TermName xmlns="http://schemas.microsoft.com/office/infopath/2007/PartnerControls">Connection Systems</TermName>
          <TermId xmlns="http://schemas.microsoft.com/office/infopath/2007/PartnerControls">11a24ab1-80d0-4414-a0ed-90906ec638c9</TermId>
        </TermInfo>
      </Terms>
    </b936ac81c11149c28abe10623a36d336>
    <ffb72c8aeb3f421fb176c6fc08d2cbe9 xmlns="c5c844fb-3a05-4f74-8301-eb572a8a1932">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0f869863-28c5-4bad-88f4-5e957fc1fedc</TermId>
        </TermInfo>
      </Terms>
    </ffb72c8aeb3f421fb176c6fc08d2cbe9>
    <i07f8e2dc724467c88034e42fb6bf3df xmlns="625c0035-64ec-47d2-a762-d0754ebed9f3">
      <Terms xmlns="http://schemas.microsoft.com/office/infopath/2007/PartnerControls"/>
    </i07f8e2dc724467c88034e42fb6bf3df>
    <PrimaryDocSeriesNum xmlns="c5c844fb-3a05-4f74-8301-eb572a8a1932">01</PrimaryDocSeriesNum>
    <he11d22bca4f4dd7a936424bc304e998 xmlns="c5c844fb-3a05-4f74-8301-eb572a8a1932">
      <Terms xmlns="http://schemas.microsoft.com/office/infopath/2007/PartnerControls"/>
    </he11d22bca4f4dd7a936424bc304e998>
    <Last_x0020_Reviewed xmlns="625c0035-64ec-47d2-a762-d0754ebed9f3">2025-11-07T05:00:00+00:00</Last_x0020_Reviewed>
    <ChildDocNum xmlns="c5c844fb-3a05-4f74-8301-eb572a8a1932" xsi:nil="true"/>
    <DocumentController xmlns="c5c844fb-3a05-4f74-8301-eb572a8a1932">
      <UserInfo>
        <DisplayName>Zubia, Rosario</DisplayName>
        <AccountId>207</AccountId>
        <AccountType/>
      </UserInfo>
    </DocumentController>
    <EOSDocNum xmlns="c5c844fb-3a05-4f74-8301-eb572a8a1932">EANP_4-1_CS_01-03_EN</EOSDocNum>
    <DocumentState xmlns="c5c844fb-3a05-4f74-8301-eb572a8a1932">Obsolete</DocumentState>
    <ApprovalDate xmlns="c5c844fb-3a05-4f74-8301-eb572a8a1932">2025-10-22T04:00:00+00:00</ApprovalDate>
    <k9a925d7be4c452281f764c8b8b1b3f3 xmlns="c5c844fb-3a05-4f74-8301-eb572a8a1932">
      <Terms xmlns="http://schemas.microsoft.com/office/infopath/2007/PartnerControls">
        <TermInfo xmlns="http://schemas.microsoft.com/office/infopath/2007/PartnerControls">
          <TermName xmlns="http://schemas.microsoft.com/office/infopath/2007/PartnerControls">Customer Satisfaction</TermName>
          <TermId xmlns="http://schemas.microsoft.com/office/infopath/2007/PartnerControls">4e4a150a-86cc-4af1-87dc-2768392eab49</TermId>
        </TermInfo>
      </Terms>
    </k9a925d7be4c452281f764c8b8b1b3f3>
    <EffectiveDate xmlns="c5c844fb-3a05-4f74-8301-eb572a8a1932">2025-11-21T05:00:00+00:00</EffectiveDate>
    <iaa644f6615246ffac384ba389ed9d22 xmlns="c5c844fb-3a05-4f74-8301-eb572a8a1932">
      <Terms xmlns="http://schemas.microsoft.com/office/infopath/2007/PartnerControls">
        <TermInfo xmlns="http://schemas.microsoft.com/office/infopath/2007/PartnerControls">
          <TermName xmlns="http://schemas.microsoft.com/office/infopath/2007/PartnerControls">North America</TermName>
          <TermId xmlns="http://schemas.microsoft.com/office/infopath/2007/PartnerControls">e58979b1-7ce2-4218-b06b-014e158041ed</TermId>
        </TermInfo>
      </Terms>
    </iaa644f6615246ffac384ba389ed9d22>
    <SharedWithDetails xmlns="c5c844fb-3a05-4f74-8301-eb572a8a1932" xsi:nil="true"/>
    <SharedWithUsers xmlns="c5c844fb-3a05-4f74-8301-eb572a8a1932">
      <UserInfo>
        <DisplayName/>
        <AccountId xsi:nil="true"/>
        <AccountType/>
      </UserInfo>
    </SharedWithUsers>
    <CreatedInTracker xmlns="31c58dc0-f405-4da6-90bc-1a2ee9784dbe">Yes</CreatedInTracker>
  </documentManagement>
</p:properties>
</file>

<file path=customXml/item4.xml><?xml version="1.0" encoding="utf-8"?>
<ct:contentTypeSchema xmlns:ct="http://schemas.microsoft.com/office/2006/metadata/contentType" xmlns:ma="http://schemas.microsoft.com/office/2006/metadata/properties/metaAttributes" ct:_="" ma:_="" ma:contentTypeName="EOS Document" ma:contentTypeID="0x010100D1D3186A8B59604F90124F3B9C63333C00C01EBBD85F52B64199EF9EC6CEABD300" ma:contentTypeVersion="22" ma:contentTypeDescription="" ma:contentTypeScope="" ma:versionID="b21b881cdbf0f3af8450edf79d0dacb0">
  <xsd:schema xmlns:xsd="http://www.w3.org/2001/XMLSchema" xmlns:xs="http://www.w3.org/2001/XMLSchema" xmlns:p="http://schemas.microsoft.com/office/2006/metadata/properties" xmlns:ns2="c5c844fb-3a05-4f74-8301-eb572a8a1932" xmlns:ns3="625c0035-64ec-47d2-a762-d0754ebed9f3" xmlns:ns4="http://schemas.microsoft.com/sharepoint/v3/fields" xmlns:ns5="0c36092b-8ec2-40bd-b469-d1fe4f1e7785" xmlns:ns6="31c58dc0-f405-4da6-90bc-1a2ee9784dbe" targetNamespace="http://schemas.microsoft.com/office/2006/metadata/properties" ma:root="true" ma:fieldsID="50698303762cffc25814a05d0afad348" ns2:_="" ns3:_="" ns4:_="" ns5:_="" ns6:_="">
    <xsd:import namespace="c5c844fb-3a05-4f74-8301-eb572a8a1932"/>
    <xsd:import namespace="625c0035-64ec-47d2-a762-d0754ebed9f3"/>
    <xsd:import namespace="http://schemas.microsoft.com/sharepoint/v3/fields"/>
    <xsd:import namespace="0c36092b-8ec2-40bd-b469-d1fe4f1e7785"/>
    <xsd:import namespace="31c58dc0-f405-4da6-90bc-1a2ee9784dbe"/>
    <xsd:element name="properties">
      <xsd:complexType>
        <xsd:sequence>
          <xsd:element name="documentManagement">
            <xsd:complexType>
              <xsd:all>
                <xsd:element ref="ns2:OptionalIdentifier" minOccurs="0"/>
                <xsd:element ref="ns2:PrimaryDocSeriesNum" minOccurs="0"/>
                <xsd:element ref="ns2:SecondaryDocSeriesNum" minOccurs="0"/>
                <xsd:element ref="ns2:ChildDocNum" minOccurs="0"/>
                <xsd:element ref="ns2:DocumentState" minOccurs="0"/>
                <xsd:element ref="ns2:ApprovalDate" minOccurs="0"/>
                <xsd:element ref="ns2:EffectiveDate"/>
                <xsd:element ref="ns2:ObsoleteDate" minOccurs="0"/>
                <xsd:element ref="ns2:DocumentOwner" minOccurs="0"/>
                <xsd:element ref="ns2:DocumentController" minOccurs="0"/>
                <xsd:element ref="ns2:ReplacedBy" minOccurs="0"/>
                <xsd:element ref="ns2:Replaces" minOccurs="0"/>
                <xsd:element ref="ns2:DCRInfo" minOccurs="0"/>
                <xsd:element ref="ns2:EOSDocNum" minOccurs="0"/>
                <xsd:element ref="ns3:Last_x0020_Reviewed"/>
                <xsd:element ref="ns3:NeedsReprocessing" minOccurs="0"/>
                <xsd:element ref="ns2:SharedWithUsers" minOccurs="0"/>
                <xsd:element ref="ns2:SharedWithDetails" minOccurs="0"/>
                <xsd:element ref="ns4:_Version" minOccurs="0"/>
                <xsd:element ref="ns5:TaxCatchAll" minOccurs="0"/>
                <xsd:element ref="ns5:TaxCatchAllLabel" minOccurs="0"/>
                <xsd:element ref="ns5:ka0759a5942f41c695b775aef8208f3e" minOccurs="0"/>
                <xsd:element ref="ns2:b936ac81c11149c28abe10623a36d336" minOccurs="0"/>
                <xsd:element ref="ns2:b91eb8078c9543538bce35d45c081f79" minOccurs="0"/>
                <xsd:element ref="ns2:f8d7a6658cea4a10a51d8a3a11a6b803" minOccurs="0"/>
                <xsd:element ref="ns2:m65c1b3ed9cd4a9daeead227122b534d" minOccurs="0"/>
                <xsd:element ref="ns2:k9a925d7be4c452281f764c8b8b1b3f3" minOccurs="0"/>
                <xsd:element ref="ns2:ndde19fd7ef1483493a8f1c53b1b6b1a" minOccurs="0"/>
                <xsd:element ref="ns2:h2fe4d1c038e45e8889eb5b7cd50c800" minOccurs="0"/>
                <xsd:element ref="ns2:iaa644f6615246ffac384ba389ed9d22" minOccurs="0"/>
                <xsd:element ref="ns2:he11d22bca4f4dd7a936424bc304e998" minOccurs="0"/>
                <xsd:element ref="ns2:f2da7fc86df14e80848c715a582a09fc" minOccurs="0"/>
                <xsd:element ref="ns2:m3e5d886d5834254918a02334e296b76" minOccurs="0"/>
                <xsd:element ref="ns5:le32960acc2343b2a783ebfbeb256c3d" minOccurs="0"/>
                <xsd:element ref="ns2:ffb72c8aeb3f421fb176c6fc08d2cbe9" minOccurs="0"/>
                <xsd:element ref="ns3:i07f8e2dc724467c88034e42fb6bf3df" minOccurs="0"/>
                <xsd:element ref="ns5:fddf08f74f1e4eb0b4a866c10db37afa" minOccurs="0"/>
                <xsd:element ref="ns6:CreatedInTrack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c844fb-3a05-4f74-8301-eb572a8a1932" elementFormDefault="qualified">
    <xsd:import namespace="http://schemas.microsoft.com/office/2006/documentManagement/types"/>
    <xsd:import namespace="http://schemas.microsoft.com/office/infopath/2007/PartnerControls"/>
    <xsd:element name="OptionalIdentifier" ma:index="5" nillable="true" ma:displayName="Optional Identifier" ma:description="This Optional THREE Character Designation may be used to identify a Specific Area within a Function.  Ex: Plant 10 = P10" ma:internalName="OptionalIdentifier" ma:readOnly="false">
      <xsd:simpleType>
        <xsd:restriction base="dms:Text">
          <xsd:maxLength value="3"/>
        </xsd:restriction>
      </xsd:simpleType>
    </xsd:element>
    <xsd:element name="PrimaryDocSeriesNum" ma:index="11" nillable="true" ma:displayName="Primary Document Series Number" ma:internalName="PrimaryDocSeriesNum" ma:readOnly="false">
      <xsd:simpleType>
        <xsd:restriction base="dms:Text">
          <xsd:maxLength value="255"/>
        </xsd:restriction>
      </xsd:simpleType>
    </xsd:element>
    <xsd:element name="SecondaryDocSeriesNum" ma:index="12" nillable="true" ma:displayName="Secondary Document Series Number" ma:internalName="SecondaryDocSeriesNum" ma:readOnly="false">
      <xsd:simpleType>
        <xsd:restriction base="dms:Text">
          <xsd:maxLength value="255"/>
        </xsd:restriction>
      </xsd:simpleType>
    </xsd:element>
    <xsd:element name="ChildDocNum" ma:index="13" nillable="true" ma:displayName="Child Document and Number" ma:internalName="ChildDocNum" ma:readOnly="false">
      <xsd:simpleType>
        <xsd:restriction base="dms:Text">
          <xsd:maxLength value="255"/>
        </xsd:restriction>
      </xsd:simpleType>
    </xsd:element>
    <xsd:element name="DocumentState" ma:index="16" nillable="true" ma:displayName="Document State" ma:default="Released" ma:format="Dropdown" ma:indexed="true" ma:internalName="DocumentState" ma:readOnly="false">
      <xsd:simpleType>
        <xsd:restriction base="dms:Choice">
          <xsd:enumeration value="Released"/>
          <xsd:enumeration value="Obsolete"/>
        </xsd:restriction>
      </xsd:simpleType>
    </xsd:element>
    <xsd:element name="ApprovalDate" ma:index="17" nillable="true" ma:displayName="Initial Release Date" ma:default="[today]" ma:format="DateOnly" ma:indexed="true" ma:internalName="ApprovalDate" ma:readOnly="false">
      <xsd:simpleType>
        <xsd:restriction base="dms:DateTime"/>
      </xsd:simpleType>
    </xsd:element>
    <xsd:element name="EffectiveDate" ma:index="18" ma:displayName="Effective Date" ma:format="DateOnly" ma:indexed="true" ma:internalName="EffectiveDate" ma:readOnly="false">
      <xsd:simpleType>
        <xsd:restriction base="dms:DateTime"/>
      </xsd:simpleType>
    </xsd:element>
    <xsd:element name="ObsoleteDate" ma:index="19" nillable="true" ma:displayName="Obsolete Date" ma:format="DateOnly" ma:internalName="ObsoleteDate" ma:readOnly="false">
      <xsd:simpleType>
        <xsd:restriction base="dms:DateTime"/>
      </xsd:simpleType>
    </xsd:element>
    <xsd:element name="DocumentOwner" ma:index="20" nillable="true" ma:displayName="Document Owner" ma:indexed="true" ma:list="UserInfo" ma:SharePointGroup="0" ma:internalName="Document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Controller" ma:index="21" nillable="true" ma:displayName="Document Controller" ma:indexed="true" ma:list="UserInfo" ma:SharePointGroup="0" ma:internalName="DocumentControll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placedBy" ma:index="22" nillable="true" ma:displayName="Replaced By" ma:internalName="ReplacedBy" ma:readOnly="false">
      <xsd:simpleType>
        <xsd:restriction base="dms:Text">
          <xsd:maxLength value="255"/>
        </xsd:restriction>
      </xsd:simpleType>
    </xsd:element>
    <xsd:element name="Replaces" ma:index="23" nillable="true" ma:displayName="Replaces" ma:internalName="Replaces" ma:readOnly="false">
      <xsd:simpleType>
        <xsd:restriction base="dms:Text">
          <xsd:maxLength value="255"/>
        </xsd:restriction>
      </xsd:simpleType>
    </xsd:element>
    <xsd:element name="DCRInfo" ma:index="24" nillable="true" ma:displayName="DCR Information" ma:internalName="DCRInfo" ma:readOnly="false">
      <xsd:simpleType>
        <xsd:restriction base="dms:Text">
          <xsd:maxLength value="255"/>
        </xsd:restriction>
      </xsd:simpleType>
    </xsd:element>
    <xsd:element name="EOSDocNum" ma:index="25" nillable="true" ma:displayName="EOS Document Number" ma:hidden="true" ma:internalName="EOSDocNum" ma:readOnly="false">
      <xsd:simpleType>
        <xsd:restriction base="dms:Text">
          <xsd:maxLength value="255"/>
        </xsd:restriction>
      </xsd:simpleType>
    </xsd:element>
    <xsd:element name="SharedWithUsers" ma:index="31" nillable="true" ma:displayName="Shared With" ma:description=""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false">
      <xsd:simpleType>
        <xsd:restriction base="dms:Note">
          <xsd:maxLength value="255"/>
        </xsd:restriction>
      </xsd:simpleType>
    </xsd:element>
    <xsd:element name="b936ac81c11149c28abe10623a36d336" ma:index="41" ma:taxonomy="true" ma:internalName="b936ac81c11149c28abe10623a36d336" ma:taxonomyFieldName="PBU" ma:displayName="Business Unit" ma:readOnly="false" ma:default="" ma:fieldId="{b936ac81-c111-49c2-8abe-10623a36d336}" ma:taxonomyMulti="true" ma:sspId="9f8ee6ba-22ae-4b18-a96b-b6990d3e2b67" ma:termSetId="63b84f25-cc59-4f8c-ad34-2fbee11ca8d1" ma:anchorId="9ab60333-24b3-451f-a1f2-94b1d857ffb8" ma:open="false" ma:isKeyword="false">
      <xsd:complexType>
        <xsd:sequence>
          <xsd:element ref="pc:Terms" minOccurs="0" maxOccurs="1"/>
        </xsd:sequence>
      </xsd:complexType>
    </xsd:element>
    <xsd:element name="b91eb8078c9543538bce35d45c081f79" ma:index="42" ma:taxonomy="true" ma:internalName="b91eb8078c9543538bce35d45c081f79" ma:taxonomyFieldName="Region" ma:displayName="Region" ma:readOnly="false" ma:default="" ma:fieldId="{b91eb807-8c95-4353-8bce-35d45c081f79}" ma:taxonomyMulti="true" ma:sspId="9f8ee6ba-22ae-4b18-a96b-b6990d3e2b67" ma:termSetId="0c0e7ef1-ec70-42ae-89ef-3ca7fab66565" ma:anchorId="00000000-0000-0000-0000-000000000000" ma:open="false" ma:isKeyword="false">
      <xsd:complexType>
        <xsd:sequence>
          <xsd:element ref="pc:Terms" minOccurs="0" maxOccurs="1"/>
        </xsd:sequence>
      </xsd:complexType>
    </xsd:element>
    <xsd:element name="f8d7a6658cea4a10a51d8a3a11a6b803" ma:index="43" ma:taxonomy="true" ma:internalName="f8d7a6658cea4a10a51d8a3a11a6b803" ma:taxonomyFieldName="SwimlaneParticipant" ma:displayName="Swimlane - Participants" ma:readOnly="false" ma:default="" ma:fieldId="{f8d7a665-8cea-4a10-a51d-8a3a11a6b803}" ma:taxonomyMulti="true" ma:sspId="9f8ee6ba-22ae-4b18-a96b-b6990d3e2b67" ma:termSetId="63b84f25-cc59-4f8c-ad34-2fbee11ca8d1" ma:anchorId="b5c2b1e5-c53b-41a4-871d-9e6675b58b66" ma:open="false" ma:isKeyword="false">
      <xsd:complexType>
        <xsd:sequence>
          <xsd:element ref="pc:Terms" minOccurs="0" maxOccurs="1"/>
        </xsd:sequence>
      </xsd:complexType>
    </xsd:element>
    <xsd:element name="m65c1b3ed9cd4a9daeead227122b534d" ma:index="44" nillable="true" ma:taxonomy="true" ma:internalName="m65c1b3ed9cd4a9daeead227122b534d" ma:taxonomyFieldName="StakeholderBank" ma:displayName="Stakeholder or Bank" ma:indexed="true" ma:readOnly="false" ma:default="" ma:fieldId="{665c1b3e-d9cd-4a9d-aeea-d227122b534d}" ma:sspId="9f8ee6ba-22ae-4b18-a96b-b6990d3e2b67" ma:termSetId="572bda01-e1b0-495c-933b-d01413b8721c" ma:anchorId="00000000-0000-0000-0000-000000000000" ma:open="false" ma:isKeyword="false">
      <xsd:complexType>
        <xsd:sequence>
          <xsd:element ref="pc:Terms" minOccurs="0" maxOccurs="1"/>
        </xsd:sequence>
      </xsd:complexType>
    </xsd:element>
    <xsd:element name="k9a925d7be4c452281f764c8b8b1b3f3" ma:index="45" ma:taxonomy="true" ma:internalName="k9a925d7be4c452281f764c8b8b1b3f3" ma:taxonomyFieldName="SwimlaneDO" ma:displayName="Swimlane - Document Owner" ma:indexed="true" ma:readOnly="false" ma:default="" ma:fieldId="{49a925d7-be4c-4522-81f7-64c8b8b1b3f3}" ma:sspId="9f8ee6ba-22ae-4b18-a96b-b6990d3e2b67" ma:termSetId="63b84f25-cc59-4f8c-ad34-2fbee11ca8d1" ma:anchorId="b5c2b1e5-c53b-41a4-871d-9e6675b58b66" ma:open="false" ma:isKeyword="false">
      <xsd:complexType>
        <xsd:sequence>
          <xsd:element ref="pc:Terms" minOccurs="0" maxOccurs="1"/>
        </xsd:sequence>
      </xsd:complexType>
    </xsd:element>
    <xsd:element name="ndde19fd7ef1483493a8f1c53b1b6b1a" ma:index="46" ma:taxonomy="true" ma:internalName="ndde19fd7ef1483493a8f1c53b1b6b1a" ma:taxonomyFieldName="FlowPipe" ma:displayName="Flow &amp; Pipe" ma:indexed="true" ma:readOnly="false" ma:default="" ma:fieldId="{7dde19fd-7ef1-4834-93a8-f1c53b1b6b1a}" ma:sspId="9f8ee6ba-22ae-4b18-a96b-b6990d3e2b67" ma:termSetId="9abfc8cf-c748-47f6-9e73-fa499e1ded32" ma:anchorId="00000000-0000-0000-0000-000000000000" ma:open="false" ma:isKeyword="false">
      <xsd:complexType>
        <xsd:sequence>
          <xsd:element ref="pc:Terms" minOccurs="0" maxOccurs="1"/>
        </xsd:sequence>
      </xsd:complexType>
    </xsd:element>
    <xsd:element name="h2fe4d1c038e45e8889eb5b7cd50c800" ma:index="47" ma:taxonomy="true" ma:internalName="h2fe4d1c038e45e8889eb5b7cd50c800" ma:taxonomyFieldName="DocumentType" ma:displayName="Document Type" ma:indexed="true" ma:readOnly="false" ma:default="" ma:fieldId="{12fe4d1c-038e-45e8-889e-b5b7cd50c800}" ma:sspId="9f8ee6ba-22ae-4b18-a96b-b6990d3e2b67" ma:termSetId="7985808b-297d-4325-9d6c-6b8ba11487f4" ma:anchorId="00000000-0000-0000-0000-000000000000" ma:open="false" ma:isKeyword="false">
      <xsd:complexType>
        <xsd:sequence>
          <xsd:element ref="pc:Terms" minOccurs="0" maxOccurs="1"/>
        </xsd:sequence>
      </xsd:complexType>
    </xsd:element>
    <xsd:element name="iaa644f6615246ffac384ba389ed9d22" ma:index="48" ma:taxonomy="true" ma:internalName="iaa644f6615246ffac384ba389ed9d22" ma:taxonomyFieldName="RegionalIdentifier" ma:displayName="Regional Identifier" ma:readOnly="false" ma:default="" ma:fieldId="{2aa644f6-6152-46ff-ac38-4ba389ed9d22}" ma:sspId="9f8ee6ba-22ae-4b18-a96b-b6990d3e2b67" ma:termSetId="0c0e7ef1-ec70-42ae-89ef-3ca7fab66565" ma:anchorId="00000000-0000-0000-0000-000000000000" ma:open="false" ma:isKeyword="false">
      <xsd:complexType>
        <xsd:sequence>
          <xsd:element ref="pc:Terms" minOccurs="0" maxOccurs="1"/>
        </xsd:sequence>
      </xsd:complexType>
    </xsd:element>
    <xsd:element name="he11d22bca4f4dd7a936424bc304e998" ma:index="49" nillable="true" ma:taxonomy="true" ma:internalName="he11d22bca4f4dd7a936424bc304e998" ma:taxonomyFieldName="Division" ma:displayName="Division" ma:readOnly="false" ma:default="" ma:fieldId="{1e11d22b-ca4f-4dd7-a936-424bc304e998}" ma:sspId="9f8ee6ba-22ae-4b18-a96b-b6990d3e2b67" ma:termSetId="63b84f25-cc59-4f8c-ad34-2fbee11ca8d1" ma:anchorId="9494e071-d2b1-4559-8a60-e7ff37055f2d" ma:open="false" ma:isKeyword="false">
      <xsd:complexType>
        <xsd:sequence>
          <xsd:element ref="pc:Terms" minOccurs="0" maxOccurs="1"/>
        </xsd:sequence>
      </xsd:complexType>
    </xsd:element>
    <xsd:element name="f2da7fc86df14e80848c715a582a09fc" ma:index="50" nillable="true" ma:taxonomy="true" ma:internalName="f2da7fc86df14e80848c715a582a09fc" ma:taxonomyFieldName="AppliesTo" ma:displayName="Applies To" ma:indexed="true" ma:readOnly="false" ma:default="" ma:fieldId="{f2da7fc8-6df1-4e80-848c-715a582a09fc}" ma:sspId="9f8ee6ba-22ae-4b18-a96b-b6990d3e2b67" ma:termSetId="60950385-d767-4984-8b27-70ae885c43d7" ma:anchorId="4742d66c-80a4-4ec8-9775-15b020658383" ma:open="false" ma:isKeyword="false">
      <xsd:complexType>
        <xsd:sequence>
          <xsd:element ref="pc:Terms" minOccurs="0" maxOccurs="1"/>
        </xsd:sequence>
      </xsd:complexType>
    </xsd:element>
    <xsd:element name="m3e5d886d5834254918a02334e296b76" ma:index="51" nillable="true" ma:taxonomy="true" ma:internalName="m3e5d886d5834254918a02334e296b76" ma:taxonomyFieldName="emm_SiteName" ma:displayName="emm_SiteName" ma:readOnly="false" ma:default="510;#EOS Packard|ca96d14a-e0df-4472-85a8-f5588353657c" ma:fieldId="{63e5d886-d583-4254-918a-02334e296b76}" ma:sspId="9f8ee6ba-22ae-4b18-a96b-b6990d3e2b67" ma:termSetId="f71672fd-a586-4354-b730-108af30ebf17" ma:anchorId="00000000-0000-0000-0000-000000000000" ma:open="false" ma:isKeyword="false">
      <xsd:complexType>
        <xsd:sequence>
          <xsd:element ref="pc:Terms" minOccurs="0" maxOccurs="1"/>
        </xsd:sequence>
      </xsd:complexType>
    </xsd:element>
    <xsd:element name="ffb72c8aeb3f421fb176c6fc08d2cbe9" ma:index="53" ma:taxonomy="true" ma:internalName="ffb72c8aeb3f421fb176c6fc08d2cbe9" ma:taxonomyFieldName="EOSLanguage" ma:displayName="EOS Language" ma:indexed="true" ma:readOnly="false" ma:default="" ma:fieldId="{ffb72c8a-eb3f-421f-b176-c6fc08d2cbe9}" ma:sspId="9f8ee6ba-22ae-4b18-a96b-b6990d3e2b67" ma:termSetId="51caa2fe-2100-4465-98b3-f767ccc42497" ma:anchorId="c865fae2-6ccc-4818-8a02-1baae675c8fe"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25c0035-64ec-47d2-a762-d0754ebed9f3" elementFormDefault="qualified">
    <xsd:import namespace="http://schemas.microsoft.com/office/2006/documentManagement/types"/>
    <xsd:import namespace="http://schemas.microsoft.com/office/infopath/2007/PartnerControls"/>
    <xsd:element name="Last_x0020_Reviewed" ma:index="27" ma:displayName="Last Reviewed" ma:format="DateOnly" ma:indexed="true" ma:internalName="Last_x0020_Reviewed" ma:readOnly="false">
      <xsd:simpleType>
        <xsd:restriction base="dms:DateTime"/>
      </xsd:simpleType>
    </xsd:element>
    <xsd:element name="NeedsReprocessing" ma:index="28" nillable="true" ma:displayName="NeedsReprocessing" ma:default="0" ma:internalName="NeedsReprocessing" ma:readOnly="false">
      <xsd:simpleType>
        <xsd:restriction base="dms:Boolean"/>
      </xsd:simpleType>
    </xsd:element>
    <xsd:element name="i07f8e2dc724467c88034e42fb6bf3df" ma:index="54" nillable="true" ma:taxonomy="true" ma:internalName="i07f8e2dc724467c88034e42fb6bf3df" ma:taxonomyFieldName="Product_x0020_Line" ma:displayName="Product Line" ma:indexed="true" ma:readOnly="false" ma:default="" ma:fieldId="{207f8e2d-c724-467c-8803-4e42fb6bf3df}" ma:sspId="9f8ee6ba-22ae-4b18-a96b-b6990d3e2b67" ma:termSetId="63b84f25-cc59-4f8c-ad34-2fbee11ca8d1" ma:anchorId="cdd2ac92-012a-4f8e-ae6b-8bf154672f9c"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33" nillable="true" ma:displayName="Version" ma:hidden="true" ma:internalName="_Vers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36092b-8ec2-40bd-b469-d1fe4f1e7785" elementFormDefault="qualified">
    <xsd:import namespace="http://schemas.microsoft.com/office/2006/documentManagement/types"/>
    <xsd:import namespace="http://schemas.microsoft.com/office/infopath/2007/PartnerControls"/>
    <xsd:element name="TaxCatchAll" ma:index="35" nillable="true" ma:displayName="Taxonomy Catch All Column" ma:hidden="true" ma:list="{427fcdfa-52a7-43b9-9207-1b320914a199}" ma:internalName="TaxCatchAll" ma:showField="CatchAllData" ma:web="c5c844fb-3a05-4f74-8301-eb572a8a1932">
      <xsd:complexType>
        <xsd:complexContent>
          <xsd:extension base="dms:MultiChoiceLookup">
            <xsd:sequence>
              <xsd:element name="Value" type="dms:Lookup" maxOccurs="unbounded" minOccurs="0" nillable="true"/>
            </xsd:sequence>
          </xsd:extension>
        </xsd:complexContent>
      </xsd:complexType>
    </xsd:element>
    <xsd:element name="TaxCatchAllLabel" ma:index="38" nillable="true" ma:displayName="Taxonomy Catch All Column1" ma:hidden="true" ma:list="{427fcdfa-52a7-43b9-9207-1b320914a199}" ma:internalName="TaxCatchAllLabel" ma:readOnly="true" ma:showField="CatchAllDataLabel" ma:web="c5c844fb-3a05-4f74-8301-eb572a8a1932">
      <xsd:complexType>
        <xsd:complexContent>
          <xsd:extension base="dms:MultiChoiceLookup">
            <xsd:sequence>
              <xsd:element name="Value" type="dms:Lookup" maxOccurs="unbounded" minOccurs="0" nillable="true"/>
            </xsd:sequence>
          </xsd:extension>
        </xsd:complexContent>
      </xsd:complexType>
    </xsd:element>
    <xsd:element name="ka0759a5942f41c695b775aef8208f3e" ma:index="40" nillable="true" ma:taxonomy="true" ma:internalName="ka0759a5942f41c695b775aef8208f3e" ma:taxonomyFieldName="emm_Function" ma:displayName="emm_Function" ma:readOnly="false" ma:fieldId="{4a0759a5-942f-41c6-95b7-75aef8208f3e}" ma:sspId="9f8ee6ba-22ae-4b18-a96b-b6990d3e2b67" ma:termSetId="2cdd7b0f-fc41-4bc0-b507-1083be529d14" ma:anchorId="00000000-0000-0000-0000-000000000000" ma:open="false" ma:isKeyword="false">
      <xsd:complexType>
        <xsd:sequence>
          <xsd:element ref="pc:Terms" minOccurs="0" maxOccurs="1"/>
        </xsd:sequence>
      </xsd:complexType>
    </xsd:element>
    <xsd:element name="le32960acc2343b2a783ebfbeb256c3d" ma:index="52" nillable="true" ma:taxonomy="true" ma:internalName="le32960acc2343b2a783ebfbeb256c3d" ma:taxonomyFieldName="emm_Language" ma:displayName="emm_Language" ma:readOnly="false" ma:fieldId="{5e32960a-cc23-43b2-a783-ebfbeb256c3d}" ma:sspId="9f8ee6ba-22ae-4b18-a96b-b6990d3e2b67" ma:termSetId="628d4a0e-43e1-471b-bfbd-4dccf339dc98" ma:anchorId="00000000-0000-0000-0000-000000000000" ma:open="false" ma:isKeyword="false">
      <xsd:complexType>
        <xsd:sequence>
          <xsd:element ref="pc:Terms" minOccurs="0" maxOccurs="1"/>
        </xsd:sequence>
      </xsd:complexType>
    </xsd:element>
    <xsd:element name="fddf08f74f1e4eb0b4a866c10db37afa" ma:index="59" nillable="true" ma:taxonomy="true" ma:internalName="fddf08f74f1e4eb0b4a866c10db37afa" ma:taxonomyFieldName="emm_Division" ma:displayName="emm_Division" ma:readOnly="false" ma:fieldId="{fddf08f7-4f1e-4eb0-b4a8-66c10db37afa}" ma:sspId="9f8ee6ba-22ae-4b18-a96b-b6990d3e2b67" ma:termSetId="5dde4a48-55d5-4c0a-9779-582059f53b16"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1c58dc0-f405-4da6-90bc-1a2ee9784dbe" elementFormDefault="qualified">
    <xsd:import namespace="http://schemas.microsoft.com/office/2006/documentManagement/types"/>
    <xsd:import namespace="http://schemas.microsoft.com/office/infopath/2007/PartnerControls"/>
    <xsd:element name="CreatedInTracker" ma:index="61" nillable="true" ma:displayName="CreatedInTracker" ma:default="No" ma:format="Dropdown" ma:hidden="true" ma:internalName="CreatedInTracker" ma:readOnly="false">
      <xsd:simpleType>
        <xsd:restriction base="dms:Choice">
          <xsd:enumeration value="No"/>
          <xsd:enumeration value="Y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7" ma:displayName="Content Type"/>
        <xsd:element ref="dc:title"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A1A9E5-85CB-46EF-82A1-5890A49A85F0}">
  <ds:schemaRefs>
    <ds:schemaRef ds:uri="http://schemas.microsoft.com/sharepoint/v3/contenttype/forms"/>
  </ds:schemaRefs>
</ds:datastoreItem>
</file>

<file path=customXml/itemProps2.xml><?xml version="1.0" encoding="utf-8"?>
<ds:datastoreItem xmlns:ds="http://schemas.openxmlformats.org/officeDocument/2006/customXml" ds:itemID="{FAC0035D-0817-4F49-AC53-323825D00895}">
  <ds:schemaRefs>
    <ds:schemaRef ds:uri="Microsoft.SharePoint.Taxonomy.ContentTypeSync"/>
  </ds:schemaRefs>
</ds:datastoreItem>
</file>

<file path=customXml/itemProps3.xml><?xml version="1.0" encoding="utf-8"?>
<ds:datastoreItem xmlns:ds="http://schemas.openxmlformats.org/officeDocument/2006/customXml" ds:itemID="{8FD342AB-EC70-4A17-AEFD-9D38AC74CA56}">
  <ds:schemaRefs>
    <ds:schemaRef ds:uri="http://schemas.microsoft.com/office/2006/documentManagement/types"/>
    <ds:schemaRef ds:uri="http://purl.org/dc/terms/"/>
    <ds:schemaRef ds:uri="0c36092b-8ec2-40bd-b469-d1fe4f1e7785"/>
    <ds:schemaRef ds:uri="http://purl.org/dc/elements/1.1/"/>
    <ds:schemaRef ds:uri="12233f74-e209-4f50-a7b1-c1486f9f1b54"/>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schemas.microsoft.com/sharepoint/v3/fields"/>
    <ds:schemaRef ds:uri="c5c844fb-3a05-4f74-8301-eb572a8a1932"/>
    <ds:schemaRef ds:uri="625c0035-64ec-47d2-a762-d0754ebed9f3"/>
    <ds:schemaRef ds:uri="31c58dc0-f405-4da6-90bc-1a2ee9784dbe"/>
  </ds:schemaRefs>
</ds:datastoreItem>
</file>

<file path=customXml/itemProps4.xml><?xml version="1.0" encoding="utf-8"?>
<ds:datastoreItem xmlns:ds="http://schemas.openxmlformats.org/officeDocument/2006/customXml" ds:itemID="{0753F41D-08F8-444C-8884-DE1ABF3F4F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c844fb-3a05-4f74-8301-eb572a8a1932"/>
    <ds:schemaRef ds:uri="625c0035-64ec-47d2-a762-d0754ebed9f3"/>
    <ds:schemaRef ds:uri="http://schemas.microsoft.com/sharepoint/v3/fields"/>
    <ds:schemaRef ds:uri="0c36092b-8ec2-40bd-b469-d1fe4f1e7785"/>
    <ds:schemaRef ds:uri="31c58dc0-f405-4da6-90bc-1a2ee9784d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2832</Words>
  <Application>Microsoft Office PowerPoint</Application>
  <PresentationFormat>On-screen Show (4:3)</PresentationFormat>
  <Paragraphs>456</Paragraphs>
  <Slides>10</Slides>
  <Notes>4</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 Only -BIQ Procedure – One Page Summary</vt:lpstr>
      <vt:lpstr>BIQ Leader (CS)- Roles and Responsibilities (Reference Only)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APQP and New Program Launches</dc:title>
  <dc:creator>Martinez, Ciro G.</dc:creator>
  <cp:lastModifiedBy>Zubia, Rosario</cp:lastModifiedBy>
  <cp:revision>76</cp:revision>
  <dcterms:created xsi:type="dcterms:W3CDTF">2018-02-14T14:57:12Z</dcterms:created>
  <dcterms:modified xsi:type="dcterms:W3CDTF">2026-05-09T13:11:44Z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wimlaneParticipant">
    <vt:lpwstr>538;#Customer Satisfaction|4e4a150a-86cc-4af1-87dc-2768392eab49;#499;#Manufacturing Engineering|2c7fde2e-2037-427d-b5f4-38db5502efb0;#539;#Product Engineering|621db317-de40-4d80-aa65-b89afbc5c530;#561;#Program Management|8494c4b4-b55b-4d26-b280-1af9525a0432</vt:lpwstr>
  </property>
  <property fmtid="{D5CDD505-2E9C-101B-9397-08002B2CF9AE}" pid="3" name="AppliesTo">
    <vt:lpwstr/>
  </property>
  <property fmtid="{D5CDD505-2E9C-101B-9397-08002B2CF9AE}" pid="4" name="Region">
    <vt:lpwstr>714;#North America|e58979b1-7ce2-4218-b06b-014e158041ed</vt:lpwstr>
  </property>
  <property fmtid="{D5CDD505-2E9C-101B-9397-08002B2CF9AE}" pid="5" name="emm_SiteName">
    <vt:lpwstr/>
  </property>
  <property fmtid="{D5CDD505-2E9C-101B-9397-08002B2CF9AE}" pid="6" name="emm_Division">
    <vt:lpwstr/>
  </property>
  <property fmtid="{D5CDD505-2E9C-101B-9397-08002B2CF9AE}" pid="7" name="PBU">
    <vt:lpwstr>550;#Connection Systems|11a24ab1-80d0-4414-a0ed-90906ec638c9</vt:lpwstr>
  </property>
  <property fmtid="{D5CDD505-2E9C-101B-9397-08002B2CF9AE}" pid="8" name="EOSLanguage">
    <vt:lpwstr>501;#English|0f869863-28c5-4bad-88f4-5e957fc1fedc</vt:lpwstr>
  </property>
  <property fmtid="{D5CDD505-2E9C-101B-9397-08002B2CF9AE}" pid="9" name="ContentTypeId">
    <vt:lpwstr>0x010100D1D3186A8B59604F90124F3B9C63333C00C01EBBD85F52B64199EF9EC6CEABD300</vt:lpwstr>
  </property>
  <property fmtid="{D5CDD505-2E9C-101B-9397-08002B2CF9AE}" pid="10" name="RegionalIdentifier">
    <vt:lpwstr>714;#North America|e58979b1-7ce2-4218-b06b-014e158041ed</vt:lpwstr>
  </property>
  <property fmtid="{D5CDD505-2E9C-101B-9397-08002B2CF9AE}" pid="11" name="emm_Language">
    <vt:lpwstr/>
  </property>
  <property fmtid="{D5CDD505-2E9C-101B-9397-08002B2CF9AE}" pid="12" name="FlowPipe">
    <vt:lpwstr>555;#4-1 Define Project Requirements|fedda4d3-d7df-4423-b56a-8858c2e52866</vt:lpwstr>
  </property>
  <property fmtid="{D5CDD505-2E9C-101B-9397-08002B2CF9AE}" pid="13" name="Division">
    <vt:lpwstr/>
  </property>
  <property fmtid="{D5CDD505-2E9C-101B-9397-08002B2CF9AE}" pid="14" name="DocumentType">
    <vt:lpwstr>503;#Procedure|64e15cbe-4824-438d-8b65-1d27b336f011</vt:lpwstr>
  </property>
  <property fmtid="{D5CDD505-2E9C-101B-9397-08002B2CF9AE}" pid="15" name="StakeholderBank">
    <vt:lpwstr/>
  </property>
  <property fmtid="{D5CDD505-2E9C-101B-9397-08002B2CF9AE}" pid="16" name="SwimlaneDO">
    <vt:lpwstr>538;#Customer Satisfaction|4e4a150a-86cc-4af1-87dc-2768392eab49</vt:lpwstr>
  </property>
  <property fmtid="{D5CDD505-2E9C-101B-9397-08002B2CF9AE}" pid="17" name="emm_Function">
    <vt:lpwstr/>
  </property>
  <property fmtid="{D5CDD505-2E9C-101B-9397-08002B2CF9AE}" pid="18" name="URL">
    <vt:lpwstr/>
  </property>
  <property fmtid="{D5CDD505-2E9C-101B-9397-08002B2CF9AE}" pid="19" name="MSIP_Label_e545d81b-0f42-495e-8347-551223c9dd3e_Enabled">
    <vt:lpwstr>true</vt:lpwstr>
  </property>
  <property fmtid="{D5CDD505-2E9C-101B-9397-08002B2CF9AE}" pid="20" name="MSIP_Label_e545d81b-0f42-495e-8347-551223c9dd3e_SetDate">
    <vt:lpwstr>2024-05-09T12:59:29Z</vt:lpwstr>
  </property>
  <property fmtid="{D5CDD505-2E9C-101B-9397-08002B2CF9AE}" pid="21" name="MSIP_Label_e545d81b-0f42-495e-8347-551223c9dd3e_Method">
    <vt:lpwstr>Privileged</vt:lpwstr>
  </property>
  <property fmtid="{D5CDD505-2E9C-101B-9397-08002B2CF9AE}" pid="22" name="MSIP_Label_e545d81b-0f42-495e-8347-551223c9dd3e_Name">
    <vt:lpwstr>Internal</vt:lpwstr>
  </property>
  <property fmtid="{D5CDD505-2E9C-101B-9397-08002B2CF9AE}" pid="23" name="MSIP_Label_e545d81b-0f42-495e-8347-551223c9dd3e_SiteId">
    <vt:lpwstr>6b1311e5-123f-49db-acdf-8847c2d00bed</vt:lpwstr>
  </property>
  <property fmtid="{D5CDD505-2E9C-101B-9397-08002B2CF9AE}" pid="24" name="MSIP_Label_e545d81b-0f42-495e-8347-551223c9dd3e_ActionId">
    <vt:lpwstr>c259eca8-a1ff-42e5-a4b7-95005a3b8b85</vt:lpwstr>
  </property>
  <property fmtid="{D5CDD505-2E9C-101B-9397-08002B2CF9AE}" pid="25" name="MSIP_Label_e545d81b-0f42-495e-8347-551223c9dd3e_ContentBits">
    <vt:lpwstr>2</vt:lpwstr>
  </property>
  <property fmtid="{D5CDD505-2E9C-101B-9397-08002B2CF9AE}" pid="26" name="ClassificationContentMarkingFooterLocations">
    <vt:lpwstr>Custom Design:8</vt:lpwstr>
  </property>
  <property fmtid="{D5CDD505-2E9C-101B-9397-08002B2CF9AE}" pid="27" name="ClassificationContentMarkingFooterText">
    <vt:lpwstr>Internal</vt:lpwstr>
  </property>
  <property fmtid="{D5CDD505-2E9C-101B-9397-08002B2CF9AE}" pid="28" name="CreatedInTracker">
    <vt:lpwstr>Yes</vt:lpwstr>
  </property>
  <property fmtid="{D5CDD505-2E9C-101B-9397-08002B2CF9AE}" pid="29" name="Product_x0020_Line">
    <vt:lpwstr/>
  </property>
  <property fmtid="{D5CDD505-2E9C-101B-9397-08002B2CF9AE}" pid="30" name="Product Line">
    <vt:lpwstr/>
  </property>
  <property fmtid="{D5CDD505-2E9C-101B-9397-08002B2CF9AE}" pid="31" name="_ShortcutUniqueId">
    <vt:lpwstr/>
  </property>
  <property fmtid="{D5CDD505-2E9C-101B-9397-08002B2CF9AE}" pid="32" name="_ShortcutUrl">
    <vt:lpwstr/>
  </property>
  <property fmtid="{D5CDD505-2E9C-101B-9397-08002B2CF9AE}" pid="33" name="_ExtendedDescription">
    <vt:lpwstr/>
  </property>
  <property fmtid="{D5CDD505-2E9C-101B-9397-08002B2CF9AE}" pid="34" name="_ShortcutWebId">
    <vt:lpwstr/>
  </property>
  <property fmtid="{D5CDD505-2E9C-101B-9397-08002B2CF9AE}" pid="35" name="Main Process">
    <vt:lpwstr/>
  </property>
  <property fmtid="{D5CDD505-2E9C-101B-9397-08002B2CF9AE}" pid="36" name="_ShortcutSiteId">
    <vt:lpwstr/>
  </property>
</Properties>
</file>